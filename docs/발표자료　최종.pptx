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3716000" cy="771525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38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jovial-phoenix-52d898.netlify.ap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-1">
            <a:extLst>
              <a:ext uri="{FF2B5EF4-FFF2-40B4-BE49-F238E27FC236}">
                <a16:creationId xmlns:a16="http://schemas.microsoft.com/office/drawing/2014/main" id="{B51BDF79-3B50-42BB-9FB5-E9623017C1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4EFE7"/>
          </a:solidFill>
          <a:ln w="0">
            <a:solidFill>
              <a:srgbClr val="F4EFE7"/>
            </a:solidFill>
            <a:prstDash val="solid"/>
          </a:ln>
        </p:spPr>
      </p:sp>
      <p:sp>
        <p:nvSpPr>
          <p:cNvPr id="2" name="cover-eyebrow">
            <a:extLst>
              <a:ext uri="{FF2B5EF4-FFF2-40B4-BE49-F238E27FC236}">
                <a16:creationId xmlns:a16="http://schemas.microsoft.com/office/drawing/2014/main" id="{DA95AFBE-A651-4D5E-BC5D-032404BBFB9B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A878"/>
                </a:solidFill>
              </a:defRPr>
            </a:pPr>
            <a:r>
              <a:rPr sz="1200" b="1" dirty="0">
                <a:solidFill>
                  <a:srgbClr val="00A878"/>
                </a:solidFill>
              </a:rPr>
              <a:t>LOCALHUB · BX / CX / DX PROJECT</a:t>
            </a:r>
          </a:p>
        </p:txBody>
      </p:sp>
      <p:sp>
        <p:nvSpPr>
          <p:cNvPr id="3" name="cover-rule">
            <a:extLst>
              <a:ext uri="{FF2B5EF4-FFF2-40B4-BE49-F238E27FC236}">
                <a16:creationId xmlns:a16="http://schemas.microsoft.com/office/drawing/2014/main" id="{07225F20-CC01-49E5-96DF-3F83584FF5F5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152400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4" name="cover-title-1">
            <a:extLst>
              <a:ext uri="{FF2B5EF4-FFF2-40B4-BE49-F238E27FC236}">
                <a16:creationId xmlns:a16="http://schemas.microsoft.com/office/drawing/2014/main" id="{925EE6F0-3B72-4F6F-B7A9-5A77E4D2CCDE}"/>
              </a:ext>
            </a:extLst>
          </p:cNvPr>
          <p:cNvSpPr>
            <a:spLocks noGrp="1"/>
          </p:cNvSpPr>
          <p:nvPr/>
        </p:nvSpPr>
        <p:spPr>
          <a:xfrm>
            <a:off x="647700" y="1676400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950" b="1">
                <a:solidFill>
                  <a:srgbClr val="17231F"/>
                </a:solidFill>
              </a:defRPr>
            </a:pPr>
            <a:r>
              <a:rPr sz="4950" b="1" dirty="0" err="1">
                <a:solidFill>
                  <a:srgbClr val="17231F"/>
                </a:solidFill>
              </a:rPr>
              <a:t>밤길의</a:t>
            </a:r>
            <a:r>
              <a:rPr sz="4950" b="1">
                <a:solidFill>
                  <a:srgbClr val="17231F"/>
                </a:solidFill>
              </a:rPr>
              <a:t> 불안을</a:t>
            </a:r>
          </a:p>
        </p:txBody>
      </p:sp>
      <p:sp>
        <p:nvSpPr>
          <p:cNvPr id="5" name="cover-title-2">
            <a:extLst>
              <a:ext uri="{FF2B5EF4-FFF2-40B4-BE49-F238E27FC236}">
                <a16:creationId xmlns:a16="http://schemas.microsoft.com/office/drawing/2014/main" id="{C8C9FFE6-4168-4A55-B615-684591C82799}"/>
              </a:ext>
            </a:extLst>
          </p:cNvPr>
          <p:cNvSpPr>
            <a:spLocks noGrp="1"/>
          </p:cNvSpPr>
          <p:nvPr/>
        </p:nvSpPr>
        <p:spPr>
          <a:xfrm>
            <a:off x="647700" y="2590800"/>
            <a:ext cx="8096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700" b="1">
                <a:solidFill>
                  <a:srgbClr val="00A878"/>
                </a:solidFill>
              </a:defRPr>
            </a:pPr>
            <a:r>
              <a:rPr sz="5700" b="1">
                <a:solidFill>
                  <a:srgbClr val="00A878"/>
                </a:solidFill>
              </a:rPr>
              <a:t>데이터로 읽다</a:t>
            </a:r>
          </a:p>
        </p:txBody>
      </p:sp>
      <p:sp>
        <p:nvSpPr>
          <p:cNvPr id="6" name="cover-sub">
            <a:extLst>
              <a:ext uri="{FF2B5EF4-FFF2-40B4-BE49-F238E27FC236}">
                <a16:creationId xmlns:a16="http://schemas.microsoft.com/office/drawing/2014/main" id="{06863B20-36F2-4F80-AA2A-47D89B7E7BC6}"/>
              </a:ext>
            </a:extLst>
          </p:cNvPr>
          <p:cNvSpPr>
            <a:spLocks noGrp="1"/>
          </p:cNvSpPr>
          <p:nvPr/>
        </p:nvSpPr>
        <p:spPr>
          <a:xfrm>
            <a:off x="704850" y="4000500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62706B"/>
                </a:solidFill>
              </a:defRPr>
            </a:pPr>
            <a:r>
              <a:rPr sz="2025" b="0">
                <a:solidFill>
                  <a:srgbClr val="62706B"/>
                </a:solidFill>
              </a:rPr>
              <a:t>워드클라우드에서 안전귀가 서비스까지</a:t>
            </a:r>
          </a:p>
        </p:txBody>
      </p:sp>
      <p:sp>
        <p:nvSpPr>
          <p:cNvPr id="7" name="cover-data">
            <a:extLst>
              <a:ext uri="{FF2B5EF4-FFF2-40B4-BE49-F238E27FC236}">
                <a16:creationId xmlns:a16="http://schemas.microsoft.com/office/drawing/2014/main" id="{3C2BCDA7-EDE2-401C-AA4B-826462A83FCB}"/>
              </a:ext>
            </a:extLst>
          </p:cNvPr>
          <p:cNvSpPr>
            <a:spLocks noGrp="1"/>
          </p:cNvSpPr>
          <p:nvPr/>
        </p:nvSpPr>
        <p:spPr>
          <a:xfrm>
            <a:off x="704850" y="46482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704D"/>
                </a:solidFill>
              </a:defRPr>
            </a:pPr>
            <a:r>
              <a:rPr sz="1200" b="1">
                <a:solidFill>
                  <a:srgbClr val="FF704D"/>
                </a:solidFill>
              </a:rPr>
              <a:t>NAVER NEWS + BLOG  ·  2,257 DOCUMENTS</a:t>
            </a:r>
          </a:p>
        </p:txBody>
      </p:sp>
      <p:sp>
        <p:nvSpPr>
          <p:cNvPr id="8" name="cover-pipeline-panel">
            <a:extLst>
              <a:ext uri="{FF2B5EF4-FFF2-40B4-BE49-F238E27FC236}">
                <a16:creationId xmlns:a16="http://schemas.microsoft.com/office/drawing/2014/main" id="{4A96E841-26DE-484C-BAC0-30D9AF898C5E}"/>
              </a:ext>
            </a:extLst>
          </p:cNvPr>
          <p:cNvSpPr>
            <a:spLocks noGrp="1"/>
          </p:cNvSpPr>
          <p:nvPr/>
        </p:nvSpPr>
        <p:spPr>
          <a:xfrm>
            <a:off x="9601200" y="1200150"/>
            <a:ext cx="3333750" cy="4762500"/>
          </a:xfrm>
          <a:prstGeom prst="roundRect">
            <a:avLst>
              <a:gd name="adj" fmla="val 4571"/>
            </a:avLst>
          </a:prstGeom>
          <a:solidFill>
            <a:srgbClr val="E6F4ED"/>
          </a:solidFill>
          <a:ln w="9525">
            <a:solidFill>
              <a:srgbClr val="C8E2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cover-pipe-line">
            <a:extLst>
              <a:ext uri="{FF2B5EF4-FFF2-40B4-BE49-F238E27FC236}">
                <a16:creationId xmlns:a16="http://schemas.microsoft.com/office/drawing/2014/main" id="{5B89ED6A-83E3-46E8-ACE2-3D464716D847}"/>
              </a:ext>
            </a:extLst>
          </p:cNvPr>
          <p:cNvSpPr>
            <a:spLocks noGrp="1"/>
          </p:cNvSpPr>
          <p:nvPr/>
        </p:nvSpPr>
        <p:spPr>
          <a:xfrm>
            <a:off x="10115550" y="1562100"/>
            <a:ext cx="19050" cy="398145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0" name="cover-node-0">
            <a:extLst>
              <a:ext uri="{FF2B5EF4-FFF2-40B4-BE49-F238E27FC236}">
                <a16:creationId xmlns:a16="http://schemas.microsoft.com/office/drawing/2014/main" id="{D9BC90F0-6AB0-4D23-AA0B-0647C82F7B66}"/>
              </a:ext>
            </a:extLst>
          </p:cNvPr>
          <p:cNvSpPr>
            <a:spLocks noGrp="1"/>
          </p:cNvSpPr>
          <p:nvPr/>
        </p:nvSpPr>
        <p:spPr>
          <a:xfrm>
            <a:off x="9982200" y="1562100"/>
            <a:ext cx="285750" cy="285750"/>
          </a:xfrm>
          <a:prstGeom prst="rect">
            <a:avLst/>
          </a:prstGeom>
          <a:solidFill>
            <a:srgbClr val="F7F5F0"/>
          </a:solidFill>
          <a:ln w="19050">
            <a:solidFill>
              <a:srgbClr val="24322D"/>
            </a:solidFill>
            <a:prstDash val="solid"/>
          </a:ln>
        </p:spPr>
      </p:sp>
      <p:sp>
        <p:nvSpPr>
          <p:cNvPr id="11" name="cover-node-num-0">
            <a:extLst>
              <a:ext uri="{FF2B5EF4-FFF2-40B4-BE49-F238E27FC236}">
                <a16:creationId xmlns:a16="http://schemas.microsoft.com/office/drawing/2014/main" id="{B30CC6D1-9CB8-4C3B-8FD7-3CC44BD27B3A}"/>
              </a:ext>
            </a:extLst>
          </p:cNvPr>
          <p:cNvSpPr>
            <a:spLocks noGrp="1"/>
          </p:cNvSpPr>
          <p:nvPr/>
        </p:nvSpPr>
        <p:spPr>
          <a:xfrm>
            <a:off x="10477500" y="1428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06B"/>
                </a:solidFill>
              </a:defRPr>
            </a:pPr>
            <a:r>
              <a:rPr sz="1050" b="1">
                <a:solidFill>
                  <a:srgbClr val="62706B"/>
                </a:solidFill>
              </a:rPr>
              <a:t>01</a:t>
            </a:r>
          </a:p>
        </p:txBody>
      </p:sp>
      <p:sp>
        <p:nvSpPr>
          <p:cNvPr id="12" name="cover-node-text-0">
            <a:extLst>
              <a:ext uri="{FF2B5EF4-FFF2-40B4-BE49-F238E27FC236}">
                <a16:creationId xmlns:a16="http://schemas.microsoft.com/office/drawing/2014/main" id="{D50E8EC9-6BF7-417D-8017-3FA0F66F8036}"/>
              </a:ext>
            </a:extLst>
          </p:cNvPr>
          <p:cNvSpPr>
            <a:spLocks noGrp="1"/>
          </p:cNvSpPr>
          <p:nvPr/>
        </p:nvSpPr>
        <p:spPr>
          <a:xfrm>
            <a:off x="10477500" y="1676400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24322D"/>
                </a:solidFill>
              </a:defRPr>
            </a:pPr>
            <a:r>
              <a:rPr sz="2175" b="1">
                <a:solidFill>
                  <a:srgbClr val="24322D"/>
                </a:solidFill>
              </a:rPr>
              <a:t>DATA</a:t>
            </a:r>
          </a:p>
        </p:txBody>
      </p:sp>
      <p:sp>
        <p:nvSpPr>
          <p:cNvPr id="13" name="cover-node-1">
            <a:extLst>
              <a:ext uri="{FF2B5EF4-FFF2-40B4-BE49-F238E27FC236}">
                <a16:creationId xmlns:a16="http://schemas.microsoft.com/office/drawing/2014/main" id="{20CAF215-138A-4ECF-AE62-15D3DF94F0D1}"/>
              </a:ext>
            </a:extLst>
          </p:cNvPr>
          <p:cNvSpPr>
            <a:spLocks noGrp="1"/>
          </p:cNvSpPr>
          <p:nvPr/>
        </p:nvSpPr>
        <p:spPr>
          <a:xfrm>
            <a:off x="9982200" y="2609850"/>
            <a:ext cx="285750" cy="285750"/>
          </a:xfrm>
          <a:prstGeom prst="rect">
            <a:avLst/>
          </a:prstGeom>
          <a:solidFill>
            <a:srgbClr val="F7F5F0"/>
          </a:solidFill>
          <a:ln w="19050">
            <a:solidFill>
              <a:srgbClr val="00A878"/>
            </a:solidFill>
            <a:prstDash val="solid"/>
          </a:ln>
        </p:spPr>
      </p:sp>
      <p:sp>
        <p:nvSpPr>
          <p:cNvPr id="14" name="cover-node-num-1">
            <a:extLst>
              <a:ext uri="{FF2B5EF4-FFF2-40B4-BE49-F238E27FC236}">
                <a16:creationId xmlns:a16="http://schemas.microsoft.com/office/drawing/2014/main" id="{E8E4AD75-A7CB-4A18-A322-A935F7D07C1D}"/>
              </a:ext>
            </a:extLst>
          </p:cNvPr>
          <p:cNvSpPr>
            <a:spLocks noGrp="1"/>
          </p:cNvSpPr>
          <p:nvPr/>
        </p:nvSpPr>
        <p:spPr>
          <a:xfrm>
            <a:off x="10477500" y="24765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06B"/>
                </a:solidFill>
              </a:defRPr>
            </a:pPr>
            <a:r>
              <a:rPr sz="1050" b="1">
                <a:solidFill>
                  <a:srgbClr val="62706B"/>
                </a:solidFill>
              </a:rPr>
              <a:t>02</a:t>
            </a:r>
          </a:p>
        </p:txBody>
      </p:sp>
      <p:sp>
        <p:nvSpPr>
          <p:cNvPr id="15" name="cover-node-text-1">
            <a:extLst>
              <a:ext uri="{FF2B5EF4-FFF2-40B4-BE49-F238E27FC236}">
                <a16:creationId xmlns:a16="http://schemas.microsoft.com/office/drawing/2014/main" id="{BAE7BF9A-02F2-42CA-A779-D281F700BD3F}"/>
              </a:ext>
            </a:extLst>
          </p:cNvPr>
          <p:cNvSpPr>
            <a:spLocks noGrp="1"/>
          </p:cNvSpPr>
          <p:nvPr/>
        </p:nvSpPr>
        <p:spPr>
          <a:xfrm>
            <a:off x="10477500" y="2724150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0A878"/>
                </a:solidFill>
              </a:defRPr>
            </a:pPr>
            <a:r>
              <a:rPr sz="2175" b="1">
                <a:solidFill>
                  <a:srgbClr val="00A878"/>
                </a:solidFill>
              </a:rPr>
              <a:t>INSIGHT</a:t>
            </a:r>
          </a:p>
        </p:txBody>
      </p:sp>
      <p:sp>
        <p:nvSpPr>
          <p:cNvPr id="16" name="cover-node-2">
            <a:extLst>
              <a:ext uri="{FF2B5EF4-FFF2-40B4-BE49-F238E27FC236}">
                <a16:creationId xmlns:a16="http://schemas.microsoft.com/office/drawing/2014/main" id="{11898218-228E-4877-9455-38AB9357E97A}"/>
              </a:ext>
            </a:extLst>
          </p:cNvPr>
          <p:cNvSpPr>
            <a:spLocks noGrp="1"/>
          </p:cNvSpPr>
          <p:nvPr/>
        </p:nvSpPr>
        <p:spPr>
          <a:xfrm>
            <a:off x="9982200" y="3657600"/>
            <a:ext cx="285750" cy="285750"/>
          </a:xfrm>
          <a:prstGeom prst="rect">
            <a:avLst/>
          </a:prstGeom>
          <a:solidFill>
            <a:srgbClr val="F7F5F0"/>
          </a:solidFill>
          <a:ln w="19050">
            <a:solidFill>
              <a:srgbClr val="24322D"/>
            </a:solidFill>
            <a:prstDash val="solid"/>
          </a:ln>
        </p:spPr>
      </p:sp>
      <p:sp>
        <p:nvSpPr>
          <p:cNvPr id="17" name="cover-node-num-2">
            <a:extLst>
              <a:ext uri="{FF2B5EF4-FFF2-40B4-BE49-F238E27FC236}">
                <a16:creationId xmlns:a16="http://schemas.microsoft.com/office/drawing/2014/main" id="{5A74CF1C-B21F-4E40-A62E-E687A30AF0B2}"/>
              </a:ext>
            </a:extLst>
          </p:cNvPr>
          <p:cNvSpPr>
            <a:spLocks noGrp="1"/>
          </p:cNvSpPr>
          <p:nvPr/>
        </p:nvSpPr>
        <p:spPr>
          <a:xfrm>
            <a:off x="10477500" y="35242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06B"/>
                </a:solidFill>
              </a:defRPr>
            </a:pPr>
            <a:r>
              <a:rPr sz="1050" b="1">
                <a:solidFill>
                  <a:srgbClr val="62706B"/>
                </a:solidFill>
              </a:rPr>
              <a:t>03</a:t>
            </a:r>
          </a:p>
        </p:txBody>
      </p:sp>
      <p:sp>
        <p:nvSpPr>
          <p:cNvPr id="18" name="cover-node-text-2">
            <a:extLst>
              <a:ext uri="{FF2B5EF4-FFF2-40B4-BE49-F238E27FC236}">
                <a16:creationId xmlns:a16="http://schemas.microsoft.com/office/drawing/2014/main" id="{8F295CAF-A53A-46F6-BFA4-F03E1A49CB85}"/>
              </a:ext>
            </a:extLst>
          </p:cNvPr>
          <p:cNvSpPr>
            <a:spLocks noGrp="1"/>
          </p:cNvSpPr>
          <p:nvPr/>
        </p:nvSpPr>
        <p:spPr>
          <a:xfrm>
            <a:off x="10477500" y="3771900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24322D"/>
                </a:solidFill>
              </a:defRPr>
            </a:pPr>
            <a:r>
              <a:rPr sz="2175" b="1">
                <a:solidFill>
                  <a:srgbClr val="24322D"/>
                </a:solidFill>
              </a:rPr>
              <a:t>PERSONA</a:t>
            </a:r>
          </a:p>
        </p:txBody>
      </p:sp>
      <p:sp>
        <p:nvSpPr>
          <p:cNvPr id="19" name="cover-node-3">
            <a:extLst>
              <a:ext uri="{FF2B5EF4-FFF2-40B4-BE49-F238E27FC236}">
                <a16:creationId xmlns:a16="http://schemas.microsoft.com/office/drawing/2014/main" id="{CF2FEF27-C168-47F7-B5F3-D255EEFDE380}"/>
              </a:ext>
            </a:extLst>
          </p:cNvPr>
          <p:cNvSpPr>
            <a:spLocks noGrp="1"/>
          </p:cNvSpPr>
          <p:nvPr/>
        </p:nvSpPr>
        <p:spPr>
          <a:xfrm>
            <a:off x="9982200" y="4705350"/>
            <a:ext cx="285750" cy="285750"/>
          </a:xfrm>
          <a:prstGeom prst="rect">
            <a:avLst/>
          </a:prstGeom>
          <a:solidFill>
            <a:srgbClr val="F7F5F0"/>
          </a:solidFill>
          <a:ln w="19050">
            <a:solidFill>
              <a:srgbClr val="FF704D"/>
            </a:solidFill>
            <a:prstDash val="solid"/>
          </a:ln>
        </p:spPr>
      </p:sp>
      <p:sp>
        <p:nvSpPr>
          <p:cNvPr id="20" name="cover-node-num-3">
            <a:extLst>
              <a:ext uri="{FF2B5EF4-FFF2-40B4-BE49-F238E27FC236}">
                <a16:creationId xmlns:a16="http://schemas.microsoft.com/office/drawing/2014/main" id="{5FF70A01-9517-4A17-B8BE-47CAF261F83C}"/>
              </a:ext>
            </a:extLst>
          </p:cNvPr>
          <p:cNvSpPr>
            <a:spLocks noGrp="1"/>
          </p:cNvSpPr>
          <p:nvPr/>
        </p:nvSpPr>
        <p:spPr>
          <a:xfrm>
            <a:off x="10477500" y="45720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2706B"/>
                </a:solidFill>
              </a:defRPr>
            </a:pPr>
            <a:r>
              <a:rPr sz="1050" b="1">
                <a:solidFill>
                  <a:srgbClr val="62706B"/>
                </a:solidFill>
              </a:rPr>
              <a:t>04</a:t>
            </a:r>
          </a:p>
        </p:txBody>
      </p:sp>
      <p:sp>
        <p:nvSpPr>
          <p:cNvPr id="21" name="cover-node-text-3">
            <a:extLst>
              <a:ext uri="{FF2B5EF4-FFF2-40B4-BE49-F238E27FC236}">
                <a16:creationId xmlns:a16="http://schemas.microsoft.com/office/drawing/2014/main" id="{F4035745-9B6A-4759-83BB-A23B48BC5A6D}"/>
              </a:ext>
            </a:extLst>
          </p:cNvPr>
          <p:cNvSpPr>
            <a:spLocks noGrp="1"/>
          </p:cNvSpPr>
          <p:nvPr/>
        </p:nvSpPr>
        <p:spPr>
          <a:xfrm>
            <a:off x="10477500" y="4819650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FF704D"/>
                </a:solidFill>
              </a:defRPr>
            </a:pPr>
            <a:r>
              <a:rPr sz="2175" b="1">
                <a:solidFill>
                  <a:srgbClr val="FF704D"/>
                </a:solidFill>
              </a:rPr>
              <a:t>DX</a:t>
            </a:r>
          </a:p>
        </p:txBody>
      </p:sp>
      <p:sp>
        <p:nvSpPr>
          <p:cNvPr id="22" name="cover-team">
            <a:extLst>
              <a:ext uri="{FF2B5EF4-FFF2-40B4-BE49-F238E27FC236}">
                <a16:creationId xmlns:a16="http://schemas.microsoft.com/office/drawing/2014/main" id="{61BDEEC8-1B63-4762-8F9F-E249D267C76D}"/>
              </a:ext>
            </a:extLst>
          </p:cNvPr>
          <p:cNvSpPr>
            <a:spLocks noGrp="1"/>
          </p:cNvSpPr>
          <p:nvPr/>
        </p:nvSpPr>
        <p:spPr>
          <a:xfrm>
            <a:off x="666750" y="676275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광주 2반  ·  정용철 / 김지명 / 전준혁</a:t>
            </a:r>
          </a:p>
        </p:txBody>
      </p:sp>
    </p:spTree>
    <p:extLst>
      <p:ext uri="{BB962C8B-B14F-4D97-AF65-F5344CB8AC3E}">
        <p14:creationId xmlns:p14="http://schemas.microsoft.com/office/powerpoint/2010/main" val="121835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ackground-2">
            <a:extLst>
              <a:ext uri="{FF2B5EF4-FFF2-40B4-BE49-F238E27FC236}">
                <a16:creationId xmlns:a16="http://schemas.microsoft.com/office/drawing/2014/main" id="{C8DCC003-F254-4072-8A65-AEDDD11447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7F5F0"/>
          </a:solidFill>
          <a:ln w="0">
            <a:solidFill>
              <a:srgbClr val="F7F5F0"/>
            </a:solidFill>
            <a:prstDash val="solid"/>
          </a:ln>
        </p:spPr>
      </p:sp>
      <p:sp>
        <p:nvSpPr>
          <p:cNvPr id="2" name="section-2">
            <a:extLst>
              <a:ext uri="{FF2B5EF4-FFF2-40B4-BE49-F238E27FC236}">
                <a16:creationId xmlns:a16="http://schemas.microsoft.com/office/drawing/2014/main" id="{94910C51-9801-4EEE-B005-3DE88C97F6CA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FLOW</a:t>
            </a:r>
          </a:p>
        </p:txBody>
      </p:sp>
      <p:sp>
        <p:nvSpPr>
          <p:cNvPr id="3" name="header-line-2">
            <a:extLst>
              <a:ext uri="{FF2B5EF4-FFF2-40B4-BE49-F238E27FC236}">
                <a16:creationId xmlns:a16="http://schemas.microsoft.com/office/drawing/2014/main" id="{B0DE7C0A-C390-4531-838F-70548D3212E1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2">
            <a:extLst>
              <a:ext uri="{FF2B5EF4-FFF2-40B4-BE49-F238E27FC236}">
                <a16:creationId xmlns:a16="http://schemas.microsoft.com/office/drawing/2014/main" id="{B242B383-8D24-4FB6-9BC2-8D44BB30406E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5" name="title-2">
            <a:extLst>
              <a:ext uri="{FF2B5EF4-FFF2-40B4-BE49-F238E27FC236}">
                <a16:creationId xmlns:a16="http://schemas.microsoft.com/office/drawing/2014/main" id="{FEEC9084-2EDB-4A64-B070-BEA4C546A6ED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텍스트를 실제 서비스로 연결하는 네 단계</a:t>
            </a:r>
          </a:p>
        </p:txBody>
      </p:sp>
      <p:sp>
        <p:nvSpPr>
          <p:cNvPr id="6" name="page-2">
            <a:extLst>
              <a:ext uri="{FF2B5EF4-FFF2-40B4-BE49-F238E27FC236}">
                <a16:creationId xmlns:a16="http://schemas.microsoft.com/office/drawing/2014/main" id="{EE57C2BD-6285-4BB8-B14A-632EB943E462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02</a:t>
            </a:r>
          </a:p>
        </p:txBody>
      </p:sp>
      <p:sp>
        <p:nvSpPr>
          <p:cNvPr id="7" name="flow-num-0">
            <a:extLst>
              <a:ext uri="{FF2B5EF4-FFF2-40B4-BE49-F238E27FC236}">
                <a16:creationId xmlns:a16="http://schemas.microsoft.com/office/drawing/2014/main" id="{1A85F82D-BAD2-4804-8E88-CDF97735BCF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24322D"/>
                </a:solidFill>
              </a:defRPr>
            </a:pPr>
            <a:r>
              <a:rPr sz="2400" b="1">
                <a:solidFill>
                  <a:srgbClr val="24322D"/>
                </a:solidFill>
              </a:rPr>
              <a:t>01</a:t>
            </a:r>
          </a:p>
        </p:txBody>
      </p:sp>
      <p:sp>
        <p:nvSpPr>
          <p:cNvPr id="8" name="flow-key-0">
            <a:extLst>
              <a:ext uri="{FF2B5EF4-FFF2-40B4-BE49-F238E27FC236}">
                <a16:creationId xmlns:a16="http://schemas.microsoft.com/office/drawing/2014/main" id="{09B3C280-4C2C-4EBF-A825-41E34D1F76F5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06B"/>
                </a:solidFill>
              </a:defRPr>
            </a:pPr>
            <a:r>
              <a:rPr sz="1200" b="1">
                <a:solidFill>
                  <a:srgbClr val="62706B"/>
                </a:solidFill>
              </a:rPr>
              <a:t>DATA</a:t>
            </a:r>
          </a:p>
        </p:txBody>
      </p:sp>
      <p:sp>
        <p:nvSpPr>
          <p:cNvPr id="9" name="flow-value-0">
            <a:extLst>
              <a:ext uri="{FF2B5EF4-FFF2-40B4-BE49-F238E27FC236}">
                <a16:creationId xmlns:a16="http://schemas.microsoft.com/office/drawing/2014/main" id="{E1F95C3C-42A3-4EC0-90F7-0791E75C06CB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2667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7231F"/>
                </a:solidFill>
              </a:defRPr>
            </a:pPr>
            <a:r>
              <a:rPr sz="3225" b="1">
                <a:solidFill>
                  <a:srgbClr val="17231F"/>
                </a:solidFill>
              </a:rPr>
              <a:t>2,257건</a:t>
            </a:r>
          </a:p>
        </p:txBody>
      </p:sp>
      <p:sp>
        <p:nvSpPr>
          <p:cNvPr id="10" name="flow-desc-0">
            <a:extLst>
              <a:ext uri="{FF2B5EF4-FFF2-40B4-BE49-F238E27FC236}">
                <a16:creationId xmlns:a16="http://schemas.microsoft.com/office/drawing/2014/main" id="{1030B7F0-DE79-4FB1-BDD9-AE8934669465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뉴스·블로그 수집</a:t>
            </a:r>
          </a:p>
          <a:p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중복 제거</a:t>
            </a:r>
          </a:p>
        </p:txBody>
      </p:sp>
      <p:sp>
        <p:nvSpPr>
          <p:cNvPr id="11" name="flow-accent-0">
            <a:extLst>
              <a:ext uri="{FF2B5EF4-FFF2-40B4-BE49-F238E27FC236}">
                <a16:creationId xmlns:a16="http://schemas.microsoft.com/office/drawing/2014/main" id="{1CAEBAB4-40F5-43E8-AEA3-4C3FE6D2F0BA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2381250" cy="47625"/>
          </a:xfrm>
          <a:prstGeom prst="rect">
            <a:avLst/>
          </a:prstGeom>
          <a:solidFill>
            <a:srgbClr val="24322D"/>
          </a:solidFill>
          <a:ln w="0">
            <a:solidFill>
              <a:srgbClr val="24322D"/>
            </a:solidFill>
            <a:prstDash val="solid"/>
          </a:ln>
        </p:spPr>
      </p:sp>
      <p:sp>
        <p:nvSpPr>
          <p:cNvPr id="12" name="flow-sep-1">
            <a:extLst>
              <a:ext uri="{FF2B5EF4-FFF2-40B4-BE49-F238E27FC236}">
                <a16:creationId xmlns:a16="http://schemas.microsoft.com/office/drawing/2014/main" id="{8E229843-9EC3-4BBF-A993-1CE246ED96BD}"/>
              </a:ext>
            </a:extLst>
          </p:cNvPr>
          <p:cNvSpPr>
            <a:spLocks noGrp="1"/>
          </p:cNvSpPr>
          <p:nvPr/>
        </p:nvSpPr>
        <p:spPr>
          <a:xfrm>
            <a:off x="3590925" y="1952625"/>
            <a:ext cx="9525" cy="363855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3" name="flow-num-1">
            <a:extLst>
              <a:ext uri="{FF2B5EF4-FFF2-40B4-BE49-F238E27FC236}">
                <a16:creationId xmlns:a16="http://schemas.microsoft.com/office/drawing/2014/main" id="{C094F4CF-2351-4B8E-8B66-AB9AD9EE1C8D}"/>
              </a:ext>
            </a:extLst>
          </p:cNvPr>
          <p:cNvSpPr>
            <a:spLocks noGrp="1"/>
          </p:cNvSpPr>
          <p:nvPr/>
        </p:nvSpPr>
        <p:spPr>
          <a:xfrm>
            <a:off x="3781425" y="1809750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FF704D"/>
                </a:solidFill>
              </a:defRPr>
            </a:pPr>
            <a:r>
              <a:rPr sz="2400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14" name="flow-key-1">
            <a:extLst>
              <a:ext uri="{FF2B5EF4-FFF2-40B4-BE49-F238E27FC236}">
                <a16:creationId xmlns:a16="http://schemas.microsoft.com/office/drawing/2014/main" id="{0D27BB3A-FF8B-484E-9969-A0EF7C4023A9}"/>
              </a:ext>
            </a:extLst>
          </p:cNvPr>
          <p:cNvSpPr>
            <a:spLocks noGrp="1"/>
          </p:cNvSpPr>
          <p:nvPr/>
        </p:nvSpPr>
        <p:spPr>
          <a:xfrm>
            <a:off x="3781425" y="2381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06B"/>
                </a:solidFill>
              </a:defRPr>
            </a:pPr>
            <a:r>
              <a:rPr sz="1200" b="1">
                <a:solidFill>
                  <a:srgbClr val="62706B"/>
                </a:solidFill>
              </a:rPr>
              <a:t>INSIGHT</a:t>
            </a:r>
          </a:p>
        </p:txBody>
      </p:sp>
      <p:sp>
        <p:nvSpPr>
          <p:cNvPr id="15" name="flow-value-1">
            <a:extLst>
              <a:ext uri="{FF2B5EF4-FFF2-40B4-BE49-F238E27FC236}">
                <a16:creationId xmlns:a16="http://schemas.microsoft.com/office/drawing/2014/main" id="{711362E6-2BCE-4674-8BE5-AF79C02EBC77}"/>
              </a:ext>
            </a:extLst>
          </p:cNvPr>
          <p:cNvSpPr>
            <a:spLocks noGrp="1"/>
          </p:cNvSpPr>
          <p:nvPr/>
        </p:nvSpPr>
        <p:spPr>
          <a:xfrm>
            <a:off x="3781425" y="3095625"/>
            <a:ext cx="2667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7231F"/>
                </a:solidFill>
              </a:defRPr>
            </a:pPr>
            <a:r>
              <a:rPr sz="3225" b="1">
                <a:solidFill>
                  <a:srgbClr val="17231F"/>
                </a:solidFill>
              </a:rPr>
              <a:t>상위 50개</a:t>
            </a:r>
          </a:p>
        </p:txBody>
      </p:sp>
      <p:sp>
        <p:nvSpPr>
          <p:cNvPr id="16" name="flow-desc-1">
            <a:extLst>
              <a:ext uri="{FF2B5EF4-FFF2-40B4-BE49-F238E27FC236}">
                <a16:creationId xmlns:a16="http://schemas.microsoft.com/office/drawing/2014/main" id="{9648DB0B-B24E-45B1-A21F-D7839507FA11}"/>
              </a:ext>
            </a:extLst>
          </p:cNvPr>
          <p:cNvSpPr>
            <a:spLocks noGrp="1"/>
          </p:cNvSpPr>
          <p:nvPr/>
        </p:nvSpPr>
        <p:spPr>
          <a:xfrm>
            <a:off x="3781425" y="428625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불용어 처리</a:t>
            </a:r>
          </a:p>
          <a:p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워드클라우드</a:t>
            </a:r>
          </a:p>
        </p:txBody>
      </p:sp>
      <p:sp>
        <p:nvSpPr>
          <p:cNvPr id="17" name="flow-accent-1">
            <a:extLst>
              <a:ext uri="{FF2B5EF4-FFF2-40B4-BE49-F238E27FC236}">
                <a16:creationId xmlns:a16="http://schemas.microsoft.com/office/drawing/2014/main" id="{9C01B268-D588-4D36-A2C3-12A5B264FB32}"/>
              </a:ext>
            </a:extLst>
          </p:cNvPr>
          <p:cNvSpPr>
            <a:spLocks noGrp="1"/>
          </p:cNvSpPr>
          <p:nvPr/>
        </p:nvSpPr>
        <p:spPr>
          <a:xfrm>
            <a:off x="3781425" y="5429250"/>
            <a:ext cx="2381250" cy="47625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18" name="flow-sep-2">
            <a:extLst>
              <a:ext uri="{FF2B5EF4-FFF2-40B4-BE49-F238E27FC236}">
                <a16:creationId xmlns:a16="http://schemas.microsoft.com/office/drawing/2014/main" id="{6DDC1614-821C-4859-9A3C-6780BE5F27ED}"/>
              </a:ext>
            </a:extLst>
          </p:cNvPr>
          <p:cNvSpPr>
            <a:spLocks noGrp="1"/>
          </p:cNvSpPr>
          <p:nvPr/>
        </p:nvSpPr>
        <p:spPr>
          <a:xfrm>
            <a:off x="6762750" y="1952625"/>
            <a:ext cx="9525" cy="363855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9" name="flow-num-2">
            <a:extLst>
              <a:ext uri="{FF2B5EF4-FFF2-40B4-BE49-F238E27FC236}">
                <a16:creationId xmlns:a16="http://schemas.microsoft.com/office/drawing/2014/main" id="{CD094712-A0A9-47AE-A8C5-EECD8E7BC802}"/>
              </a:ext>
            </a:extLst>
          </p:cNvPr>
          <p:cNvSpPr>
            <a:spLocks noGrp="1"/>
          </p:cNvSpPr>
          <p:nvPr/>
        </p:nvSpPr>
        <p:spPr>
          <a:xfrm>
            <a:off x="6953250" y="1809750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0A878"/>
                </a:solidFill>
              </a:defRPr>
            </a:pPr>
            <a:r>
              <a:rPr sz="2400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20" name="flow-key-2">
            <a:extLst>
              <a:ext uri="{FF2B5EF4-FFF2-40B4-BE49-F238E27FC236}">
                <a16:creationId xmlns:a16="http://schemas.microsoft.com/office/drawing/2014/main" id="{F4E5C2F1-234D-4E8C-9D1B-305C6718F5AB}"/>
              </a:ext>
            </a:extLst>
          </p:cNvPr>
          <p:cNvSpPr>
            <a:spLocks noGrp="1"/>
          </p:cNvSpPr>
          <p:nvPr/>
        </p:nvSpPr>
        <p:spPr>
          <a:xfrm>
            <a:off x="6953250" y="2381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06B"/>
                </a:solidFill>
              </a:defRPr>
            </a:pPr>
            <a:r>
              <a:rPr sz="1200" b="1">
                <a:solidFill>
                  <a:srgbClr val="62706B"/>
                </a:solidFill>
              </a:rPr>
              <a:t>PERSONA</a:t>
            </a:r>
          </a:p>
        </p:txBody>
      </p:sp>
      <p:sp>
        <p:nvSpPr>
          <p:cNvPr id="21" name="flow-value-2">
            <a:extLst>
              <a:ext uri="{FF2B5EF4-FFF2-40B4-BE49-F238E27FC236}">
                <a16:creationId xmlns:a16="http://schemas.microsoft.com/office/drawing/2014/main" id="{929A72E8-9606-48FC-A44C-4B4D880A7D82}"/>
              </a:ext>
            </a:extLst>
          </p:cNvPr>
          <p:cNvSpPr>
            <a:spLocks noGrp="1"/>
          </p:cNvSpPr>
          <p:nvPr/>
        </p:nvSpPr>
        <p:spPr>
          <a:xfrm>
            <a:off x="6953250" y="3095625"/>
            <a:ext cx="2667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7231F"/>
                </a:solidFill>
              </a:defRPr>
            </a:pPr>
            <a:r>
              <a:rPr sz="3225" b="1">
                <a:solidFill>
                  <a:srgbClr val="17231F"/>
                </a:solidFill>
              </a:rPr>
              <a:t>김지안</a:t>
            </a:r>
          </a:p>
        </p:txBody>
      </p:sp>
      <p:sp>
        <p:nvSpPr>
          <p:cNvPr id="22" name="flow-desc-2">
            <a:extLst>
              <a:ext uri="{FF2B5EF4-FFF2-40B4-BE49-F238E27FC236}">
                <a16:creationId xmlns:a16="http://schemas.microsoft.com/office/drawing/2014/main" id="{DF49B1E2-51BC-45C5-9C5A-78D0450B99C3}"/>
              </a:ext>
            </a:extLst>
          </p:cNvPr>
          <p:cNvSpPr>
            <a:spLocks noGrp="1"/>
          </p:cNvSpPr>
          <p:nvPr/>
        </p:nvSpPr>
        <p:spPr>
          <a:xfrm>
            <a:off x="6953250" y="428625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페인포인트 정의</a:t>
            </a:r>
          </a:p>
          <a:p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가상 페르소나 설정</a:t>
            </a:r>
          </a:p>
        </p:txBody>
      </p:sp>
      <p:sp>
        <p:nvSpPr>
          <p:cNvPr id="23" name="flow-accent-2">
            <a:extLst>
              <a:ext uri="{FF2B5EF4-FFF2-40B4-BE49-F238E27FC236}">
                <a16:creationId xmlns:a16="http://schemas.microsoft.com/office/drawing/2014/main" id="{60D69985-28CE-4E58-9994-AA7EC6EF6E10}"/>
              </a:ext>
            </a:extLst>
          </p:cNvPr>
          <p:cNvSpPr>
            <a:spLocks noGrp="1"/>
          </p:cNvSpPr>
          <p:nvPr/>
        </p:nvSpPr>
        <p:spPr>
          <a:xfrm>
            <a:off x="6953250" y="5429250"/>
            <a:ext cx="2381250" cy="47625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24" name="flow-sep-3">
            <a:extLst>
              <a:ext uri="{FF2B5EF4-FFF2-40B4-BE49-F238E27FC236}">
                <a16:creationId xmlns:a16="http://schemas.microsoft.com/office/drawing/2014/main" id="{801B75A0-27E7-42AB-B354-0CA430D9356A}"/>
              </a:ext>
            </a:extLst>
          </p:cNvPr>
          <p:cNvSpPr>
            <a:spLocks noGrp="1"/>
          </p:cNvSpPr>
          <p:nvPr/>
        </p:nvSpPr>
        <p:spPr>
          <a:xfrm>
            <a:off x="9934575" y="1952625"/>
            <a:ext cx="9525" cy="363855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5" name="flow-num-3">
            <a:extLst>
              <a:ext uri="{FF2B5EF4-FFF2-40B4-BE49-F238E27FC236}">
                <a16:creationId xmlns:a16="http://schemas.microsoft.com/office/drawing/2014/main" id="{3B6A6739-F16A-4433-956F-F088CE5B53E5}"/>
              </a:ext>
            </a:extLst>
          </p:cNvPr>
          <p:cNvSpPr>
            <a:spLocks noGrp="1"/>
          </p:cNvSpPr>
          <p:nvPr/>
        </p:nvSpPr>
        <p:spPr>
          <a:xfrm>
            <a:off x="10125075" y="1809750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4775E8"/>
                </a:solidFill>
              </a:defRPr>
            </a:pPr>
            <a:r>
              <a:rPr sz="2400" b="1">
                <a:solidFill>
                  <a:srgbClr val="4775E8"/>
                </a:solidFill>
              </a:rPr>
              <a:t>04</a:t>
            </a:r>
          </a:p>
        </p:txBody>
      </p:sp>
      <p:sp>
        <p:nvSpPr>
          <p:cNvPr id="26" name="flow-key-3">
            <a:extLst>
              <a:ext uri="{FF2B5EF4-FFF2-40B4-BE49-F238E27FC236}">
                <a16:creationId xmlns:a16="http://schemas.microsoft.com/office/drawing/2014/main" id="{738CA9EA-E625-4E0B-97E7-D1A5EE3C6772}"/>
              </a:ext>
            </a:extLst>
          </p:cNvPr>
          <p:cNvSpPr>
            <a:spLocks noGrp="1"/>
          </p:cNvSpPr>
          <p:nvPr/>
        </p:nvSpPr>
        <p:spPr>
          <a:xfrm>
            <a:off x="10125075" y="2381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06B"/>
                </a:solidFill>
              </a:defRPr>
            </a:pPr>
            <a:r>
              <a:rPr sz="1200" b="1">
                <a:solidFill>
                  <a:srgbClr val="62706B"/>
                </a:solidFill>
              </a:rPr>
              <a:t>DX</a:t>
            </a:r>
          </a:p>
        </p:txBody>
      </p:sp>
      <p:sp>
        <p:nvSpPr>
          <p:cNvPr id="27" name="flow-value-3">
            <a:extLst>
              <a:ext uri="{FF2B5EF4-FFF2-40B4-BE49-F238E27FC236}">
                <a16:creationId xmlns:a16="http://schemas.microsoft.com/office/drawing/2014/main" id="{C1D6CA96-0109-4152-B967-6BEFF9825C18}"/>
              </a:ext>
            </a:extLst>
          </p:cNvPr>
          <p:cNvSpPr>
            <a:spLocks noGrp="1"/>
          </p:cNvSpPr>
          <p:nvPr/>
        </p:nvSpPr>
        <p:spPr>
          <a:xfrm>
            <a:off x="10125075" y="3095625"/>
            <a:ext cx="2667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31F"/>
                </a:solidFill>
              </a:defRPr>
            </a:pPr>
            <a:r>
              <a:rPr sz="2625" b="1">
                <a:solidFill>
                  <a:srgbClr val="17231F"/>
                </a:solidFill>
              </a:rPr>
              <a:t>LocalHub</a:t>
            </a:r>
          </a:p>
        </p:txBody>
      </p:sp>
      <p:sp>
        <p:nvSpPr>
          <p:cNvPr id="28" name="flow-desc-3">
            <a:extLst>
              <a:ext uri="{FF2B5EF4-FFF2-40B4-BE49-F238E27FC236}">
                <a16:creationId xmlns:a16="http://schemas.microsoft.com/office/drawing/2014/main" id="{5B03233C-D427-4738-B798-9730D794C7E1}"/>
              </a:ext>
            </a:extLst>
          </p:cNvPr>
          <p:cNvSpPr>
            <a:spLocks noGrp="1"/>
          </p:cNvSpPr>
          <p:nvPr/>
        </p:nvSpPr>
        <p:spPr>
          <a:xfrm>
            <a:off x="10125075" y="428625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공공데이터 기반</a:t>
            </a:r>
          </a:p>
          <a:p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안전귀가 서비스</a:t>
            </a:r>
          </a:p>
        </p:txBody>
      </p:sp>
      <p:sp>
        <p:nvSpPr>
          <p:cNvPr id="29" name="flow-accent-3">
            <a:extLst>
              <a:ext uri="{FF2B5EF4-FFF2-40B4-BE49-F238E27FC236}">
                <a16:creationId xmlns:a16="http://schemas.microsoft.com/office/drawing/2014/main" id="{20BBE5A0-8419-42F9-A6B7-1637E48BC594}"/>
              </a:ext>
            </a:extLst>
          </p:cNvPr>
          <p:cNvSpPr>
            <a:spLocks noGrp="1"/>
          </p:cNvSpPr>
          <p:nvPr/>
        </p:nvSpPr>
        <p:spPr>
          <a:xfrm>
            <a:off x="10125075" y="5429250"/>
            <a:ext cx="2381250" cy="47625"/>
          </a:xfrm>
          <a:prstGeom prst="rect">
            <a:avLst/>
          </a:prstGeom>
          <a:solidFill>
            <a:srgbClr val="4775E8"/>
          </a:solidFill>
          <a:ln w="0">
            <a:solidFill>
              <a:srgbClr val="4775E8"/>
            </a:solidFill>
            <a:prstDash val="solid"/>
          </a:ln>
        </p:spPr>
      </p:sp>
      <p:sp>
        <p:nvSpPr>
          <p:cNvPr id="30" name="flow-close">
            <a:extLst>
              <a:ext uri="{FF2B5EF4-FFF2-40B4-BE49-F238E27FC236}">
                <a16:creationId xmlns:a16="http://schemas.microsoft.com/office/drawing/2014/main" id="{2929D4C4-5DE8-4949-B784-AF756F490F0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247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31F"/>
                </a:solidFill>
              </a:defRPr>
            </a:pPr>
            <a:r>
              <a:rPr sz="1800" b="1">
                <a:solidFill>
                  <a:srgbClr val="17231F"/>
                </a:solidFill>
              </a:rPr>
              <a:t>반복되는 언어에서 고객 문제를 찾고, 그 문제를 해결하는 기능으로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8078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ackground-3">
            <a:extLst>
              <a:ext uri="{FF2B5EF4-FFF2-40B4-BE49-F238E27FC236}">
                <a16:creationId xmlns:a16="http://schemas.microsoft.com/office/drawing/2014/main" id="{C7E59504-651D-4025-ABCC-C14F6458E8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7F5F0"/>
          </a:solidFill>
          <a:ln w="0">
            <a:solidFill>
              <a:srgbClr val="F7F5F0"/>
            </a:solidFill>
            <a:prstDash val="solid"/>
          </a:ln>
        </p:spPr>
      </p:sp>
      <p:sp>
        <p:nvSpPr>
          <p:cNvPr id="2" name="section-3">
            <a:extLst>
              <a:ext uri="{FF2B5EF4-FFF2-40B4-BE49-F238E27FC236}">
                <a16:creationId xmlns:a16="http://schemas.microsoft.com/office/drawing/2014/main" id="{61925D91-0ADF-407A-8982-A08E47C13E1E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BX · DATA COLLECTION</a:t>
            </a:r>
          </a:p>
        </p:txBody>
      </p:sp>
      <p:sp>
        <p:nvSpPr>
          <p:cNvPr id="3" name="header-line-3">
            <a:extLst>
              <a:ext uri="{FF2B5EF4-FFF2-40B4-BE49-F238E27FC236}">
                <a16:creationId xmlns:a16="http://schemas.microsoft.com/office/drawing/2014/main" id="{C33C460E-93C1-46D4-A7F4-400FCAAE043A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3">
            <a:extLst>
              <a:ext uri="{FF2B5EF4-FFF2-40B4-BE49-F238E27FC236}">
                <a16:creationId xmlns:a16="http://schemas.microsoft.com/office/drawing/2014/main" id="{5DE76431-C94A-4BCB-8524-E77B39FB4DA2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5" name="title-3">
            <a:extLst>
              <a:ext uri="{FF2B5EF4-FFF2-40B4-BE49-F238E27FC236}">
                <a16:creationId xmlns:a16="http://schemas.microsoft.com/office/drawing/2014/main" id="{41B89CCB-EA03-48BF-9035-CA6CA436274F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밤길의 언어 2,257건을 모았습니다</a:t>
            </a:r>
          </a:p>
        </p:txBody>
      </p:sp>
      <p:sp>
        <p:nvSpPr>
          <p:cNvPr id="6" name="page-3">
            <a:extLst>
              <a:ext uri="{FF2B5EF4-FFF2-40B4-BE49-F238E27FC236}">
                <a16:creationId xmlns:a16="http://schemas.microsoft.com/office/drawing/2014/main" id="{1AAEF98B-BD1A-490A-A748-6066DBF3E95F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03</a:t>
            </a:r>
          </a:p>
        </p:txBody>
      </p:sp>
      <p:sp>
        <p:nvSpPr>
          <p:cNvPr id="7" name="collection-total">
            <a:extLst>
              <a:ext uri="{FF2B5EF4-FFF2-40B4-BE49-F238E27FC236}">
                <a16:creationId xmlns:a16="http://schemas.microsoft.com/office/drawing/2014/main" id="{67AD8FBD-C153-49E7-9EED-BA0906AB5815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5143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900" b="1">
                <a:solidFill>
                  <a:srgbClr val="00A878"/>
                </a:solidFill>
              </a:defRPr>
            </a:pPr>
            <a:r>
              <a:rPr sz="6900" b="1">
                <a:solidFill>
                  <a:srgbClr val="00A878"/>
                </a:solidFill>
              </a:rPr>
              <a:t>2,257</a:t>
            </a:r>
          </a:p>
        </p:txBody>
      </p:sp>
      <p:sp>
        <p:nvSpPr>
          <p:cNvPr id="8" name="collection-unit">
            <a:extLst>
              <a:ext uri="{FF2B5EF4-FFF2-40B4-BE49-F238E27FC236}">
                <a16:creationId xmlns:a16="http://schemas.microsoft.com/office/drawing/2014/main" id="{06B080C9-95DC-4359-9B99-025FF492C8CD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7231F"/>
                </a:solidFill>
              </a:defRPr>
            </a:pPr>
            <a:r>
              <a:rPr sz="1650" b="0">
                <a:solidFill>
                  <a:srgbClr val="17231F"/>
                </a:solidFill>
              </a:rPr>
              <a:t>중복 제거 후 분석 문서</a:t>
            </a:r>
          </a:p>
        </p:txBody>
      </p:sp>
      <p:sp>
        <p:nvSpPr>
          <p:cNvPr id="9" name="collection-split">
            <a:extLst>
              <a:ext uri="{FF2B5EF4-FFF2-40B4-BE49-F238E27FC236}">
                <a16:creationId xmlns:a16="http://schemas.microsoft.com/office/drawing/2014/main" id="{0D692BB9-C5B4-42AD-949A-93B83F7DA8EA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704D"/>
                </a:solidFill>
              </a:defRPr>
            </a:pPr>
            <a:r>
              <a:rPr sz="1350" b="1">
                <a:solidFill>
                  <a:srgbClr val="FF704D"/>
                </a:solidFill>
              </a:rPr>
              <a:t>NEWS 1,100  /  BLOG 1,157</a:t>
            </a:r>
          </a:p>
        </p:txBody>
      </p:sp>
      <p:sp>
        <p:nvSpPr>
          <p:cNvPr id="10" name="collection-divider">
            <a:extLst>
              <a:ext uri="{FF2B5EF4-FFF2-40B4-BE49-F238E27FC236}">
                <a16:creationId xmlns:a16="http://schemas.microsoft.com/office/drawing/2014/main" id="{E878948D-B44A-43B0-9FF0-17828F96BBC4}"/>
              </a:ext>
            </a:extLst>
          </p:cNvPr>
          <p:cNvSpPr>
            <a:spLocks noGrp="1"/>
          </p:cNvSpPr>
          <p:nvPr/>
        </p:nvSpPr>
        <p:spPr>
          <a:xfrm>
            <a:off x="5905500" y="1790700"/>
            <a:ext cx="9525" cy="428625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1" name="collection-query-title">
            <a:extLst>
              <a:ext uri="{FF2B5EF4-FFF2-40B4-BE49-F238E27FC236}">
                <a16:creationId xmlns:a16="http://schemas.microsoft.com/office/drawing/2014/main" id="{3B2D5E11-A2B3-41B0-B6A5-1F239DB94D1C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12개 검색어</a:t>
            </a:r>
          </a:p>
        </p:txBody>
      </p:sp>
      <p:sp>
        <p:nvSpPr>
          <p:cNvPr id="12" name="collection-query-sub">
            <a:extLst>
              <a:ext uri="{FF2B5EF4-FFF2-40B4-BE49-F238E27FC236}">
                <a16:creationId xmlns:a16="http://schemas.microsoft.com/office/drawing/2014/main" id="{EB865C13-9F7E-4C78-9FA5-61E62A0E9443}"/>
              </a:ext>
            </a:extLst>
          </p:cNvPr>
          <p:cNvSpPr>
            <a:spLocks noGrp="1"/>
          </p:cNvSpPr>
          <p:nvPr/>
        </p:nvSpPr>
        <p:spPr>
          <a:xfrm>
            <a:off x="6477000" y="22860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안전시설 · 이동환경 · 귀가 경험</a:t>
            </a:r>
          </a:p>
        </p:txBody>
      </p:sp>
      <p:sp>
        <p:nvSpPr>
          <p:cNvPr id="13" name="query-num-0">
            <a:extLst>
              <a:ext uri="{FF2B5EF4-FFF2-40B4-BE49-F238E27FC236}">
                <a16:creationId xmlns:a16="http://schemas.microsoft.com/office/drawing/2014/main" id="{6D5C8E21-691E-4327-80B9-252C891DC202}"/>
              </a:ext>
            </a:extLst>
          </p:cNvPr>
          <p:cNvSpPr>
            <a:spLocks noGrp="1"/>
          </p:cNvSpPr>
          <p:nvPr/>
        </p:nvSpPr>
        <p:spPr>
          <a:xfrm>
            <a:off x="6477000" y="295275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4" name="query-0">
            <a:extLst>
              <a:ext uri="{FF2B5EF4-FFF2-40B4-BE49-F238E27FC236}">
                <a16:creationId xmlns:a16="http://schemas.microsoft.com/office/drawing/2014/main" id="{ED75B115-C3D3-400E-BCCA-E21F3F06D52F}"/>
              </a:ext>
            </a:extLst>
          </p:cNvPr>
          <p:cNvSpPr>
            <a:spLocks noGrp="1"/>
          </p:cNvSpPr>
          <p:nvPr/>
        </p:nvSpPr>
        <p:spPr>
          <a:xfrm>
            <a:off x="6838950" y="2952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야간 귀가 안전</a:t>
            </a:r>
          </a:p>
        </p:txBody>
      </p:sp>
      <p:sp>
        <p:nvSpPr>
          <p:cNvPr id="15" name="query-rule-0">
            <a:extLst>
              <a:ext uri="{FF2B5EF4-FFF2-40B4-BE49-F238E27FC236}">
                <a16:creationId xmlns:a16="http://schemas.microsoft.com/office/drawing/2014/main" id="{383EC34D-C1E5-4CD0-8C0C-9F19BEB1166F}"/>
              </a:ext>
            </a:extLst>
          </p:cNvPr>
          <p:cNvSpPr>
            <a:spLocks noGrp="1"/>
          </p:cNvSpPr>
          <p:nvPr/>
        </p:nvSpPr>
        <p:spPr>
          <a:xfrm>
            <a:off x="6477000" y="334327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6" name="query-num-1">
            <a:extLst>
              <a:ext uri="{FF2B5EF4-FFF2-40B4-BE49-F238E27FC236}">
                <a16:creationId xmlns:a16="http://schemas.microsoft.com/office/drawing/2014/main" id="{0F8BE856-B861-4BD6-90D5-E65D003EE6B8}"/>
              </a:ext>
            </a:extLst>
          </p:cNvPr>
          <p:cNvSpPr>
            <a:spLocks noGrp="1"/>
          </p:cNvSpPr>
          <p:nvPr/>
        </p:nvSpPr>
        <p:spPr>
          <a:xfrm>
            <a:off x="8620125" y="295275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17" name="query-1">
            <a:extLst>
              <a:ext uri="{FF2B5EF4-FFF2-40B4-BE49-F238E27FC236}">
                <a16:creationId xmlns:a16="http://schemas.microsoft.com/office/drawing/2014/main" id="{4DCCF8A0-02D7-4267-AC56-2265D2676E41}"/>
              </a:ext>
            </a:extLst>
          </p:cNvPr>
          <p:cNvSpPr>
            <a:spLocks noGrp="1"/>
          </p:cNvSpPr>
          <p:nvPr/>
        </p:nvSpPr>
        <p:spPr>
          <a:xfrm>
            <a:off x="8982075" y="2952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밤길 안전</a:t>
            </a:r>
          </a:p>
        </p:txBody>
      </p:sp>
      <p:sp>
        <p:nvSpPr>
          <p:cNvPr id="18" name="query-rule-1">
            <a:extLst>
              <a:ext uri="{FF2B5EF4-FFF2-40B4-BE49-F238E27FC236}">
                <a16:creationId xmlns:a16="http://schemas.microsoft.com/office/drawing/2014/main" id="{A60C2260-231C-46B1-9D65-58CC415AE03F}"/>
              </a:ext>
            </a:extLst>
          </p:cNvPr>
          <p:cNvSpPr>
            <a:spLocks noGrp="1"/>
          </p:cNvSpPr>
          <p:nvPr/>
        </p:nvSpPr>
        <p:spPr>
          <a:xfrm>
            <a:off x="8620125" y="334327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9" name="query-num-2">
            <a:extLst>
              <a:ext uri="{FF2B5EF4-FFF2-40B4-BE49-F238E27FC236}">
                <a16:creationId xmlns:a16="http://schemas.microsoft.com/office/drawing/2014/main" id="{57EF59EE-820B-4953-8942-F54D516703B7}"/>
              </a:ext>
            </a:extLst>
          </p:cNvPr>
          <p:cNvSpPr>
            <a:spLocks noGrp="1"/>
          </p:cNvSpPr>
          <p:nvPr/>
        </p:nvSpPr>
        <p:spPr>
          <a:xfrm>
            <a:off x="10763250" y="295275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20" name="query-2">
            <a:extLst>
              <a:ext uri="{FF2B5EF4-FFF2-40B4-BE49-F238E27FC236}">
                <a16:creationId xmlns:a16="http://schemas.microsoft.com/office/drawing/2014/main" id="{CE32E12B-8F72-48F8-A708-D9A5B2A90FD3}"/>
              </a:ext>
            </a:extLst>
          </p:cNvPr>
          <p:cNvSpPr>
            <a:spLocks noGrp="1"/>
          </p:cNvSpPr>
          <p:nvPr/>
        </p:nvSpPr>
        <p:spPr>
          <a:xfrm>
            <a:off x="11125200" y="2952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여성 안심귀가</a:t>
            </a:r>
          </a:p>
        </p:txBody>
      </p:sp>
      <p:sp>
        <p:nvSpPr>
          <p:cNvPr id="21" name="query-rule-2">
            <a:extLst>
              <a:ext uri="{FF2B5EF4-FFF2-40B4-BE49-F238E27FC236}">
                <a16:creationId xmlns:a16="http://schemas.microsoft.com/office/drawing/2014/main" id="{EAC7A980-B1AC-4CE2-9C9B-5D2483183723}"/>
              </a:ext>
            </a:extLst>
          </p:cNvPr>
          <p:cNvSpPr>
            <a:spLocks noGrp="1"/>
          </p:cNvSpPr>
          <p:nvPr/>
        </p:nvSpPr>
        <p:spPr>
          <a:xfrm>
            <a:off x="10763250" y="334327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2" name="query-num-3">
            <a:extLst>
              <a:ext uri="{FF2B5EF4-FFF2-40B4-BE49-F238E27FC236}">
                <a16:creationId xmlns:a16="http://schemas.microsoft.com/office/drawing/2014/main" id="{A766697B-BA96-4453-B067-0A925EB22D03}"/>
              </a:ext>
            </a:extLst>
          </p:cNvPr>
          <p:cNvSpPr>
            <a:spLocks noGrp="1"/>
          </p:cNvSpPr>
          <p:nvPr/>
        </p:nvSpPr>
        <p:spPr>
          <a:xfrm>
            <a:off x="6477000" y="36195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04</a:t>
            </a:r>
          </a:p>
        </p:txBody>
      </p:sp>
      <p:sp>
        <p:nvSpPr>
          <p:cNvPr id="23" name="query-3">
            <a:extLst>
              <a:ext uri="{FF2B5EF4-FFF2-40B4-BE49-F238E27FC236}">
                <a16:creationId xmlns:a16="http://schemas.microsoft.com/office/drawing/2014/main" id="{03FCF30C-09D3-4789-B91F-97EF361874C6}"/>
              </a:ext>
            </a:extLst>
          </p:cNvPr>
          <p:cNvSpPr>
            <a:spLocks noGrp="1"/>
          </p:cNvSpPr>
          <p:nvPr/>
        </p:nvSpPr>
        <p:spPr>
          <a:xfrm>
            <a:off x="6838950" y="3619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골목길 안전</a:t>
            </a:r>
          </a:p>
        </p:txBody>
      </p:sp>
      <p:sp>
        <p:nvSpPr>
          <p:cNvPr id="24" name="query-rule-3">
            <a:extLst>
              <a:ext uri="{FF2B5EF4-FFF2-40B4-BE49-F238E27FC236}">
                <a16:creationId xmlns:a16="http://schemas.microsoft.com/office/drawing/2014/main" id="{409A2758-0FF8-4FC7-B5E9-693CC1791851}"/>
              </a:ext>
            </a:extLst>
          </p:cNvPr>
          <p:cNvSpPr>
            <a:spLocks noGrp="1"/>
          </p:cNvSpPr>
          <p:nvPr/>
        </p:nvSpPr>
        <p:spPr>
          <a:xfrm>
            <a:off x="6477000" y="401002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5" name="query-num-4">
            <a:extLst>
              <a:ext uri="{FF2B5EF4-FFF2-40B4-BE49-F238E27FC236}">
                <a16:creationId xmlns:a16="http://schemas.microsoft.com/office/drawing/2014/main" id="{C20A30C4-CD41-4FF9-B2AB-36A36F92ABA8}"/>
              </a:ext>
            </a:extLst>
          </p:cNvPr>
          <p:cNvSpPr>
            <a:spLocks noGrp="1"/>
          </p:cNvSpPr>
          <p:nvPr/>
        </p:nvSpPr>
        <p:spPr>
          <a:xfrm>
            <a:off x="8620125" y="36195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05</a:t>
            </a:r>
          </a:p>
        </p:txBody>
      </p:sp>
      <p:sp>
        <p:nvSpPr>
          <p:cNvPr id="26" name="query-4">
            <a:extLst>
              <a:ext uri="{FF2B5EF4-FFF2-40B4-BE49-F238E27FC236}">
                <a16:creationId xmlns:a16="http://schemas.microsoft.com/office/drawing/2014/main" id="{E734D761-AF23-4D86-A564-26B5359F22B7}"/>
              </a:ext>
            </a:extLst>
          </p:cNvPr>
          <p:cNvSpPr>
            <a:spLocks noGrp="1"/>
          </p:cNvSpPr>
          <p:nvPr/>
        </p:nvSpPr>
        <p:spPr>
          <a:xfrm>
            <a:off x="8982075" y="3619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CCTV 사각지대</a:t>
            </a:r>
          </a:p>
        </p:txBody>
      </p:sp>
      <p:sp>
        <p:nvSpPr>
          <p:cNvPr id="27" name="query-rule-4">
            <a:extLst>
              <a:ext uri="{FF2B5EF4-FFF2-40B4-BE49-F238E27FC236}">
                <a16:creationId xmlns:a16="http://schemas.microsoft.com/office/drawing/2014/main" id="{4CBFB302-92A2-4F1E-8D24-A9012D48F1A1}"/>
              </a:ext>
            </a:extLst>
          </p:cNvPr>
          <p:cNvSpPr>
            <a:spLocks noGrp="1"/>
          </p:cNvSpPr>
          <p:nvPr/>
        </p:nvSpPr>
        <p:spPr>
          <a:xfrm>
            <a:off x="8620125" y="401002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8" name="query-num-5">
            <a:extLst>
              <a:ext uri="{FF2B5EF4-FFF2-40B4-BE49-F238E27FC236}">
                <a16:creationId xmlns:a16="http://schemas.microsoft.com/office/drawing/2014/main" id="{6994FE5B-F451-47F2-8EAA-0F0712197A08}"/>
              </a:ext>
            </a:extLst>
          </p:cNvPr>
          <p:cNvSpPr>
            <a:spLocks noGrp="1"/>
          </p:cNvSpPr>
          <p:nvPr/>
        </p:nvSpPr>
        <p:spPr>
          <a:xfrm>
            <a:off x="10763250" y="36195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06</a:t>
            </a:r>
          </a:p>
        </p:txBody>
      </p:sp>
      <p:sp>
        <p:nvSpPr>
          <p:cNvPr id="29" name="query-5">
            <a:extLst>
              <a:ext uri="{FF2B5EF4-FFF2-40B4-BE49-F238E27FC236}">
                <a16:creationId xmlns:a16="http://schemas.microsoft.com/office/drawing/2014/main" id="{081CE942-FF7D-43E7-9695-960E5EB77E87}"/>
              </a:ext>
            </a:extLst>
          </p:cNvPr>
          <p:cNvSpPr>
            <a:spLocks noGrp="1"/>
          </p:cNvSpPr>
          <p:nvPr/>
        </p:nvSpPr>
        <p:spPr>
          <a:xfrm>
            <a:off x="11125200" y="3619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가로등 어두운 골목</a:t>
            </a:r>
          </a:p>
        </p:txBody>
      </p:sp>
      <p:sp>
        <p:nvSpPr>
          <p:cNvPr id="30" name="query-rule-5">
            <a:extLst>
              <a:ext uri="{FF2B5EF4-FFF2-40B4-BE49-F238E27FC236}">
                <a16:creationId xmlns:a16="http://schemas.microsoft.com/office/drawing/2014/main" id="{9BBA8753-F6AF-4226-9B97-32625F258981}"/>
              </a:ext>
            </a:extLst>
          </p:cNvPr>
          <p:cNvSpPr>
            <a:spLocks noGrp="1"/>
          </p:cNvSpPr>
          <p:nvPr/>
        </p:nvSpPr>
        <p:spPr>
          <a:xfrm>
            <a:off x="10763250" y="401002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31" name="query-num-6">
            <a:extLst>
              <a:ext uri="{FF2B5EF4-FFF2-40B4-BE49-F238E27FC236}">
                <a16:creationId xmlns:a16="http://schemas.microsoft.com/office/drawing/2014/main" id="{9CBC3E1E-6F9F-4262-9E0E-65828FA8FB54}"/>
              </a:ext>
            </a:extLst>
          </p:cNvPr>
          <p:cNvSpPr>
            <a:spLocks noGrp="1"/>
          </p:cNvSpPr>
          <p:nvPr/>
        </p:nvSpPr>
        <p:spPr>
          <a:xfrm>
            <a:off x="6477000" y="428625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07</a:t>
            </a:r>
          </a:p>
        </p:txBody>
      </p:sp>
      <p:sp>
        <p:nvSpPr>
          <p:cNvPr id="32" name="query-6">
            <a:extLst>
              <a:ext uri="{FF2B5EF4-FFF2-40B4-BE49-F238E27FC236}">
                <a16:creationId xmlns:a16="http://schemas.microsoft.com/office/drawing/2014/main" id="{DA3B523D-ED2F-451D-B6EB-C30BFBD6D525}"/>
              </a:ext>
            </a:extLst>
          </p:cNvPr>
          <p:cNvSpPr>
            <a:spLocks noGrp="1"/>
          </p:cNvSpPr>
          <p:nvPr/>
        </p:nvSpPr>
        <p:spPr>
          <a:xfrm>
            <a:off x="6838950" y="4286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안전한 귀가 경로</a:t>
            </a:r>
          </a:p>
        </p:txBody>
      </p:sp>
      <p:sp>
        <p:nvSpPr>
          <p:cNvPr id="33" name="query-rule-6">
            <a:extLst>
              <a:ext uri="{FF2B5EF4-FFF2-40B4-BE49-F238E27FC236}">
                <a16:creationId xmlns:a16="http://schemas.microsoft.com/office/drawing/2014/main" id="{AE0CF794-E80C-4DD9-AF60-2E9CF049C541}"/>
              </a:ext>
            </a:extLst>
          </p:cNvPr>
          <p:cNvSpPr>
            <a:spLocks noGrp="1"/>
          </p:cNvSpPr>
          <p:nvPr/>
        </p:nvSpPr>
        <p:spPr>
          <a:xfrm>
            <a:off x="6477000" y="467677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34" name="query-num-7">
            <a:extLst>
              <a:ext uri="{FF2B5EF4-FFF2-40B4-BE49-F238E27FC236}">
                <a16:creationId xmlns:a16="http://schemas.microsoft.com/office/drawing/2014/main" id="{2CB167A5-0825-40DA-8104-91C7A4D96B3D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08</a:t>
            </a:r>
          </a:p>
        </p:txBody>
      </p:sp>
      <p:sp>
        <p:nvSpPr>
          <p:cNvPr id="35" name="query-7">
            <a:extLst>
              <a:ext uri="{FF2B5EF4-FFF2-40B4-BE49-F238E27FC236}">
                <a16:creationId xmlns:a16="http://schemas.microsoft.com/office/drawing/2014/main" id="{8169560E-0EC9-451B-8629-ACB2668ABCB7}"/>
              </a:ext>
            </a:extLst>
          </p:cNvPr>
          <p:cNvSpPr>
            <a:spLocks noGrp="1"/>
          </p:cNvSpPr>
          <p:nvPr/>
        </p:nvSpPr>
        <p:spPr>
          <a:xfrm>
            <a:off x="8982075" y="4286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보행자 야간 안전</a:t>
            </a:r>
          </a:p>
        </p:txBody>
      </p:sp>
      <p:sp>
        <p:nvSpPr>
          <p:cNvPr id="36" name="query-rule-7">
            <a:extLst>
              <a:ext uri="{FF2B5EF4-FFF2-40B4-BE49-F238E27FC236}">
                <a16:creationId xmlns:a16="http://schemas.microsoft.com/office/drawing/2014/main" id="{00E55A4A-6CB3-4443-A43B-01D929A57CC3}"/>
              </a:ext>
            </a:extLst>
          </p:cNvPr>
          <p:cNvSpPr>
            <a:spLocks noGrp="1"/>
          </p:cNvSpPr>
          <p:nvPr/>
        </p:nvSpPr>
        <p:spPr>
          <a:xfrm>
            <a:off x="8620125" y="467677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37" name="query-num-8">
            <a:extLst>
              <a:ext uri="{FF2B5EF4-FFF2-40B4-BE49-F238E27FC236}">
                <a16:creationId xmlns:a16="http://schemas.microsoft.com/office/drawing/2014/main" id="{174BC686-3D75-4342-B853-D1EF0A76DD4A}"/>
              </a:ext>
            </a:extLst>
          </p:cNvPr>
          <p:cNvSpPr>
            <a:spLocks noGrp="1"/>
          </p:cNvSpPr>
          <p:nvPr/>
        </p:nvSpPr>
        <p:spPr>
          <a:xfrm>
            <a:off x="10763250" y="428625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09</a:t>
            </a:r>
          </a:p>
        </p:txBody>
      </p:sp>
      <p:sp>
        <p:nvSpPr>
          <p:cNvPr id="38" name="query-8">
            <a:extLst>
              <a:ext uri="{FF2B5EF4-FFF2-40B4-BE49-F238E27FC236}">
                <a16:creationId xmlns:a16="http://schemas.microsoft.com/office/drawing/2014/main" id="{A240CACF-0ADE-4C0F-ADD8-A6994859AE5E}"/>
              </a:ext>
            </a:extLst>
          </p:cNvPr>
          <p:cNvSpPr>
            <a:spLocks noGrp="1"/>
          </p:cNvSpPr>
          <p:nvPr/>
        </p:nvSpPr>
        <p:spPr>
          <a:xfrm>
            <a:off x="11125200" y="4286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치안 취약지역</a:t>
            </a:r>
          </a:p>
        </p:txBody>
      </p:sp>
      <p:sp>
        <p:nvSpPr>
          <p:cNvPr id="39" name="query-rule-8">
            <a:extLst>
              <a:ext uri="{FF2B5EF4-FFF2-40B4-BE49-F238E27FC236}">
                <a16:creationId xmlns:a16="http://schemas.microsoft.com/office/drawing/2014/main" id="{527E6698-8AE1-4FD0-8C22-8F5BF44FC850}"/>
              </a:ext>
            </a:extLst>
          </p:cNvPr>
          <p:cNvSpPr>
            <a:spLocks noGrp="1"/>
          </p:cNvSpPr>
          <p:nvPr/>
        </p:nvSpPr>
        <p:spPr>
          <a:xfrm>
            <a:off x="10763250" y="467677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0" name="query-num-9">
            <a:extLst>
              <a:ext uri="{FF2B5EF4-FFF2-40B4-BE49-F238E27FC236}">
                <a16:creationId xmlns:a16="http://schemas.microsoft.com/office/drawing/2014/main" id="{143CC42B-6F51-4BF3-96AC-3E3A17AEA9C1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10</a:t>
            </a:r>
          </a:p>
        </p:txBody>
      </p:sp>
      <p:sp>
        <p:nvSpPr>
          <p:cNvPr id="41" name="query-9">
            <a:extLst>
              <a:ext uri="{FF2B5EF4-FFF2-40B4-BE49-F238E27FC236}">
                <a16:creationId xmlns:a16="http://schemas.microsoft.com/office/drawing/2014/main" id="{D0A2705B-5FDD-45FD-9BEF-78F758DAC55F}"/>
              </a:ext>
            </a:extLst>
          </p:cNvPr>
          <p:cNvSpPr>
            <a:spLocks noGrp="1"/>
          </p:cNvSpPr>
          <p:nvPr/>
        </p:nvSpPr>
        <p:spPr>
          <a:xfrm>
            <a:off x="6838950" y="4953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1인 가구 귀가 안전</a:t>
            </a:r>
          </a:p>
        </p:txBody>
      </p:sp>
      <p:sp>
        <p:nvSpPr>
          <p:cNvPr id="42" name="query-rule-9">
            <a:extLst>
              <a:ext uri="{FF2B5EF4-FFF2-40B4-BE49-F238E27FC236}">
                <a16:creationId xmlns:a16="http://schemas.microsoft.com/office/drawing/2014/main" id="{A2097523-33C5-4274-A5AA-3C2B27E0FA9E}"/>
              </a:ext>
            </a:extLst>
          </p:cNvPr>
          <p:cNvSpPr>
            <a:spLocks noGrp="1"/>
          </p:cNvSpPr>
          <p:nvPr/>
        </p:nvSpPr>
        <p:spPr>
          <a:xfrm>
            <a:off x="6477000" y="534352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3" name="query-num-10">
            <a:extLst>
              <a:ext uri="{FF2B5EF4-FFF2-40B4-BE49-F238E27FC236}">
                <a16:creationId xmlns:a16="http://schemas.microsoft.com/office/drawing/2014/main" id="{FBAA74C6-4F4C-49EB-B100-386D40032BD1}"/>
              </a:ext>
            </a:extLst>
          </p:cNvPr>
          <p:cNvSpPr>
            <a:spLocks noGrp="1"/>
          </p:cNvSpPr>
          <p:nvPr/>
        </p:nvSpPr>
        <p:spPr>
          <a:xfrm>
            <a:off x="8620125" y="49530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11</a:t>
            </a:r>
          </a:p>
        </p:txBody>
      </p:sp>
      <p:sp>
        <p:nvSpPr>
          <p:cNvPr id="44" name="query-10">
            <a:extLst>
              <a:ext uri="{FF2B5EF4-FFF2-40B4-BE49-F238E27FC236}">
                <a16:creationId xmlns:a16="http://schemas.microsoft.com/office/drawing/2014/main" id="{76F474FC-10E7-4825-BD60-DE5BB8E33F1F}"/>
              </a:ext>
            </a:extLst>
          </p:cNvPr>
          <p:cNvSpPr>
            <a:spLocks noGrp="1"/>
          </p:cNvSpPr>
          <p:nvPr/>
        </p:nvSpPr>
        <p:spPr>
          <a:xfrm>
            <a:off x="8982075" y="4953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안심귀가 서비스</a:t>
            </a:r>
          </a:p>
        </p:txBody>
      </p:sp>
      <p:sp>
        <p:nvSpPr>
          <p:cNvPr id="45" name="query-rule-10">
            <a:extLst>
              <a:ext uri="{FF2B5EF4-FFF2-40B4-BE49-F238E27FC236}">
                <a16:creationId xmlns:a16="http://schemas.microsoft.com/office/drawing/2014/main" id="{9B6E7DCF-F413-4E19-9910-C76602B93BED}"/>
              </a:ext>
            </a:extLst>
          </p:cNvPr>
          <p:cNvSpPr>
            <a:spLocks noGrp="1"/>
          </p:cNvSpPr>
          <p:nvPr/>
        </p:nvSpPr>
        <p:spPr>
          <a:xfrm>
            <a:off x="8620125" y="534352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6" name="query-num-11">
            <a:extLst>
              <a:ext uri="{FF2B5EF4-FFF2-40B4-BE49-F238E27FC236}">
                <a16:creationId xmlns:a16="http://schemas.microsoft.com/office/drawing/2014/main" id="{425AA3C5-BD60-4933-B9F3-794B338F3E75}"/>
              </a:ext>
            </a:extLst>
          </p:cNvPr>
          <p:cNvSpPr>
            <a:spLocks noGrp="1"/>
          </p:cNvSpPr>
          <p:nvPr/>
        </p:nvSpPr>
        <p:spPr>
          <a:xfrm>
            <a:off x="10763250" y="49530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12</a:t>
            </a:r>
          </a:p>
        </p:txBody>
      </p:sp>
      <p:sp>
        <p:nvSpPr>
          <p:cNvPr id="47" name="query-11">
            <a:extLst>
              <a:ext uri="{FF2B5EF4-FFF2-40B4-BE49-F238E27FC236}">
                <a16:creationId xmlns:a16="http://schemas.microsoft.com/office/drawing/2014/main" id="{BB882C55-ED8B-44F9-A7B6-F708AB2E8125}"/>
              </a:ext>
            </a:extLst>
          </p:cNvPr>
          <p:cNvSpPr>
            <a:spLocks noGrp="1"/>
          </p:cNvSpPr>
          <p:nvPr/>
        </p:nvSpPr>
        <p:spPr>
          <a:xfrm>
            <a:off x="11125200" y="4953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범죄예방 환경설계</a:t>
            </a:r>
          </a:p>
        </p:txBody>
      </p:sp>
      <p:sp>
        <p:nvSpPr>
          <p:cNvPr id="48" name="query-rule-11">
            <a:extLst>
              <a:ext uri="{FF2B5EF4-FFF2-40B4-BE49-F238E27FC236}">
                <a16:creationId xmlns:a16="http://schemas.microsoft.com/office/drawing/2014/main" id="{184BEE19-73EF-4270-A3EA-BFA45C2B6D20}"/>
              </a:ext>
            </a:extLst>
          </p:cNvPr>
          <p:cNvSpPr>
            <a:spLocks noGrp="1"/>
          </p:cNvSpPr>
          <p:nvPr/>
        </p:nvSpPr>
        <p:spPr>
          <a:xfrm>
            <a:off x="10763250" y="5343525"/>
            <a:ext cx="1857375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9" name="collection-note-bg">
            <a:extLst>
              <a:ext uri="{FF2B5EF4-FFF2-40B4-BE49-F238E27FC236}">
                <a16:creationId xmlns:a16="http://schemas.microsoft.com/office/drawing/2014/main" id="{46BD1C15-A0FD-4BC3-9AB8-F0D47FAB8649}"/>
              </a:ext>
            </a:extLst>
          </p:cNvPr>
          <p:cNvSpPr>
            <a:spLocks noGrp="1"/>
          </p:cNvSpPr>
          <p:nvPr/>
        </p:nvSpPr>
        <p:spPr>
          <a:xfrm>
            <a:off x="590550" y="5334000"/>
            <a:ext cx="4953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DD8"/>
            </a:solidFill>
            <a:prstDash val="solid"/>
          </a:ln>
        </p:spPr>
      </p:sp>
      <p:sp>
        <p:nvSpPr>
          <p:cNvPr id="50" name="collection-note">
            <a:extLst>
              <a:ext uri="{FF2B5EF4-FFF2-40B4-BE49-F238E27FC236}">
                <a16:creationId xmlns:a16="http://schemas.microsoft.com/office/drawing/2014/main" id="{F82D82C7-3EE2-43FF-A1E8-CF8A52A678F3}"/>
              </a:ext>
            </a:extLst>
          </p:cNvPr>
          <p:cNvSpPr>
            <a:spLocks noGrp="1"/>
          </p:cNvSpPr>
          <p:nvPr/>
        </p:nvSpPr>
        <p:spPr>
          <a:xfrm>
            <a:off x="819150" y="5543550"/>
            <a:ext cx="449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검색 API의 제목·요약문을 수집했습니다.</a:t>
            </a:r>
          </a:p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검색어 기반 탐색 분석이므로 전체 국민 여론으로 일반화하지 않습니다.</a:t>
            </a:r>
          </a:p>
        </p:txBody>
      </p:sp>
      <p:sp>
        <p:nvSpPr>
          <p:cNvPr id="51" name="footer-line-3">
            <a:extLst>
              <a:ext uri="{FF2B5EF4-FFF2-40B4-BE49-F238E27FC236}">
                <a16:creationId xmlns:a16="http://schemas.microsoft.com/office/drawing/2014/main" id="{A0AD2371-52E0-449F-8F91-03ABE7CF0A6A}"/>
              </a:ext>
            </a:extLst>
          </p:cNvPr>
          <p:cNvSpPr>
            <a:spLocks noGrp="1"/>
          </p:cNvSpPr>
          <p:nvPr/>
        </p:nvSpPr>
        <p:spPr>
          <a:xfrm>
            <a:off x="590550" y="723900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52" name="footer-3">
            <a:extLst>
              <a:ext uri="{FF2B5EF4-FFF2-40B4-BE49-F238E27FC236}">
                <a16:creationId xmlns:a16="http://schemas.microsoft.com/office/drawing/2014/main" id="{44011B73-16D9-4710-B424-57CC63EA1263}"/>
              </a:ext>
            </a:extLst>
          </p:cNvPr>
          <p:cNvSpPr>
            <a:spLocks noGrp="1"/>
          </p:cNvSpPr>
          <p:nvPr/>
        </p:nvSpPr>
        <p:spPr>
          <a:xfrm>
            <a:off x="590550" y="7353300"/>
            <a:ext cx="1253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네이버 뉴스·블로그 검색 API | 수집일 2026-07-14 | 12개 검색어, 중복 제거 후 2,257건</a:t>
            </a:r>
          </a:p>
        </p:txBody>
      </p:sp>
    </p:spTree>
    <p:extLst>
      <p:ext uri="{BB962C8B-B14F-4D97-AF65-F5344CB8AC3E}">
        <p14:creationId xmlns:p14="http://schemas.microsoft.com/office/powerpoint/2010/main" val="206900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ackground-4">
            <a:extLst>
              <a:ext uri="{FF2B5EF4-FFF2-40B4-BE49-F238E27FC236}">
                <a16:creationId xmlns:a16="http://schemas.microsoft.com/office/drawing/2014/main" id="{27AB9189-3431-4351-9BAE-E108EDD828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7F5F0"/>
          </a:solidFill>
          <a:ln w="0">
            <a:solidFill>
              <a:srgbClr val="F7F5F0"/>
            </a:solidFill>
            <a:prstDash val="solid"/>
          </a:ln>
        </p:spPr>
      </p:sp>
      <p:sp>
        <p:nvSpPr>
          <p:cNvPr id="2" name="section-4">
            <a:extLst>
              <a:ext uri="{FF2B5EF4-FFF2-40B4-BE49-F238E27FC236}">
                <a16:creationId xmlns:a16="http://schemas.microsoft.com/office/drawing/2014/main" id="{35EF39ED-90A2-4619-B36A-BB5EE3962E5A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BX · DATA PREPROCESSING</a:t>
            </a:r>
          </a:p>
        </p:txBody>
      </p:sp>
      <p:sp>
        <p:nvSpPr>
          <p:cNvPr id="3" name="header-line-4">
            <a:extLst>
              <a:ext uri="{FF2B5EF4-FFF2-40B4-BE49-F238E27FC236}">
                <a16:creationId xmlns:a16="http://schemas.microsoft.com/office/drawing/2014/main" id="{EB180470-3660-404B-9661-0B3CBCBD0DB3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4">
            <a:extLst>
              <a:ext uri="{FF2B5EF4-FFF2-40B4-BE49-F238E27FC236}">
                <a16:creationId xmlns:a16="http://schemas.microsoft.com/office/drawing/2014/main" id="{F27C110F-BE1A-4F8B-9335-D55B741824EB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5" name="title-4">
            <a:extLst>
              <a:ext uri="{FF2B5EF4-FFF2-40B4-BE49-F238E27FC236}">
                <a16:creationId xmlns:a16="http://schemas.microsoft.com/office/drawing/2014/main" id="{72FA8B57-7B76-4F12-B03A-D1CE36F0F7FC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고객 경험을 설명하는 단어만 남겼습니다</a:t>
            </a:r>
          </a:p>
        </p:txBody>
      </p:sp>
      <p:sp>
        <p:nvSpPr>
          <p:cNvPr id="6" name="page-4">
            <a:extLst>
              <a:ext uri="{FF2B5EF4-FFF2-40B4-BE49-F238E27FC236}">
                <a16:creationId xmlns:a16="http://schemas.microsoft.com/office/drawing/2014/main" id="{87A2123D-90EC-40F3-ACAB-E5C05F84158D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04</a:t>
            </a:r>
          </a:p>
        </p:txBody>
      </p:sp>
      <p:sp>
        <p:nvSpPr>
          <p:cNvPr id="7" name="process-line">
            <a:extLst>
              <a:ext uri="{FF2B5EF4-FFF2-40B4-BE49-F238E27FC236}">
                <a16:creationId xmlns:a16="http://schemas.microsoft.com/office/drawing/2014/main" id="{4C289252-C55C-48AA-9314-4B89F8B8B0A3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11382375" cy="1905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8" name="process-node-0">
            <a:extLst>
              <a:ext uri="{FF2B5EF4-FFF2-40B4-BE49-F238E27FC236}">
                <a16:creationId xmlns:a16="http://schemas.microsoft.com/office/drawing/2014/main" id="{450C8075-8077-414F-8EC2-F992635CE3FD}"/>
              </a:ext>
            </a:extLst>
          </p:cNvPr>
          <p:cNvSpPr>
            <a:spLocks noGrp="1"/>
          </p:cNvSpPr>
          <p:nvPr/>
        </p:nvSpPr>
        <p:spPr>
          <a:xfrm>
            <a:off x="590550" y="2647950"/>
            <a:ext cx="457200" cy="457200"/>
          </a:xfrm>
          <a:prstGeom prst="rect">
            <a:avLst/>
          </a:prstGeom>
          <a:solidFill>
            <a:srgbClr val="F7F5F0"/>
          </a:solidFill>
          <a:ln w="19050">
            <a:solidFill>
              <a:srgbClr val="00A878"/>
            </a:solidFill>
            <a:prstDash val="solid"/>
          </a:ln>
        </p:spPr>
      </p:sp>
      <p:sp>
        <p:nvSpPr>
          <p:cNvPr id="9" name="process-num-0">
            <a:extLst>
              <a:ext uri="{FF2B5EF4-FFF2-40B4-BE49-F238E27FC236}">
                <a16:creationId xmlns:a16="http://schemas.microsoft.com/office/drawing/2014/main" id="{75DBD787-FC61-40A7-8783-8EB447397C3C}"/>
              </a:ext>
            </a:extLst>
          </p:cNvPr>
          <p:cNvSpPr>
            <a:spLocks noGrp="1"/>
          </p:cNvSpPr>
          <p:nvPr/>
        </p:nvSpPr>
        <p:spPr>
          <a:xfrm>
            <a:off x="638175" y="2714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0" name="process-title-0">
            <a:extLst>
              <a:ext uri="{FF2B5EF4-FFF2-40B4-BE49-F238E27FC236}">
                <a16:creationId xmlns:a16="http://schemas.microsoft.com/office/drawing/2014/main" id="{94300067-F146-40B9-88CC-E27CA1D5BCF4}"/>
              </a:ext>
            </a:extLst>
          </p:cNvPr>
          <p:cNvSpPr>
            <a:spLocks noGrp="1"/>
          </p:cNvSpPr>
          <p:nvPr/>
        </p:nvSpPr>
        <p:spPr>
          <a:xfrm>
            <a:off x="590550" y="34290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텍스트 정리</a:t>
            </a:r>
          </a:p>
        </p:txBody>
      </p:sp>
      <p:sp>
        <p:nvSpPr>
          <p:cNvPr id="11" name="process-desc-0">
            <a:extLst>
              <a:ext uri="{FF2B5EF4-FFF2-40B4-BE49-F238E27FC236}">
                <a16:creationId xmlns:a16="http://schemas.microsoft.com/office/drawing/2014/main" id="{9CFB726A-9B56-4F37-BDED-6F124BFE85EC}"/>
              </a:ext>
            </a:extLst>
          </p:cNvPr>
          <p:cNvSpPr>
            <a:spLocks noGrp="1"/>
          </p:cNvSpPr>
          <p:nvPr/>
        </p:nvSpPr>
        <p:spPr>
          <a:xfrm>
            <a:off x="590550" y="4048125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HTML 태그·특수문자 제거</a:t>
            </a:r>
          </a:p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제목과 요약문 결합</a:t>
            </a:r>
          </a:p>
        </p:txBody>
      </p:sp>
      <p:sp>
        <p:nvSpPr>
          <p:cNvPr id="12" name="process-accent-0">
            <a:extLst>
              <a:ext uri="{FF2B5EF4-FFF2-40B4-BE49-F238E27FC236}">
                <a16:creationId xmlns:a16="http://schemas.microsoft.com/office/drawing/2014/main" id="{A7CA1C99-BCED-4F7E-B230-C4BCD3FB864E}"/>
              </a:ext>
            </a:extLst>
          </p:cNvPr>
          <p:cNvSpPr>
            <a:spLocks noGrp="1"/>
          </p:cNvSpPr>
          <p:nvPr/>
        </p:nvSpPr>
        <p:spPr>
          <a:xfrm>
            <a:off x="590550" y="4972050"/>
            <a:ext cx="247650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13" name="process-node-1">
            <a:extLst>
              <a:ext uri="{FF2B5EF4-FFF2-40B4-BE49-F238E27FC236}">
                <a16:creationId xmlns:a16="http://schemas.microsoft.com/office/drawing/2014/main" id="{682419A9-4014-42AE-960B-030973D3789E}"/>
              </a:ext>
            </a:extLst>
          </p:cNvPr>
          <p:cNvSpPr>
            <a:spLocks noGrp="1"/>
          </p:cNvSpPr>
          <p:nvPr/>
        </p:nvSpPr>
        <p:spPr>
          <a:xfrm>
            <a:off x="3762375" y="2647950"/>
            <a:ext cx="457200" cy="457200"/>
          </a:xfrm>
          <a:prstGeom prst="rect">
            <a:avLst/>
          </a:prstGeom>
          <a:solidFill>
            <a:srgbClr val="F7F5F0"/>
          </a:solidFill>
          <a:ln w="19050">
            <a:solidFill>
              <a:srgbClr val="00A878"/>
            </a:solidFill>
            <a:prstDash val="solid"/>
          </a:ln>
        </p:spPr>
      </p:sp>
      <p:sp>
        <p:nvSpPr>
          <p:cNvPr id="14" name="process-num-1">
            <a:extLst>
              <a:ext uri="{FF2B5EF4-FFF2-40B4-BE49-F238E27FC236}">
                <a16:creationId xmlns:a16="http://schemas.microsoft.com/office/drawing/2014/main" id="{7E266822-6926-40E2-B2CE-B497FC49F311}"/>
              </a:ext>
            </a:extLst>
          </p:cNvPr>
          <p:cNvSpPr>
            <a:spLocks noGrp="1"/>
          </p:cNvSpPr>
          <p:nvPr/>
        </p:nvSpPr>
        <p:spPr>
          <a:xfrm>
            <a:off x="3810000" y="2714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15" name="process-title-1">
            <a:extLst>
              <a:ext uri="{FF2B5EF4-FFF2-40B4-BE49-F238E27FC236}">
                <a16:creationId xmlns:a16="http://schemas.microsoft.com/office/drawing/2014/main" id="{AD930BA2-946B-4C0E-8470-1E22BDEDF009}"/>
              </a:ext>
            </a:extLst>
          </p:cNvPr>
          <p:cNvSpPr>
            <a:spLocks noGrp="1"/>
          </p:cNvSpPr>
          <p:nvPr/>
        </p:nvSpPr>
        <p:spPr>
          <a:xfrm>
            <a:off x="3762375" y="34290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중복 제거</a:t>
            </a:r>
          </a:p>
        </p:txBody>
      </p:sp>
      <p:sp>
        <p:nvSpPr>
          <p:cNvPr id="16" name="process-desc-1">
            <a:extLst>
              <a:ext uri="{FF2B5EF4-FFF2-40B4-BE49-F238E27FC236}">
                <a16:creationId xmlns:a16="http://schemas.microsoft.com/office/drawing/2014/main" id="{3CE44B7A-7768-40DD-9A8D-DAE019972868}"/>
              </a:ext>
            </a:extLst>
          </p:cNvPr>
          <p:cNvSpPr>
            <a:spLocks noGrp="1"/>
          </p:cNvSpPr>
          <p:nvPr/>
        </p:nvSpPr>
        <p:spPr>
          <a:xfrm>
            <a:off x="3762375" y="4048125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동일 제목·링크 제거</a:t>
            </a:r>
          </a:p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2,257건 확정</a:t>
            </a:r>
          </a:p>
        </p:txBody>
      </p:sp>
      <p:sp>
        <p:nvSpPr>
          <p:cNvPr id="17" name="process-accent-1">
            <a:extLst>
              <a:ext uri="{FF2B5EF4-FFF2-40B4-BE49-F238E27FC236}">
                <a16:creationId xmlns:a16="http://schemas.microsoft.com/office/drawing/2014/main" id="{EA15A07A-E810-4D29-BFC7-C2A4254E8DF9}"/>
              </a:ext>
            </a:extLst>
          </p:cNvPr>
          <p:cNvSpPr>
            <a:spLocks noGrp="1"/>
          </p:cNvSpPr>
          <p:nvPr/>
        </p:nvSpPr>
        <p:spPr>
          <a:xfrm>
            <a:off x="3762375" y="4972050"/>
            <a:ext cx="247650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18" name="process-node-2">
            <a:extLst>
              <a:ext uri="{FF2B5EF4-FFF2-40B4-BE49-F238E27FC236}">
                <a16:creationId xmlns:a16="http://schemas.microsoft.com/office/drawing/2014/main" id="{218EBDFA-463E-4EF0-B66D-014D22642333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457200" cy="457200"/>
          </a:xfrm>
          <a:prstGeom prst="rect">
            <a:avLst/>
          </a:prstGeom>
          <a:solidFill>
            <a:srgbClr val="F7F5F0"/>
          </a:solidFill>
          <a:ln w="19050">
            <a:solidFill>
              <a:srgbClr val="FF704D"/>
            </a:solidFill>
            <a:prstDash val="solid"/>
          </a:ln>
        </p:spPr>
      </p:sp>
      <p:sp>
        <p:nvSpPr>
          <p:cNvPr id="19" name="process-num-2">
            <a:extLst>
              <a:ext uri="{FF2B5EF4-FFF2-40B4-BE49-F238E27FC236}">
                <a16:creationId xmlns:a16="http://schemas.microsoft.com/office/drawing/2014/main" id="{F0123C81-667B-45ED-8DBE-0A96F518166E}"/>
              </a:ext>
            </a:extLst>
          </p:cNvPr>
          <p:cNvSpPr>
            <a:spLocks noGrp="1"/>
          </p:cNvSpPr>
          <p:nvPr/>
        </p:nvSpPr>
        <p:spPr>
          <a:xfrm>
            <a:off x="6981825" y="2714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03</a:t>
            </a:r>
          </a:p>
        </p:txBody>
      </p:sp>
      <p:sp>
        <p:nvSpPr>
          <p:cNvPr id="20" name="process-title-2">
            <a:extLst>
              <a:ext uri="{FF2B5EF4-FFF2-40B4-BE49-F238E27FC236}">
                <a16:creationId xmlns:a16="http://schemas.microsoft.com/office/drawing/2014/main" id="{443676ED-9504-442A-B0DC-8B9953D3E552}"/>
              </a:ext>
            </a:extLst>
          </p:cNvPr>
          <p:cNvSpPr>
            <a:spLocks noGrp="1"/>
          </p:cNvSpPr>
          <p:nvPr/>
        </p:nvSpPr>
        <p:spPr>
          <a:xfrm>
            <a:off x="6934200" y="34290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불용어 처리</a:t>
            </a:r>
          </a:p>
        </p:txBody>
      </p:sp>
      <p:sp>
        <p:nvSpPr>
          <p:cNvPr id="21" name="process-desc-2">
            <a:extLst>
              <a:ext uri="{FF2B5EF4-FFF2-40B4-BE49-F238E27FC236}">
                <a16:creationId xmlns:a16="http://schemas.microsoft.com/office/drawing/2014/main" id="{FD83100E-9EB5-47E0-B756-1B6D32343E4A}"/>
              </a:ext>
            </a:extLst>
          </p:cNvPr>
          <p:cNvSpPr>
            <a:spLocks noGrp="1"/>
          </p:cNvSpPr>
          <p:nvPr/>
        </p:nvSpPr>
        <p:spPr>
          <a:xfrm>
            <a:off x="6934200" y="4048125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조사·접속사·일반어 제거</a:t>
            </a:r>
          </a:p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도메인 불용어 추가</a:t>
            </a:r>
          </a:p>
        </p:txBody>
      </p:sp>
      <p:sp>
        <p:nvSpPr>
          <p:cNvPr id="22" name="process-accent-2">
            <a:extLst>
              <a:ext uri="{FF2B5EF4-FFF2-40B4-BE49-F238E27FC236}">
                <a16:creationId xmlns:a16="http://schemas.microsoft.com/office/drawing/2014/main" id="{6B16CB52-C588-4F0A-A549-CF0C99056F69}"/>
              </a:ext>
            </a:extLst>
          </p:cNvPr>
          <p:cNvSpPr>
            <a:spLocks noGrp="1"/>
          </p:cNvSpPr>
          <p:nvPr/>
        </p:nvSpPr>
        <p:spPr>
          <a:xfrm>
            <a:off x="6934200" y="4972050"/>
            <a:ext cx="2476500" cy="38100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23" name="process-node-3">
            <a:extLst>
              <a:ext uri="{FF2B5EF4-FFF2-40B4-BE49-F238E27FC236}">
                <a16:creationId xmlns:a16="http://schemas.microsoft.com/office/drawing/2014/main" id="{6E2AD5A2-22EC-4FF0-8E86-A291D88B1853}"/>
              </a:ext>
            </a:extLst>
          </p:cNvPr>
          <p:cNvSpPr>
            <a:spLocks noGrp="1"/>
          </p:cNvSpPr>
          <p:nvPr/>
        </p:nvSpPr>
        <p:spPr>
          <a:xfrm>
            <a:off x="10106025" y="2647950"/>
            <a:ext cx="457200" cy="457200"/>
          </a:xfrm>
          <a:prstGeom prst="rect">
            <a:avLst/>
          </a:prstGeom>
          <a:solidFill>
            <a:srgbClr val="F7F5F0"/>
          </a:solidFill>
          <a:ln w="19050">
            <a:solidFill>
              <a:srgbClr val="00A878"/>
            </a:solidFill>
            <a:prstDash val="solid"/>
          </a:ln>
        </p:spPr>
      </p:sp>
      <p:sp>
        <p:nvSpPr>
          <p:cNvPr id="24" name="process-num-3">
            <a:extLst>
              <a:ext uri="{FF2B5EF4-FFF2-40B4-BE49-F238E27FC236}">
                <a16:creationId xmlns:a16="http://schemas.microsoft.com/office/drawing/2014/main" id="{82EAFE73-6DEE-4EDD-998F-9E9DF36149B3}"/>
              </a:ext>
            </a:extLst>
          </p:cNvPr>
          <p:cNvSpPr>
            <a:spLocks noGrp="1"/>
          </p:cNvSpPr>
          <p:nvPr/>
        </p:nvSpPr>
        <p:spPr>
          <a:xfrm>
            <a:off x="10153650" y="2714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04</a:t>
            </a:r>
          </a:p>
        </p:txBody>
      </p:sp>
      <p:sp>
        <p:nvSpPr>
          <p:cNvPr id="25" name="process-title-3">
            <a:extLst>
              <a:ext uri="{FF2B5EF4-FFF2-40B4-BE49-F238E27FC236}">
                <a16:creationId xmlns:a16="http://schemas.microsoft.com/office/drawing/2014/main" id="{6AE83751-963E-4AB7-BE89-B305A1554F77}"/>
              </a:ext>
            </a:extLst>
          </p:cNvPr>
          <p:cNvSpPr>
            <a:spLocks noGrp="1"/>
          </p:cNvSpPr>
          <p:nvPr/>
        </p:nvSpPr>
        <p:spPr>
          <a:xfrm>
            <a:off x="10106025" y="34290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빈도 분석</a:t>
            </a:r>
          </a:p>
        </p:txBody>
      </p:sp>
      <p:sp>
        <p:nvSpPr>
          <p:cNvPr id="26" name="process-desc-3">
            <a:extLst>
              <a:ext uri="{FF2B5EF4-FFF2-40B4-BE49-F238E27FC236}">
                <a16:creationId xmlns:a16="http://schemas.microsoft.com/office/drawing/2014/main" id="{66BC2CAD-2224-4433-9058-F01F1A6D26FF}"/>
              </a:ext>
            </a:extLst>
          </p:cNvPr>
          <p:cNvSpPr>
            <a:spLocks noGrp="1"/>
          </p:cNvSpPr>
          <p:nvPr/>
        </p:nvSpPr>
        <p:spPr>
          <a:xfrm>
            <a:off x="10106025" y="4048125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의미 있는 핵심어 집계</a:t>
            </a:r>
          </a:p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상위 50개 선정</a:t>
            </a:r>
          </a:p>
        </p:txBody>
      </p:sp>
      <p:sp>
        <p:nvSpPr>
          <p:cNvPr id="27" name="process-accent-3">
            <a:extLst>
              <a:ext uri="{FF2B5EF4-FFF2-40B4-BE49-F238E27FC236}">
                <a16:creationId xmlns:a16="http://schemas.microsoft.com/office/drawing/2014/main" id="{68D7FF3B-B19D-480C-96E4-E9FA96671FE7}"/>
              </a:ext>
            </a:extLst>
          </p:cNvPr>
          <p:cNvSpPr>
            <a:spLocks noGrp="1"/>
          </p:cNvSpPr>
          <p:nvPr/>
        </p:nvSpPr>
        <p:spPr>
          <a:xfrm>
            <a:off x="10106025" y="4972050"/>
            <a:ext cx="247650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28" name="stopword-label-bar">
            <a:extLst>
              <a:ext uri="{FF2B5EF4-FFF2-40B4-BE49-F238E27FC236}">
                <a16:creationId xmlns:a16="http://schemas.microsoft.com/office/drawing/2014/main" id="{4B060A3E-65AB-4DAB-B6D3-00658211A502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47625" cy="295275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29" name="stopword-label">
            <a:extLst>
              <a:ext uri="{FF2B5EF4-FFF2-40B4-BE49-F238E27FC236}">
                <a16:creationId xmlns:a16="http://schemas.microsoft.com/office/drawing/2014/main" id="{A4BEC88A-35CE-42BF-9510-B0B5F1D76B8B}"/>
              </a:ext>
            </a:extLst>
          </p:cNvPr>
          <p:cNvSpPr>
            <a:spLocks noGrp="1"/>
          </p:cNvSpPr>
          <p:nvPr/>
        </p:nvSpPr>
        <p:spPr>
          <a:xfrm>
            <a:off x="742950" y="5800725"/>
            <a:ext cx="1943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불용어 제거 예시</a:t>
            </a:r>
          </a:p>
        </p:txBody>
      </p:sp>
      <p:sp>
        <p:nvSpPr>
          <p:cNvPr id="30" name="stopwords">
            <a:extLst>
              <a:ext uri="{FF2B5EF4-FFF2-40B4-BE49-F238E27FC236}">
                <a16:creationId xmlns:a16="http://schemas.microsoft.com/office/drawing/2014/main" id="{4EE7059D-4EEE-4F22-BA82-D16B67679A1D}"/>
              </a:ext>
            </a:extLst>
          </p:cNvPr>
          <p:cNvSpPr>
            <a:spLocks noGrp="1"/>
          </p:cNvSpPr>
          <p:nvPr/>
        </p:nvSpPr>
        <p:spPr>
          <a:xfrm>
            <a:off x="2857500" y="5781675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2706B"/>
                </a:solidFill>
              </a:defRPr>
            </a:pPr>
            <a:r>
              <a:rPr sz="1425" b="0">
                <a:solidFill>
                  <a:srgbClr val="62706B"/>
                </a:solidFill>
              </a:rPr>
              <a:t>그리고  ·  대한  ·  관련  ·  제공  ·  기사  ·  블로그  ·  이번  ·  최근</a:t>
            </a:r>
          </a:p>
        </p:txBody>
      </p:sp>
      <p:sp>
        <p:nvSpPr>
          <p:cNvPr id="31" name="footer-line-4">
            <a:extLst>
              <a:ext uri="{FF2B5EF4-FFF2-40B4-BE49-F238E27FC236}">
                <a16:creationId xmlns:a16="http://schemas.microsoft.com/office/drawing/2014/main" id="{BEEC5164-73DB-4B33-AC8B-7AE4AF7B09C9}"/>
              </a:ext>
            </a:extLst>
          </p:cNvPr>
          <p:cNvSpPr>
            <a:spLocks noGrp="1"/>
          </p:cNvSpPr>
          <p:nvPr/>
        </p:nvSpPr>
        <p:spPr>
          <a:xfrm>
            <a:off x="590550" y="723900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32" name="footer-4">
            <a:extLst>
              <a:ext uri="{FF2B5EF4-FFF2-40B4-BE49-F238E27FC236}">
                <a16:creationId xmlns:a16="http://schemas.microsoft.com/office/drawing/2014/main" id="{741BDB37-70BE-4BE1-AD3F-C1E5313FFFE1}"/>
              </a:ext>
            </a:extLst>
          </p:cNvPr>
          <p:cNvSpPr>
            <a:spLocks noGrp="1"/>
          </p:cNvSpPr>
          <p:nvPr/>
        </p:nvSpPr>
        <p:spPr>
          <a:xfrm>
            <a:off x="590550" y="7353300"/>
            <a:ext cx="1253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분석 단위: 네이버 검색 API 제목·요약문 | 불용어: 일반어 + 야간 귀가 도메인 맞춤 목록</a:t>
            </a:r>
          </a:p>
        </p:txBody>
      </p:sp>
    </p:spTree>
    <p:extLst>
      <p:ext uri="{BB962C8B-B14F-4D97-AF65-F5344CB8AC3E}">
        <p14:creationId xmlns:p14="http://schemas.microsoft.com/office/powerpoint/2010/main" val="34036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ckground-5">
            <a:extLst>
              <a:ext uri="{FF2B5EF4-FFF2-40B4-BE49-F238E27FC236}">
                <a16:creationId xmlns:a16="http://schemas.microsoft.com/office/drawing/2014/main" id="{E8168169-B34E-492B-9085-9C72F7D26B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7F1"/>
          </a:solidFill>
          <a:ln w="0">
            <a:solidFill>
              <a:srgbClr val="FFF7F1"/>
            </a:solidFill>
            <a:prstDash val="solid"/>
          </a:ln>
        </p:spPr>
      </p:sp>
      <p:sp>
        <p:nvSpPr>
          <p:cNvPr id="2" name="section-5">
            <a:extLst>
              <a:ext uri="{FF2B5EF4-FFF2-40B4-BE49-F238E27FC236}">
                <a16:creationId xmlns:a16="http://schemas.microsoft.com/office/drawing/2014/main" id="{51473A3C-E39A-4FA8-8C41-FBC5CEE3CC2A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CX · KEYWORD ANALYSIS</a:t>
            </a:r>
          </a:p>
        </p:txBody>
      </p:sp>
      <p:sp>
        <p:nvSpPr>
          <p:cNvPr id="3" name="header-line-5">
            <a:extLst>
              <a:ext uri="{FF2B5EF4-FFF2-40B4-BE49-F238E27FC236}">
                <a16:creationId xmlns:a16="http://schemas.microsoft.com/office/drawing/2014/main" id="{2C013E27-69BE-4935-8F13-D6DDAA758248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5">
            <a:extLst>
              <a:ext uri="{FF2B5EF4-FFF2-40B4-BE49-F238E27FC236}">
                <a16:creationId xmlns:a16="http://schemas.microsoft.com/office/drawing/2014/main" id="{43D9C3F7-C410-4DBE-9CB8-0C1A06CC684A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5" name="title-5">
            <a:extLst>
              <a:ext uri="{FF2B5EF4-FFF2-40B4-BE49-F238E27FC236}">
                <a16:creationId xmlns:a16="http://schemas.microsoft.com/office/drawing/2014/main" id="{AA5F3D00-614A-497D-813F-BDD39B176082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불안은 CCTV·가로등·사각지대로 구체화됐습니다</a:t>
            </a:r>
          </a:p>
        </p:txBody>
      </p:sp>
      <p:sp>
        <p:nvSpPr>
          <p:cNvPr id="6" name="page-5">
            <a:extLst>
              <a:ext uri="{FF2B5EF4-FFF2-40B4-BE49-F238E27FC236}">
                <a16:creationId xmlns:a16="http://schemas.microsoft.com/office/drawing/2014/main" id="{E1C249C3-BF5A-4558-90CF-1C8FC36CE1AB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05</a:t>
            </a:r>
          </a:p>
        </p:txBody>
      </p:sp>
      <p:sp>
        <p:nvSpPr>
          <p:cNvPr id="7" name="cloud-guide">
            <a:extLst>
              <a:ext uri="{FF2B5EF4-FFF2-40B4-BE49-F238E27FC236}">
                <a16:creationId xmlns:a16="http://schemas.microsoft.com/office/drawing/2014/main" id="{B51DC53A-E86B-48CF-B99C-4371196A5E8B}"/>
              </a:ext>
            </a:extLst>
          </p:cNvPr>
          <p:cNvSpPr>
            <a:spLocks noGrp="1"/>
          </p:cNvSpPr>
          <p:nvPr/>
        </p:nvSpPr>
        <p:spPr>
          <a:xfrm>
            <a:off x="9620250" y="1466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2706B"/>
                </a:solidFill>
              </a:defRPr>
            </a:pPr>
            <a:r>
              <a:rPr sz="975" b="1">
                <a:solidFill>
                  <a:srgbClr val="62706B"/>
                </a:solidFill>
              </a:rPr>
              <a:t>WORD SIZE = FREQUENCY  ·  TOP 50</a:t>
            </a:r>
          </a:p>
        </p:txBody>
      </p:sp>
      <p:sp>
        <p:nvSpPr>
          <p:cNvPr id="8" name="cloud-0-0">
            <a:extLst>
              <a:ext uri="{FF2B5EF4-FFF2-40B4-BE49-F238E27FC236}">
                <a16:creationId xmlns:a16="http://schemas.microsoft.com/office/drawing/2014/main" id="{EE62DE27-74E9-483A-B83E-5211F5DAD4AA}"/>
              </a:ext>
            </a:extLst>
          </p:cNvPr>
          <p:cNvSpPr>
            <a:spLocks noGrp="1"/>
          </p:cNvSpPr>
          <p:nvPr/>
        </p:nvSpPr>
        <p:spPr>
          <a:xfrm>
            <a:off x="4668324" y="1685925"/>
            <a:ext cx="75735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27" b="0">
                <a:solidFill>
                  <a:srgbClr val="4775E8"/>
                </a:solidFill>
              </a:defRPr>
            </a:pPr>
            <a:r>
              <a:rPr sz="1927" b="0">
                <a:solidFill>
                  <a:srgbClr val="4775E8"/>
                </a:solidFill>
              </a:rPr>
              <a:t>주민</a:t>
            </a:r>
          </a:p>
        </p:txBody>
      </p:sp>
      <p:sp>
        <p:nvSpPr>
          <p:cNvPr id="9" name="cloud-0-1">
            <a:extLst>
              <a:ext uri="{FF2B5EF4-FFF2-40B4-BE49-F238E27FC236}">
                <a16:creationId xmlns:a16="http://schemas.microsoft.com/office/drawing/2014/main" id="{B49F7AAA-0749-4D90-A7C2-254C23938A8E}"/>
              </a:ext>
            </a:extLst>
          </p:cNvPr>
          <p:cNvSpPr>
            <a:spLocks noGrp="1"/>
          </p:cNvSpPr>
          <p:nvPr/>
        </p:nvSpPr>
        <p:spPr>
          <a:xfrm>
            <a:off x="5635225" y="1685925"/>
            <a:ext cx="59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17" b="0">
                <a:solidFill>
                  <a:srgbClr val="17231F"/>
                </a:solidFill>
              </a:defRPr>
            </a:pPr>
            <a:r>
              <a:rPr sz="1817" b="0">
                <a:solidFill>
                  <a:srgbClr val="17231F"/>
                </a:solidFill>
              </a:rPr>
              <a:t>AI</a:t>
            </a:r>
          </a:p>
        </p:txBody>
      </p:sp>
      <p:sp>
        <p:nvSpPr>
          <p:cNvPr id="10" name="cloud-0-2">
            <a:extLst>
              <a:ext uri="{FF2B5EF4-FFF2-40B4-BE49-F238E27FC236}">
                <a16:creationId xmlns:a16="http://schemas.microsoft.com/office/drawing/2014/main" id="{C55CCDD4-C6ED-481E-AAB0-C05D4BB0D859}"/>
              </a:ext>
            </a:extLst>
          </p:cNvPr>
          <p:cNvSpPr>
            <a:spLocks noGrp="1"/>
          </p:cNvSpPr>
          <p:nvPr/>
        </p:nvSpPr>
        <p:spPr>
          <a:xfrm>
            <a:off x="6435325" y="1685925"/>
            <a:ext cx="7315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34" b="0">
                <a:solidFill>
                  <a:srgbClr val="17231F"/>
                </a:solidFill>
              </a:defRPr>
            </a:pPr>
            <a:r>
              <a:rPr sz="1834" b="0">
                <a:solidFill>
                  <a:srgbClr val="17231F"/>
                </a:solidFill>
              </a:rPr>
              <a:t>순찰</a:t>
            </a:r>
          </a:p>
        </p:txBody>
      </p:sp>
      <p:sp>
        <p:nvSpPr>
          <p:cNvPr id="11" name="cloud-0-3">
            <a:extLst>
              <a:ext uri="{FF2B5EF4-FFF2-40B4-BE49-F238E27FC236}">
                <a16:creationId xmlns:a16="http://schemas.microsoft.com/office/drawing/2014/main" id="{01DE7CC9-5DB6-4F14-BE69-0E8ADA9A2DF8}"/>
              </a:ext>
            </a:extLst>
          </p:cNvPr>
          <p:cNvSpPr>
            <a:spLocks noGrp="1"/>
          </p:cNvSpPr>
          <p:nvPr/>
        </p:nvSpPr>
        <p:spPr>
          <a:xfrm>
            <a:off x="7376450" y="1685925"/>
            <a:ext cx="73010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28" b="0">
                <a:solidFill>
                  <a:srgbClr val="4775E8"/>
                </a:solidFill>
              </a:defRPr>
            </a:pPr>
            <a:r>
              <a:rPr sz="1828" b="0">
                <a:solidFill>
                  <a:srgbClr val="4775E8"/>
                </a:solidFill>
              </a:rPr>
              <a:t>점검</a:t>
            </a:r>
          </a:p>
        </p:txBody>
      </p:sp>
      <p:sp>
        <p:nvSpPr>
          <p:cNvPr id="12" name="cloud-0-4">
            <a:extLst>
              <a:ext uri="{FF2B5EF4-FFF2-40B4-BE49-F238E27FC236}">
                <a16:creationId xmlns:a16="http://schemas.microsoft.com/office/drawing/2014/main" id="{F2580269-EE9D-40C0-AA40-B4334BE81EE9}"/>
              </a:ext>
            </a:extLst>
          </p:cNvPr>
          <p:cNvSpPr>
            <a:spLocks noGrp="1"/>
          </p:cNvSpPr>
          <p:nvPr/>
        </p:nvSpPr>
        <p:spPr>
          <a:xfrm>
            <a:off x="8316101" y="1685925"/>
            <a:ext cx="7315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34" b="0">
                <a:solidFill>
                  <a:srgbClr val="17231F"/>
                </a:solidFill>
              </a:defRPr>
            </a:pPr>
            <a:r>
              <a:rPr sz="1834" b="0">
                <a:solidFill>
                  <a:srgbClr val="17231F"/>
                </a:solidFill>
              </a:rPr>
              <a:t>주변</a:t>
            </a:r>
          </a:p>
        </p:txBody>
      </p:sp>
      <p:sp>
        <p:nvSpPr>
          <p:cNvPr id="13" name="cloud-1-0">
            <a:extLst>
              <a:ext uri="{FF2B5EF4-FFF2-40B4-BE49-F238E27FC236}">
                <a16:creationId xmlns:a16="http://schemas.microsoft.com/office/drawing/2014/main" id="{C2D3DE0D-9B3A-48C8-B0EE-A3BBA9D3EA12}"/>
              </a:ext>
            </a:extLst>
          </p:cNvPr>
          <p:cNvSpPr>
            <a:spLocks noGrp="1"/>
          </p:cNvSpPr>
          <p:nvPr/>
        </p:nvSpPr>
        <p:spPr>
          <a:xfrm>
            <a:off x="4300047" y="2133600"/>
            <a:ext cx="73451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44" b="0">
                <a:solidFill>
                  <a:srgbClr val="4775E8"/>
                </a:solidFill>
              </a:defRPr>
            </a:pPr>
            <a:r>
              <a:rPr sz="1844" b="0">
                <a:solidFill>
                  <a:srgbClr val="4775E8"/>
                </a:solidFill>
              </a:rPr>
              <a:t>생활</a:t>
            </a:r>
          </a:p>
        </p:txBody>
      </p:sp>
      <p:sp>
        <p:nvSpPr>
          <p:cNvPr id="14" name="cloud-1-1">
            <a:extLst>
              <a:ext uri="{FF2B5EF4-FFF2-40B4-BE49-F238E27FC236}">
                <a16:creationId xmlns:a16="http://schemas.microsoft.com/office/drawing/2014/main" id="{E25C58F2-F20F-4F99-9FC3-89C26ED8210F}"/>
              </a:ext>
            </a:extLst>
          </p:cNvPr>
          <p:cNvSpPr>
            <a:spLocks noGrp="1"/>
          </p:cNvSpPr>
          <p:nvPr/>
        </p:nvSpPr>
        <p:spPr>
          <a:xfrm>
            <a:off x="5244107" y="2133600"/>
            <a:ext cx="73451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44" b="0">
                <a:solidFill>
                  <a:srgbClr val="17231F"/>
                </a:solidFill>
              </a:defRPr>
            </a:pPr>
            <a:r>
              <a:rPr sz="1844" b="0">
                <a:solidFill>
                  <a:srgbClr val="17231F"/>
                </a:solidFill>
              </a:rPr>
              <a:t>시간</a:t>
            </a:r>
          </a:p>
        </p:txBody>
      </p:sp>
      <p:sp>
        <p:nvSpPr>
          <p:cNvPr id="15" name="cloud-1-2">
            <a:extLst>
              <a:ext uri="{FF2B5EF4-FFF2-40B4-BE49-F238E27FC236}">
                <a16:creationId xmlns:a16="http://schemas.microsoft.com/office/drawing/2014/main" id="{9D06DB46-6772-4B6F-8D9D-09FA46198DBE}"/>
              </a:ext>
            </a:extLst>
          </p:cNvPr>
          <p:cNvSpPr>
            <a:spLocks noGrp="1"/>
          </p:cNvSpPr>
          <p:nvPr/>
        </p:nvSpPr>
        <p:spPr>
          <a:xfrm>
            <a:off x="6188166" y="2133600"/>
            <a:ext cx="74032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65" b="0">
                <a:solidFill>
                  <a:srgbClr val="17231F"/>
                </a:solidFill>
              </a:defRPr>
            </a:pPr>
            <a:r>
              <a:rPr sz="1865" b="0">
                <a:solidFill>
                  <a:srgbClr val="17231F"/>
                </a:solidFill>
              </a:rPr>
              <a:t>택시</a:t>
            </a:r>
          </a:p>
        </p:txBody>
      </p:sp>
      <p:sp>
        <p:nvSpPr>
          <p:cNvPr id="16" name="cloud-1-3">
            <a:extLst>
              <a:ext uri="{FF2B5EF4-FFF2-40B4-BE49-F238E27FC236}">
                <a16:creationId xmlns:a16="http://schemas.microsoft.com/office/drawing/2014/main" id="{C00FE42F-D19C-4064-8230-0C2BDC8200E3}"/>
              </a:ext>
            </a:extLst>
          </p:cNvPr>
          <p:cNvSpPr>
            <a:spLocks noGrp="1"/>
          </p:cNvSpPr>
          <p:nvPr/>
        </p:nvSpPr>
        <p:spPr>
          <a:xfrm>
            <a:off x="7138039" y="2133600"/>
            <a:ext cx="76565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8" b="0">
                <a:solidFill>
                  <a:srgbClr val="4775E8"/>
                </a:solidFill>
              </a:defRPr>
            </a:pPr>
            <a:r>
              <a:rPr sz="1958" b="0">
                <a:solidFill>
                  <a:srgbClr val="4775E8"/>
                </a:solidFill>
              </a:rPr>
              <a:t>운영</a:t>
            </a:r>
          </a:p>
        </p:txBody>
      </p:sp>
      <p:sp>
        <p:nvSpPr>
          <p:cNvPr id="17" name="cloud-1-4">
            <a:extLst>
              <a:ext uri="{FF2B5EF4-FFF2-40B4-BE49-F238E27FC236}">
                <a16:creationId xmlns:a16="http://schemas.microsoft.com/office/drawing/2014/main" id="{5E0A69FE-5C53-4312-8D41-B65B6D63EAB2}"/>
              </a:ext>
            </a:extLst>
          </p:cNvPr>
          <p:cNvSpPr>
            <a:spLocks noGrp="1"/>
          </p:cNvSpPr>
          <p:nvPr/>
        </p:nvSpPr>
        <p:spPr>
          <a:xfrm>
            <a:off x="8113244" y="2133600"/>
            <a:ext cx="130270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8" b="0">
                <a:solidFill>
                  <a:srgbClr val="17231F"/>
                </a:solidFill>
              </a:defRPr>
            </a:pPr>
            <a:r>
              <a:rPr sz="1958" b="0">
                <a:solidFill>
                  <a:srgbClr val="17231F"/>
                </a:solidFill>
              </a:rPr>
              <a:t>대리운전</a:t>
            </a:r>
          </a:p>
        </p:txBody>
      </p:sp>
      <p:sp>
        <p:nvSpPr>
          <p:cNvPr id="18" name="cloud-2-0">
            <a:extLst>
              <a:ext uri="{FF2B5EF4-FFF2-40B4-BE49-F238E27FC236}">
                <a16:creationId xmlns:a16="http://schemas.microsoft.com/office/drawing/2014/main" id="{25D44553-F291-44C6-A2C6-BC0E04E13260}"/>
              </a:ext>
            </a:extLst>
          </p:cNvPr>
          <p:cNvSpPr>
            <a:spLocks noGrp="1"/>
          </p:cNvSpPr>
          <p:nvPr/>
        </p:nvSpPr>
        <p:spPr>
          <a:xfrm>
            <a:off x="3692176" y="2581275"/>
            <a:ext cx="136477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85" b="1">
                <a:solidFill>
                  <a:srgbClr val="4775E8"/>
                </a:solidFill>
              </a:defRPr>
            </a:pPr>
            <a:r>
              <a:rPr sz="2485" b="1">
                <a:solidFill>
                  <a:srgbClr val="4775E8"/>
                </a:solidFill>
              </a:rPr>
              <a:t>CPTED</a:t>
            </a:r>
          </a:p>
        </p:txBody>
      </p:sp>
      <p:sp>
        <p:nvSpPr>
          <p:cNvPr id="19" name="cloud-2-1">
            <a:extLst>
              <a:ext uri="{FF2B5EF4-FFF2-40B4-BE49-F238E27FC236}">
                <a16:creationId xmlns:a16="http://schemas.microsoft.com/office/drawing/2014/main" id="{8E65BAD9-2195-4E30-B456-CD918E835349}"/>
              </a:ext>
            </a:extLst>
          </p:cNvPr>
          <p:cNvSpPr>
            <a:spLocks noGrp="1"/>
          </p:cNvSpPr>
          <p:nvPr/>
        </p:nvSpPr>
        <p:spPr>
          <a:xfrm>
            <a:off x="5266501" y="2581275"/>
            <a:ext cx="82188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63" b="0">
                <a:solidFill>
                  <a:srgbClr val="17231F"/>
                </a:solidFill>
              </a:defRPr>
            </a:pPr>
            <a:r>
              <a:rPr sz="2163" b="0">
                <a:solidFill>
                  <a:srgbClr val="17231F"/>
                </a:solidFill>
              </a:rPr>
              <a:t>이동</a:t>
            </a:r>
          </a:p>
        </p:txBody>
      </p:sp>
      <p:sp>
        <p:nvSpPr>
          <p:cNvPr id="20" name="cloud-2-2">
            <a:extLst>
              <a:ext uri="{FF2B5EF4-FFF2-40B4-BE49-F238E27FC236}">
                <a16:creationId xmlns:a16="http://schemas.microsoft.com/office/drawing/2014/main" id="{17E7CDCD-8D8E-47D5-9E48-EDB253B1BD47}"/>
              </a:ext>
            </a:extLst>
          </p:cNvPr>
          <p:cNvSpPr>
            <a:spLocks noGrp="1"/>
          </p:cNvSpPr>
          <p:nvPr/>
        </p:nvSpPr>
        <p:spPr>
          <a:xfrm>
            <a:off x="6297938" y="2581275"/>
            <a:ext cx="154671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3" b="1">
                <a:solidFill>
                  <a:srgbClr val="17231F"/>
                </a:solidFill>
              </a:defRPr>
            </a:pPr>
            <a:r>
              <a:rPr sz="2403" b="1">
                <a:solidFill>
                  <a:srgbClr val="17231F"/>
                </a:solidFill>
              </a:rPr>
              <a:t>취약지역</a:t>
            </a:r>
          </a:p>
        </p:txBody>
      </p:sp>
      <p:sp>
        <p:nvSpPr>
          <p:cNvPr id="21" name="cloud-2-3">
            <a:extLst>
              <a:ext uri="{FF2B5EF4-FFF2-40B4-BE49-F238E27FC236}">
                <a16:creationId xmlns:a16="http://schemas.microsoft.com/office/drawing/2014/main" id="{EF08CF03-44F2-4105-B842-7F0CEAD8C212}"/>
              </a:ext>
            </a:extLst>
          </p:cNvPr>
          <p:cNvSpPr>
            <a:spLocks noGrp="1"/>
          </p:cNvSpPr>
          <p:nvPr/>
        </p:nvSpPr>
        <p:spPr>
          <a:xfrm>
            <a:off x="8054198" y="2581275"/>
            <a:ext cx="86556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2" b="0">
                <a:solidFill>
                  <a:srgbClr val="4775E8"/>
                </a:solidFill>
              </a:defRPr>
            </a:pPr>
            <a:r>
              <a:rPr sz="2322" b="0">
                <a:solidFill>
                  <a:srgbClr val="4775E8"/>
                </a:solidFill>
              </a:rPr>
              <a:t>환경</a:t>
            </a:r>
          </a:p>
        </p:txBody>
      </p:sp>
      <p:sp>
        <p:nvSpPr>
          <p:cNvPr id="22" name="cloud-2-4">
            <a:extLst>
              <a:ext uri="{FF2B5EF4-FFF2-40B4-BE49-F238E27FC236}">
                <a16:creationId xmlns:a16="http://schemas.microsoft.com/office/drawing/2014/main" id="{0224B27C-D597-4A4F-88FA-1F8E545AA836}"/>
              </a:ext>
            </a:extLst>
          </p:cNvPr>
          <p:cNvSpPr>
            <a:spLocks noGrp="1"/>
          </p:cNvSpPr>
          <p:nvPr/>
        </p:nvSpPr>
        <p:spPr>
          <a:xfrm>
            <a:off x="9129312" y="2581275"/>
            <a:ext cx="89451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28" b="1">
                <a:solidFill>
                  <a:srgbClr val="17231F"/>
                </a:solidFill>
              </a:defRPr>
            </a:pPr>
            <a:r>
              <a:rPr sz="2428" b="1">
                <a:solidFill>
                  <a:srgbClr val="17231F"/>
                </a:solidFill>
              </a:rPr>
              <a:t>경로</a:t>
            </a:r>
          </a:p>
        </p:txBody>
      </p:sp>
      <p:sp>
        <p:nvSpPr>
          <p:cNvPr id="23" name="cloud-3-0">
            <a:extLst>
              <a:ext uri="{FF2B5EF4-FFF2-40B4-BE49-F238E27FC236}">
                <a16:creationId xmlns:a16="http://schemas.microsoft.com/office/drawing/2014/main" id="{5F9ADA2A-8EB7-4064-AC87-83220BF29E6A}"/>
              </a:ext>
            </a:extLst>
          </p:cNvPr>
          <p:cNvSpPr>
            <a:spLocks noGrp="1"/>
          </p:cNvSpPr>
          <p:nvPr/>
        </p:nvSpPr>
        <p:spPr>
          <a:xfrm>
            <a:off x="3787490" y="3028950"/>
            <a:ext cx="144487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17" b="0">
                <a:solidFill>
                  <a:srgbClr val="4775E8"/>
                </a:solidFill>
              </a:defRPr>
            </a:pPr>
            <a:r>
              <a:rPr sz="2217" b="0">
                <a:solidFill>
                  <a:srgbClr val="4775E8"/>
                </a:solidFill>
              </a:rPr>
              <a:t>스카우트</a:t>
            </a:r>
          </a:p>
        </p:txBody>
      </p:sp>
      <p:sp>
        <p:nvSpPr>
          <p:cNvPr id="24" name="cloud-3-1">
            <a:extLst>
              <a:ext uri="{FF2B5EF4-FFF2-40B4-BE49-F238E27FC236}">
                <a16:creationId xmlns:a16="http://schemas.microsoft.com/office/drawing/2014/main" id="{6A145C17-E4BE-428D-A800-75831370CD3F}"/>
              </a:ext>
            </a:extLst>
          </p:cNvPr>
          <p:cNvSpPr>
            <a:spLocks noGrp="1"/>
          </p:cNvSpPr>
          <p:nvPr/>
        </p:nvSpPr>
        <p:spPr>
          <a:xfrm>
            <a:off x="5441918" y="3028950"/>
            <a:ext cx="8281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85" b="0">
                <a:solidFill>
                  <a:srgbClr val="17231F"/>
                </a:solidFill>
              </a:defRPr>
            </a:pPr>
            <a:r>
              <a:rPr sz="2185" b="0">
                <a:solidFill>
                  <a:srgbClr val="17231F"/>
                </a:solidFill>
              </a:rPr>
              <a:t>예방</a:t>
            </a:r>
          </a:p>
        </p:txBody>
      </p:sp>
      <p:sp>
        <p:nvSpPr>
          <p:cNvPr id="25" name="cloud-3-2">
            <a:extLst>
              <a:ext uri="{FF2B5EF4-FFF2-40B4-BE49-F238E27FC236}">
                <a16:creationId xmlns:a16="http://schemas.microsoft.com/office/drawing/2014/main" id="{6249E41A-AF3F-4C28-A978-CD9D115ECC8E}"/>
              </a:ext>
            </a:extLst>
          </p:cNvPr>
          <p:cNvSpPr>
            <a:spLocks noGrp="1"/>
          </p:cNvSpPr>
          <p:nvPr/>
        </p:nvSpPr>
        <p:spPr>
          <a:xfrm>
            <a:off x="6479581" y="3028950"/>
            <a:ext cx="141517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63" b="0">
                <a:solidFill>
                  <a:srgbClr val="17231F"/>
                </a:solidFill>
              </a:defRPr>
            </a:pPr>
            <a:r>
              <a:rPr sz="2163" b="0">
                <a:solidFill>
                  <a:srgbClr val="17231F"/>
                </a:solidFill>
              </a:rPr>
              <a:t>환경설계</a:t>
            </a:r>
          </a:p>
        </p:txBody>
      </p:sp>
      <p:sp>
        <p:nvSpPr>
          <p:cNvPr id="26" name="cloud-3-3">
            <a:extLst>
              <a:ext uri="{FF2B5EF4-FFF2-40B4-BE49-F238E27FC236}">
                <a16:creationId xmlns:a16="http://schemas.microsoft.com/office/drawing/2014/main" id="{8BEBC780-2A06-4B79-A27D-416E356FC66A}"/>
              </a:ext>
            </a:extLst>
          </p:cNvPr>
          <p:cNvSpPr>
            <a:spLocks noGrp="1"/>
          </p:cNvSpPr>
          <p:nvPr/>
        </p:nvSpPr>
        <p:spPr>
          <a:xfrm>
            <a:off x="8104305" y="3028950"/>
            <a:ext cx="81180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26" b="0">
                <a:solidFill>
                  <a:srgbClr val="4775E8"/>
                </a:solidFill>
              </a:defRPr>
            </a:pPr>
            <a:r>
              <a:rPr sz="2126" b="0">
                <a:solidFill>
                  <a:srgbClr val="4775E8"/>
                </a:solidFill>
              </a:rPr>
              <a:t>취약</a:t>
            </a:r>
          </a:p>
        </p:txBody>
      </p:sp>
      <p:sp>
        <p:nvSpPr>
          <p:cNvPr id="27" name="cloud-3-4">
            <a:extLst>
              <a:ext uri="{FF2B5EF4-FFF2-40B4-BE49-F238E27FC236}">
                <a16:creationId xmlns:a16="http://schemas.microsoft.com/office/drawing/2014/main" id="{B010DBAB-C5EE-4BD6-915E-34EDB6B2AD41}"/>
              </a:ext>
            </a:extLst>
          </p:cNvPr>
          <p:cNvSpPr>
            <a:spLocks noGrp="1"/>
          </p:cNvSpPr>
          <p:nvPr/>
        </p:nvSpPr>
        <p:spPr>
          <a:xfrm>
            <a:off x="9125659" y="3028950"/>
            <a:ext cx="80285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93" b="0">
                <a:solidFill>
                  <a:srgbClr val="17231F"/>
                </a:solidFill>
              </a:defRPr>
            </a:pPr>
            <a:r>
              <a:rPr sz="2093" b="0">
                <a:solidFill>
                  <a:srgbClr val="17231F"/>
                </a:solidFill>
              </a:rPr>
              <a:t>LED</a:t>
            </a:r>
          </a:p>
        </p:txBody>
      </p:sp>
      <p:sp>
        <p:nvSpPr>
          <p:cNvPr id="28" name="cloud-4-0">
            <a:extLst>
              <a:ext uri="{FF2B5EF4-FFF2-40B4-BE49-F238E27FC236}">
                <a16:creationId xmlns:a16="http://schemas.microsoft.com/office/drawing/2014/main" id="{C9C62DD0-9C35-49EE-9F88-EE5D1B7F7CB4}"/>
              </a:ext>
            </a:extLst>
          </p:cNvPr>
          <p:cNvSpPr>
            <a:spLocks noGrp="1"/>
          </p:cNvSpPr>
          <p:nvPr/>
        </p:nvSpPr>
        <p:spPr>
          <a:xfrm>
            <a:off x="2756827" y="3486150"/>
            <a:ext cx="192217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87" b="1">
                <a:solidFill>
                  <a:srgbClr val="FF704D"/>
                </a:solidFill>
              </a:defRPr>
            </a:pPr>
            <a:r>
              <a:rPr sz="3087" b="1">
                <a:solidFill>
                  <a:srgbClr val="FF704D"/>
                </a:solidFill>
              </a:rPr>
              <a:t>사각지대</a:t>
            </a:r>
          </a:p>
        </p:txBody>
      </p:sp>
      <p:sp>
        <p:nvSpPr>
          <p:cNvPr id="29" name="cloud-4-1">
            <a:extLst>
              <a:ext uri="{FF2B5EF4-FFF2-40B4-BE49-F238E27FC236}">
                <a16:creationId xmlns:a16="http://schemas.microsoft.com/office/drawing/2014/main" id="{42EB1FA8-B8EE-4E04-B22D-33A0C5BD9D4F}"/>
              </a:ext>
            </a:extLst>
          </p:cNvPr>
          <p:cNvSpPr>
            <a:spLocks noGrp="1"/>
          </p:cNvSpPr>
          <p:nvPr/>
        </p:nvSpPr>
        <p:spPr>
          <a:xfrm>
            <a:off x="4888553" y="348615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00A878"/>
                </a:solidFill>
              </a:defRPr>
            </a:pPr>
            <a:r>
              <a:rPr sz="3750" b="1">
                <a:solidFill>
                  <a:srgbClr val="00A878"/>
                </a:solidFill>
              </a:rPr>
              <a:t>CCTV</a:t>
            </a:r>
          </a:p>
        </p:txBody>
      </p:sp>
      <p:sp>
        <p:nvSpPr>
          <p:cNvPr id="30" name="cloud-4-2">
            <a:extLst>
              <a:ext uri="{FF2B5EF4-FFF2-40B4-BE49-F238E27FC236}">
                <a16:creationId xmlns:a16="http://schemas.microsoft.com/office/drawing/2014/main" id="{82B0CF0C-39AB-434D-BAC1-74D74C3F4582}"/>
              </a:ext>
            </a:extLst>
          </p:cNvPr>
          <p:cNvSpPr>
            <a:spLocks noGrp="1"/>
          </p:cNvSpPr>
          <p:nvPr/>
        </p:nvSpPr>
        <p:spPr>
          <a:xfrm>
            <a:off x="6698303" y="3486150"/>
            <a:ext cx="12095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576" b="1">
                <a:solidFill>
                  <a:srgbClr val="00A878"/>
                </a:solidFill>
              </a:defRPr>
            </a:pPr>
            <a:r>
              <a:rPr sz="3576" b="1">
                <a:solidFill>
                  <a:srgbClr val="00A878"/>
                </a:solidFill>
              </a:rPr>
              <a:t>안심</a:t>
            </a:r>
          </a:p>
        </p:txBody>
      </p:sp>
      <p:sp>
        <p:nvSpPr>
          <p:cNvPr id="31" name="cloud-4-3">
            <a:extLst>
              <a:ext uri="{FF2B5EF4-FFF2-40B4-BE49-F238E27FC236}">
                <a16:creationId xmlns:a16="http://schemas.microsoft.com/office/drawing/2014/main" id="{C6E2A421-2AB8-4419-9D2A-4225DB506640}"/>
              </a:ext>
            </a:extLst>
          </p:cNvPr>
          <p:cNvSpPr>
            <a:spLocks noGrp="1"/>
          </p:cNvSpPr>
          <p:nvPr/>
        </p:nvSpPr>
        <p:spPr>
          <a:xfrm>
            <a:off x="8117400" y="3486150"/>
            <a:ext cx="111618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36" b="1">
                <a:solidFill>
                  <a:srgbClr val="FF704D"/>
                </a:solidFill>
              </a:defRPr>
            </a:pPr>
            <a:r>
              <a:rPr sz="3236" b="1">
                <a:solidFill>
                  <a:srgbClr val="FF704D"/>
                </a:solidFill>
              </a:rPr>
              <a:t>치안</a:t>
            </a:r>
          </a:p>
        </p:txBody>
      </p:sp>
      <p:sp>
        <p:nvSpPr>
          <p:cNvPr id="32" name="cloud-4-4">
            <a:extLst>
              <a:ext uri="{FF2B5EF4-FFF2-40B4-BE49-F238E27FC236}">
                <a16:creationId xmlns:a16="http://schemas.microsoft.com/office/drawing/2014/main" id="{CAD12C9A-294C-457F-85BC-F2DCE06031D3}"/>
              </a:ext>
            </a:extLst>
          </p:cNvPr>
          <p:cNvSpPr>
            <a:spLocks noGrp="1"/>
          </p:cNvSpPr>
          <p:nvPr/>
        </p:nvSpPr>
        <p:spPr>
          <a:xfrm>
            <a:off x="9443131" y="3486150"/>
            <a:ext cx="151604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29" b="1">
                <a:solidFill>
                  <a:srgbClr val="FF704D"/>
                </a:solidFill>
              </a:defRPr>
            </a:pPr>
            <a:r>
              <a:rPr sz="3129" b="1">
                <a:solidFill>
                  <a:srgbClr val="FF704D"/>
                </a:solidFill>
              </a:rPr>
              <a:t>가로등</a:t>
            </a:r>
          </a:p>
        </p:txBody>
      </p:sp>
      <p:sp>
        <p:nvSpPr>
          <p:cNvPr id="33" name="cloud-5-0">
            <a:extLst>
              <a:ext uri="{FF2B5EF4-FFF2-40B4-BE49-F238E27FC236}">
                <a16:creationId xmlns:a16="http://schemas.microsoft.com/office/drawing/2014/main" id="{F5B79740-C1C3-4108-B765-EA4A4CB58076}"/>
              </a:ext>
            </a:extLst>
          </p:cNvPr>
          <p:cNvSpPr>
            <a:spLocks noGrp="1"/>
          </p:cNvSpPr>
          <p:nvPr/>
        </p:nvSpPr>
        <p:spPr>
          <a:xfrm>
            <a:off x="3172586" y="4057650"/>
            <a:ext cx="14842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52" b="1">
                <a:solidFill>
                  <a:srgbClr val="FF704D"/>
                </a:solidFill>
              </a:defRPr>
            </a:pPr>
            <a:r>
              <a:rPr sz="3052" b="1">
                <a:solidFill>
                  <a:srgbClr val="FF704D"/>
                </a:solidFill>
              </a:rPr>
              <a:t>골목길</a:t>
            </a:r>
          </a:p>
        </p:txBody>
      </p:sp>
      <p:sp>
        <p:nvSpPr>
          <p:cNvPr id="34" name="cloud-5-1">
            <a:extLst>
              <a:ext uri="{FF2B5EF4-FFF2-40B4-BE49-F238E27FC236}">
                <a16:creationId xmlns:a16="http://schemas.microsoft.com/office/drawing/2014/main" id="{5F68CF84-D98F-4DD2-858E-412F531B5CF1}"/>
              </a:ext>
            </a:extLst>
          </p:cNvPr>
          <p:cNvSpPr>
            <a:spLocks noGrp="1"/>
          </p:cNvSpPr>
          <p:nvPr/>
        </p:nvSpPr>
        <p:spPr>
          <a:xfrm>
            <a:off x="4866420" y="4057650"/>
            <a:ext cx="108115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08" b="1">
                <a:solidFill>
                  <a:srgbClr val="FF704D"/>
                </a:solidFill>
              </a:defRPr>
            </a:pPr>
            <a:r>
              <a:rPr sz="3108" b="1">
                <a:solidFill>
                  <a:srgbClr val="FF704D"/>
                </a:solidFill>
              </a:rPr>
              <a:t>밤길</a:t>
            </a:r>
          </a:p>
        </p:txBody>
      </p:sp>
      <p:sp>
        <p:nvSpPr>
          <p:cNvPr id="35" name="cloud-5-2">
            <a:extLst>
              <a:ext uri="{FF2B5EF4-FFF2-40B4-BE49-F238E27FC236}">
                <a16:creationId xmlns:a16="http://schemas.microsoft.com/office/drawing/2014/main" id="{7A120E82-2837-4138-A7F8-56D8682B6B54}"/>
              </a:ext>
            </a:extLst>
          </p:cNvPr>
          <p:cNvSpPr>
            <a:spLocks noGrp="1"/>
          </p:cNvSpPr>
          <p:nvPr/>
        </p:nvSpPr>
        <p:spPr>
          <a:xfrm>
            <a:off x="6157124" y="4057650"/>
            <a:ext cx="108115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08" b="1">
                <a:solidFill>
                  <a:srgbClr val="FF704D"/>
                </a:solidFill>
              </a:defRPr>
            </a:pPr>
            <a:r>
              <a:rPr sz="3108" b="1">
                <a:solidFill>
                  <a:srgbClr val="FF704D"/>
                </a:solidFill>
              </a:rPr>
              <a:t>범죄</a:t>
            </a:r>
          </a:p>
        </p:txBody>
      </p:sp>
      <p:sp>
        <p:nvSpPr>
          <p:cNvPr id="36" name="cloud-5-3">
            <a:extLst>
              <a:ext uri="{FF2B5EF4-FFF2-40B4-BE49-F238E27FC236}">
                <a16:creationId xmlns:a16="http://schemas.microsoft.com/office/drawing/2014/main" id="{C78EF4EF-0087-4DDA-AB06-D1CF80AD1382}"/>
              </a:ext>
            </a:extLst>
          </p:cNvPr>
          <p:cNvSpPr>
            <a:spLocks noGrp="1"/>
          </p:cNvSpPr>
          <p:nvPr/>
        </p:nvSpPr>
        <p:spPr>
          <a:xfrm>
            <a:off x="7447828" y="4057650"/>
            <a:ext cx="146086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995" b="1">
                <a:solidFill>
                  <a:srgbClr val="FF704D"/>
                </a:solidFill>
              </a:defRPr>
            </a:pPr>
            <a:r>
              <a:rPr sz="2995" b="1">
                <a:solidFill>
                  <a:srgbClr val="FF704D"/>
                </a:solidFill>
              </a:rPr>
              <a:t>보행자</a:t>
            </a:r>
          </a:p>
        </p:txBody>
      </p:sp>
      <p:sp>
        <p:nvSpPr>
          <p:cNvPr id="37" name="cloud-5-4">
            <a:extLst>
              <a:ext uri="{FF2B5EF4-FFF2-40B4-BE49-F238E27FC236}">
                <a16:creationId xmlns:a16="http://schemas.microsoft.com/office/drawing/2014/main" id="{783628B3-95BA-4EDC-B56A-74D15BDF827E}"/>
              </a:ext>
            </a:extLst>
          </p:cNvPr>
          <p:cNvSpPr>
            <a:spLocks noGrp="1"/>
          </p:cNvSpPr>
          <p:nvPr/>
        </p:nvSpPr>
        <p:spPr>
          <a:xfrm>
            <a:off x="9118240" y="4057650"/>
            <a:ext cx="142517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908" b="1">
                <a:solidFill>
                  <a:srgbClr val="17231F"/>
                </a:solidFill>
              </a:defRPr>
            </a:pPr>
            <a:r>
              <a:rPr sz="2908" b="1">
                <a:solidFill>
                  <a:srgbClr val="17231F"/>
                </a:solidFill>
              </a:rPr>
              <a:t>어두운</a:t>
            </a:r>
          </a:p>
        </p:txBody>
      </p:sp>
      <p:sp>
        <p:nvSpPr>
          <p:cNvPr id="38" name="cloud-6-0">
            <a:extLst>
              <a:ext uri="{FF2B5EF4-FFF2-40B4-BE49-F238E27FC236}">
                <a16:creationId xmlns:a16="http://schemas.microsoft.com/office/drawing/2014/main" id="{0755F37D-4358-4DF4-854C-B9C4E5D53D99}"/>
              </a:ext>
            </a:extLst>
          </p:cNvPr>
          <p:cNvSpPr>
            <a:spLocks noGrp="1"/>
          </p:cNvSpPr>
          <p:nvPr/>
        </p:nvSpPr>
        <p:spPr>
          <a:xfrm>
            <a:off x="2468413" y="4629150"/>
            <a:ext cx="140098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49" b="1">
                <a:solidFill>
                  <a:srgbClr val="4775E8"/>
                </a:solidFill>
              </a:defRPr>
            </a:pPr>
            <a:r>
              <a:rPr sz="2849" b="1">
                <a:solidFill>
                  <a:srgbClr val="4775E8"/>
                </a:solidFill>
              </a:rPr>
              <a:t>안전한</a:t>
            </a:r>
          </a:p>
        </p:txBody>
      </p:sp>
      <p:sp>
        <p:nvSpPr>
          <p:cNvPr id="39" name="cloud-6-1">
            <a:extLst>
              <a:ext uri="{FF2B5EF4-FFF2-40B4-BE49-F238E27FC236}">
                <a16:creationId xmlns:a16="http://schemas.microsoft.com/office/drawing/2014/main" id="{9D70CBE4-6BB5-4734-AEE8-0123257B528A}"/>
              </a:ext>
            </a:extLst>
          </p:cNvPr>
          <p:cNvSpPr>
            <a:spLocks noGrp="1"/>
          </p:cNvSpPr>
          <p:nvPr/>
        </p:nvSpPr>
        <p:spPr>
          <a:xfrm>
            <a:off x="4078950" y="4629150"/>
            <a:ext cx="174669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67" b="1">
                <a:solidFill>
                  <a:srgbClr val="17231F"/>
                </a:solidFill>
              </a:defRPr>
            </a:pPr>
            <a:r>
              <a:rPr sz="2767" b="1">
                <a:solidFill>
                  <a:srgbClr val="17231F"/>
                </a:solidFill>
              </a:rPr>
              <a:t>안심귀가</a:t>
            </a:r>
          </a:p>
        </p:txBody>
      </p:sp>
      <p:sp>
        <p:nvSpPr>
          <p:cNvPr id="40" name="cloud-6-2">
            <a:extLst>
              <a:ext uri="{FF2B5EF4-FFF2-40B4-BE49-F238E27FC236}">
                <a16:creationId xmlns:a16="http://schemas.microsoft.com/office/drawing/2014/main" id="{F8978D71-0BF0-4BA5-9C0B-5718B445C322}"/>
              </a:ext>
            </a:extLst>
          </p:cNvPr>
          <p:cNvSpPr>
            <a:spLocks noGrp="1"/>
          </p:cNvSpPr>
          <p:nvPr/>
        </p:nvSpPr>
        <p:spPr>
          <a:xfrm>
            <a:off x="6035192" y="4629150"/>
            <a:ext cx="210804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41" b="1">
                <a:solidFill>
                  <a:srgbClr val="17231F"/>
                </a:solidFill>
              </a:defRPr>
            </a:pPr>
            <a:r>
              <a:rPr sz="2741" b="1">
                <a:solidFill>
                  <a:srgbClr val="17231F"/>
                </a:solidFill>
              </a:rPr>
              <a:t>1인 가구</a:t>
            </a:r>
          </a:p>
        </p:txBody>
      </p:sp>
      <p:sp>
        <p:nvSpPr>
          <p:cNvPr id="41" name="cloud-6-3">
            <a:extLst>
              <a:ext uri="{FF2B5EF4-FFF2-40B4-BE49-F238E27FC236}">
                <a16:creationId xmlns:a16="http://schemas.microsoft.com/office/drawing/2014/main" id="{AEB8B024-6C92-4119-A91C-03E92AE998DF}"/>
              </a:ext>
            </a:extLst>
          </p:cNvPr>
          <p:cNvSpPr>
            <a:spLocks noGrp="1"/>
          </p:cNvSpPr>
          <p:nvPr/>
        </p:nvSpPr>
        <p:spPr>
          <a:xfrm>
            <a:off x="8352783" y="4629150"/>
            <a:ext cx="172380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25" b="1">
                <a:solidFill>
                  <a:srgbClr val="4775E8"/>
                </a:solidFill>
              </a:defRPr>
            </a:pPr>
            <a:r>
              <a:rPr sz="2725" b="1">
                <a:solidFill>
                  <a:srgbClr val="4775E8"/>
                </a:solidFill>
              </a:rPr>
              <a:t>범죄예방</a:t>
            </a:r>
          </a:p>
        </p:txBody>
      </p:sp>
      <p:sp>
        <p:nvSpPr>
          <p:cNvPr id="42" name="cloud-6-4">
            <a:extLst>
              <a:ext uri="{FF2B5EF4-FFF2-40B4-BE49-F238E27FC236}">
                <a16:creationId xmlns:a16="http://schemas.microsoft.com/office/drawing/2014/main" id="{572CAAFE-4354-47CF-8A55-0B035393A0A2}"/>
              </a:ext>
            </a:extLst>
          </p:cNvPr>
          <p:cNvSpPr>
            <a:spLocks noGrp="1"/>
          </p:cNvSpPr>
          <p:nvPr/>
        </p:nvSpPr>
        <p:spPr>
          <a:xfrm>
            <a:off x="10286133" y="4629150"/>
            <a:ext cx="96145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672" b="1">
                <a:solidFill>
                  <a:srgbClr val="17231F"/>
                </a:solidFill>
              </a:defRPr>
            </a:pPr>
            <a:r>
              <a:rPr sz="2672" b="1">
                <a:solidFill>
                  <a:srgbClr val="17231F"/>
                </a:solidFill>
              </a:rPr>
              <a:t>설치</a:t>
            </a:r>
          </a:p>
        </p:txBody>
      </p:sp>
      <p:sp>
        <p:nvSpPr>
          <p:cNvPr id="43" name="cloud-7-0">
            <a:extLst>
              <a:ext uri="{FF2B5EF4-FFF2-40B4-BE49-F238E27FC236}">
                <a16:creationId xmlns:a16="http://schemas.microsoft.com/office/drawing/2014/main" id="{9C68EF5C-3391-41D4-B966-649EA25872B9}"/>
              </a:ext>
            </a:extLst>
          </p:cNvPr>
          <p:cNvSpPr>
            <a:spLocks noGrp="1"/>
          </p:cNvSpPr>
          <p:nvPr/>
        </p:nvSpPr>
        <p:spPr>
          <a:xfrm>
            <a:off x="4179875" y="5200650"/>
            <a:ext cx="108804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89" b="0">
                <a:solidFill>
                  <a:srgbClr val="4775E8"/>
                </a:solidFill>
              </a:defRPr>
            </a:pPr>
            <a:r>
              <a:rPr sz="2089" b="0">
                <a:solidFill>
                  <a:srgbClr val="4775E8"/>
                </a:solidFill>
              </a:rPr>
              <a:t>귀갓길</a:t>
            </a:r>
          </a:p>
        </p:txBody>
      </p:sp>
      <p:sp>
        <p:nvSpPr>
          <p:cNvPr id="44" name="cloud-7-1">
            <a:extLst>
              <a:ext uri="{FF2B5EF4-FFF2-40B4-BE49-F238E27FC236}">
                <a16:creationId xmlns:a16="http://schemas.microsoft.com/office/drawing/2014/main" id="{DA9D46A1-178A-49E8-976C-1DBF631BC924}"/>
              </a:ext>
            </a:extLst>
          </p:cNvPr>
          <p:cNvSpPr>
            <a:spLocks noGrp="1"/>
          </p:cNvSpPr>
          <p:nvPr/>
        </p:nvSpPr>
        <p:spPr>
          <a:xfrm>
            <a:off x="5477467" y="5200650"/>
            <a:ext cx="79376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60" b="0">
                <a:solidFill>
                  <a:srgbClr val="17231F"/>
                </a:solidFill>
              </a:defRPr>
            </a:pPr>
            <a:r>
              <a:rPr sz="2060" b="0">
                <a:solidFill>
                  <a:srgbClr val="17231F"/>
                </a:solidFill>
              </a:rPr>
              <a:t>강화</a:t>
            </a:r>
          </a:p>
        </p:txBody>
      </p:sp>
      <p:sp>
        <p:nvSpPr>
          <p:cNvPr id="45" name="cloud-7-2">
            <a:extLst>
              <a:ext uri="{FF2B5EF4-FFF2-40B4-BE49-F238E27FC236}">
                <a16:creationId xmlns:a16="http://schemas.microsoft.com/office/drawing/2014/main" id="{E63C29A6-CF0E-4A0F-8AF9-0951FFFEA270}"/>
              </a:ext>
            </a:extLst>
          </p:cNvPr>
          <p:cNvSpPr>
            <a:spLocks noGrp="1"/>
          </p:cNvSpPr>
          <p:nvPr/>
        </p:nvSpPr>
        <p:spPr>
          <a:xfrm>
            <a:off x="6480787" y="5200650"/>
            <a:ext cx="78983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46" b="0">
                <a:solidFill>
                  <a:srgbClr val="17231F"/>
                </a:solidFill>
              </a:defRPr>
            </a:pPr>
            <a:r>
              <a:rPr sz="2046" b="0">
                <a:solidFill>
                  <a:srgbClr val="17231F"/>
                </a:solidFill>
              </a:rPr>
              <a:t>현장</a:t>
            </a:r>
          </a:p>
        </p:txBody>
      </p:sp>
      <p:sp>
        <p:nvSpPr>
          <p:cNvPr id="46" name="cloud-7-3">
            <a:extLst>
              <a:ext uri="{FF2B5EF4-FFF2-40B4-BE49-F238E27FC236}">
                <a16:creationId xmlns:a16="http://schemas.microsoft.com/office/drawing/2014/main" id="{898DD035-75DE-483D-8222-84ECDFFDA210}"/>
              </a:ext>
            </a:extLst>
          </p:cNvPr>
          <p:cNvSpPr>
            <a:spLocks noGrp="1"/>
          </p:cNvSpPr>
          <p:nvPr/>
        </p:nvSpPr>
        <p:spPr>
          <a:xfrm>
            <a:off x="7480173" y="5200650"/>
            <a:ext cx="10645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31" b="0">
                <a:solidFill>
                  <a:srgbClr val="4775E8"/>
                </a:solidFill>
              </a:defRPr>
            </a:pPr>
            <a:r>
              <a:rPr sz="2031" b="0">
                <a:solidFill>
                  <a:srgbClr val="4775E8"/>
                </a:solidFill>
              </a:rPr>
              <a:t>태양광</a:t>
            </a:r>
          </a:p>
        </p:txBody>
      </p:sp>
      <p:sp>
        <p:nvSpPr>
          <p:cNvPr id="47" name="cloud-7-4">
            <a:extLst>
              <a:ext uri="{FF2B5EF4-FFF2-40B4-BE49-F238E27FC236}">
                <a16:creationId xmlns:a16="http://schemas.microsoft.com/office/drawing/2014/main" id="{B6DC3622-DB8C-49A7-9BEB-44FFA77A2FA1}"/>
              </a:ext>
            </a:extLst>
          </p:cNvPr>
          <p:cNvSpPr>
            <a:spLocks noGrp="1"/>
          </p:cNvSpPr>
          <p:nvPr/>
        </p:nvSpPr>
        <p:spPr>
          <a:xfrm>
            <a:off x="8754236" y="5200650"/>
            <a:ext cx="78188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17" b="0">
                <a:solidFill>
                  <a:srgbClr val="17231F"/>
                </a:solidFill>
              </a:defRPr>
            </a:pPr>
            <a:r>
              <a:rPr sz="2017" b="0">
                <a:solidFill>
                  <a:srgbClr val="17231F"/>
                </a:solidFill>
              </a:rPr>
              <a:t>늦은</a:t>
            </a:r>
          </a:p>
        </p:txBody>
      </p:sp>
      <p:sp>
        <p:nvSpPr>
          <p:cNvPr id="48" name="cloud-8-0">
            <a:extLst>
              <a:ext uri="{FF2B5EF4-FFF2-40B4-BE49-F238E27FC236}">
                <a16:creationId xmlns:a16="http://schemas.microsoft.com/office/drawing/2014/main" id="{CC8F9F45-D1A3-47D2-B281-D4208A001596}"/>
              </a:ext>
            </a:extLst>
          </p:cNvPr>
          <p:cNvSpPr>
            <a:spLocks noGrp="1"/>
          </p:cNvSpPr>
          <p:nvPr/>
        </p:nvSpPr>
        <p:spPr>
          <a:xfrm>
            <a:off x="4415513" y="5772150"/>
            <a:ext cx="103005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48" b="0">
                <a:solidFill>
                  <a:srgbClr val="4775E8"/>
                </a:solidFill>
              </a:defRPr>
            </a:pPr>
            <a:r>
              <a:rPr sz="1948" b="0">
                <a:solidFill>
                  <a:srgbClr val="4775E8"/>
                </a:solidFill>
              </a:rPr>
              <a:t>청소년</a:t>
            </a:r>
          </a:p>
        </p:txBody>
      </p:sp>
      <p:sp>
        <p:nvSpPr>
          <p:cNvPr id="49" name="cloud-8-1">
            <a:extLst>
              <a:ext uri="{FF2B5EF4-FFF2-40B4-BE49-F238E27FC236}">
                <a16:creationId xmlns:a16="http://schemas.microsoft.com/office/drawing/2014/main" id="{9E7BE16F-DA89-46F2-A9B7-F21C702318B9}"/>
              </a:ext>
            </a:extLst>
          </p:cNvPr>
          <p:cNvSpPr>
            <a:spLocks noGrp="1"/>
          </p:cNvSpPr>
          <p:nvPr/>
        </p:nvSpPr>
        <p:spPr>
          <a:xfrm>
            <a:off x="5655115" y="5772150"/>
            <a:ext cx="76013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38" b="0">
                <a:solidFill>
                  <a:srgbClr val="17231F"/>
                </a:solidFill>
              </a:defRPr>
            </a:pPr>
            <a:r>
              <a:rPr sz="1938" b="0">
                <a:solidFill>
                  <a:srgbClr val="17231F"/>
                </a:solidFill>
              </a:rPr>
              <a:t>보행</a:t>
            </a:r>
          </a:p>
        </p:txBody>
      </p:sp>
      <p:sp>
        <p:nvSpPr>
          <p:cNvPr id="50" name="cloud-8-2">
            <a:extLst>
              <a:ext uri="{FF2B5EF4-FFF2-40B4-BE49-F238E27FC236}">
                <a16:creationId xmlns:a16="http://schemas.microsoft.com/office/drawing/2014/main" id="{F38B4CD2-2ECF-4F97-B283-204614F60FFD}"/>
              </a:ext>
            </a:extLst>
          </p:cNvPr>
          <p:cNvSpPr>
            <a:spLocks noGrp="1"/>
          </p:cNvSpPr>
          <p:nvPr/>
        </p:nvSpPr>
        <p:spPr>
          <a:xfrm>
            <a:off x="6624798" y="5772150"/>
            <a:ext cx="75735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27" b="0">
                <a:solidFill>
                  <a:srgbClr val="17231F"/>
                </a:solidFill>
              </a:defRPr>
            </a:pPr>
            <a:r>
              <a:rPr sz="1927" b="0">
                <a:solidFill>
                  <a:srgbClr val="17231F"/>
                </a:solidFill>
              </a:rPr>
              <a:t>개선</a:t>
            </a:r>
          </a:p>
        </p:txBody>
      </p:sp>
      <p:sp>
        <p:nvSpPr>
          <p:cNvPr id="51" name="cloud-8-3">
            <a:extLst>
              <a:ext uri="{FF2B5EF4-FFF2-40B4-BE49-F238E27FC236}">
                <a16:creationId xmlns:a16="http://schemas.microsoft.com/office/drawing/2014/main" id="{04D4D170-CA30-48E4-8534-EC7F373076D5}"/>
              </a:ext>
            </a:extLst>
          </p:cNvPr>
          <p:cNvSpPr>
            <a:spLocks noGrp="1"/>
          </p:cNvSpPr>
          <p:nvPr/>
        </p:nvSpPr>
        <p:spPr>
          <a:xfrm>
            <a:off x="7591699" y="5772150"/>
            <a:ext cx="75032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02" b="0">
                <a:solidFill>
                  <a:srgbClr val="4775E8"/>
                </a:solidFill>
              </a:defRPr>
            </a:pPr>
            <a:r>
              <a:rPr sz="1902" b="0">
                <a:solidFill>
                  <a:srgbClr val="4775E8"/>
                </a:solidFill>
              </a:rPr>
              <a:t>사고</a:t>
            </a:r>
          </a:p>
        </p:txBody>
      </p:sp>
      <p:sp>
        <p:nvSpPr>
          <p:cNvPr id="52" name="cloud-8-4">
            <a:extLst>
              <a:ext uri="{FF2B5EF4-FFF2-40B4-BE49-F238E27FC236}">
                <a16:creationId xmlns:a16="http://schemas.microsoft.com/office/drawing/2014/main" id="{42AC60F3-0AA0-4E0B-913B-BA70F887F75C}"/>
              </a:ext>
            </a:extLst>
          </p:cNvPr>
          <p:cNvSpPr>
            <a:spLocks noGrp="1"/>
          </p:cNvSpPr>
          <p:nvPr/>
        </p:nvSpPr>
        <p:spPr>
          <a:xfrm>
            <a:off x="8551577" y="5772150"/>
            <a:ext cx="74891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97" b="0">
                <a:solidFill>
                  <a:srgbClr val="17231F"/>
                </a:solidFill>
              </a:defRPr>
            </a:pPr>
            <a:r>
              <a:rPr sz="1897" b="0">
                <a:solidFill>
                  <a:srgbClr val="17231F"/>
                </a:solidFill>
              </a:rPr>
              <a:t>조성</a:t>
            </a:r>
          </a:p>
        </p:txBody>
      </p:sp>
      <p:sp>
        <p:nvSpPr>
          <p:cNvPr id="53" name="cloud-9-0">
            <a:extLst>
              <a:ext uri="{FF2B5EF4-FFF2-40B4-BE49-F238E27FC236}">
                <a16:creationId xmlns:a16="http://schemas.microsoft.com/office/drawing/2014/main" id="{50E86BEF-9434-4E31-BFF7-D3D62BC20621}"/>
              </a:ext>
            </a:extLst>
          </p:cNvPr>
          <p:cNvSpPr>
            <a:spLocks noGrp="1"/>
          </p:cNvSpPr>
          <p:nvPr/>
        </p:nvSpPr>
        <p:spPr>
          <a:xfrm>
            <a:off x="4311444" y="6267450"/>
            <a:ext cx="74891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97" b="0">
                <a:solidFill>
                  <a:srgbClr val="4775E8"/>
                </a:solidFill>
              </a:defRPr>
            </a:pPr>
            <a:r>
              <a:rPr sz="1897" b="0">
                <a:solidFill>
                  <a:srgbClr val="4775E8"/>
                </a:solidFill>
              </a:rPr>
              <a:t>차량</a:t>
            </a:r>
          </a:p>
        </p:txBody>
      </p:sp>
      <p:sp>
        <p:nvSpPr>
          <p:cNvPr id="54" name="cloud-9-1">
            <a:extLst>
              <a:ext uri="{FF2B5EF4-FFF2-40B4-BE49-F238E27FC236}">
                <a16:creationId xmlns:a16="http://schemas.microsoft.com/office/drawing/2014/main" id="{C9977A7F-D413-429A-A92B-23C79209B23E}"/>
              </a:ext>
            </a:extLst>
          </p:cNvPr>
          <p:cNvSpPr>
            <a:spLocks noGrp="1"/>
          </p:cNvSpPr>
          <p:nvPr/>
        </p:nvSpPr>
        <p:spPr>
          <a:xfrm>
            <a:off x="5269905" y="6267450"/>
            <a:ext cx="100693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92" b="0">
                <a:solidFill>
                  <a:srgbClr val="17231F"/>
                </a:solidFill>
              </a:defRPr>
            </a:pPr>
            <a:r>
              <a:rPr sz="1892" b="0">
                <a:solidFill>
                  <a:srgbClr val="17231F"/>
                </a:solidFill>
              </a:rPr>
              <a:t>스마트</a:t>
            </a:r>
          </a:p>
        </p:txBody>
      </p:sp>
      <p:sp>
        <p:nvSpPr>
          <p:cNvPr id="55" name="cloud-9-2">
            <a:extLst>
              <a:ext uri="{FF2B5EF4-FFF2-40B4-BE49-F238E27FC236}">
                <a16:creationId xmlns:a16="http://schemas.microsoft.com/office/drawing/2014/main" id="{7AACA758-EA52-442E-BF38-E7BC648D4E1E}"/>
              </a:ext>
            </a:extLst>
          </p:cNvPr>
          <p:cNvSpPr>
            <a:spLocks noGrp="1"/>
          </p:cNvSpPr>
          <p:nvPr/>
        </p:nvSpPr>
        <p:spPr>
          <a:xfrm>
            <a:off x="6486390" y="6267450"/>
            <a:ext cx="100693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92" b="0">
                <a:solidFill>
                  <a:srgbClr val="17231F"/>
                </a:solidFill>
              </a:defRPr>
            </a:pPr>
            <a:r>
              <a:rPr sz="1892" b="0">
                <a:solidFill>
                  <a:srgbClr val="17231F"/>
                </a:solidFill>
              </a:rPr>
              <a:t>셉테드</a:t>
            </a:r>
          </a:p>
        </p:txBody>
      </p:sp>
      <p:sp>
        <p:nvSpPr>
          <p:cNvPr id="56" name="cloud-9-3">
            <a:extLst>
              <a:ext uri="{FF2B5EF4-FFF2-40B4-BE49-F238E27FC236}">
                <a16:creationId xmlns:a16="http://schemas.microsoft.com/office/drawing/2014/main" id="{54B750E1-A7AC-4844-B590-54EFF11792E2}"/>
              </a:ext>
            </a:extLst>
          </p:cNvPr>
          <p:cNvSpPr>
            <a:spLocks noGrp="1"/>
          </p:cNvSpPr>
          <p:nvPr/>
        </p:nvSpPr>
        <p:spPr>
          <a:xfrm>
            <a:off x="7702875" y="6267450"/>
            <a:ext cx="74606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86" b="0">
                <a:solidFill>
                  <a:srgbClr val="4775E8"/>
                </a:solidFill>
              </a:defRPr>
            </a:pPr>
            <a:r>
              <a:rPr sz="1886" b="0">
                <a:solidFill>
                  <a:srgbClr val="4775E8"/>
                </a:solidFill>
              </a:rPr>
              <a:t>동행</a:t>
            </a:r>
          </a:p>
        </p:txBody>
      </p:sp>
      <p:sp>
        <p:nvSpPr>
          <p:cNvPr id="57" name="cloud-9-4">
            <a:extLst>
              <a:ext uri="{FF2B5EF4-FFF2-40B4-BE49-F238E27FC236}">
                <a16:creationId xmlns:a16="http://schemas.microsoft.com/office/drawing/2014/main" id="{C5BB0E94-A5E9-49C8-95E1-8A36F03652E6}"/>
              </a:ext>
            </a:extLst>
          </p:cNvPr>
          <p:cNvSpPr>
            <a:spLocks noGrp="1"/>
          </p:cNvSpPr>
          <p:nvPr/>
        </p:nvSpPr>
        <p:spPr>
          <a:xfrm>
            <a:off x="8658491" y="6267450"/>
            <a:ext cx="74606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86" b="0">
                <a:solidFill>
                  <a:srgbClr val="17231F"/>
                </a:solidFill>
              </a:defRPr>
            </a:pPr>
            <a:r>
              <a:rPr sz="1886" b="0">
                <a:solidFill>
                  <a:srgbClr val="17231F"/>
                </a:solidFill>
              </a:rPr>
              <a:t>학생</a:t>
            </a:r>
          </a:p>
        </p:txBody>
      </p:sp>
      <p:sp>
        <p:nvSpPr>
          <p:cNvPr id="58" name="footer-line-5">
            <a:extLst>
              <a:ext uri="{FF2B5EF4-FFF2-40B4-BE49-F238E27FC236}">
                <a16:creationId xmlns:a16="http://schemas.microsoft.com/office/drawing/2014/main" id="{22539906-77FE-4E5F-95CA-0E96F786C067}"/>
              </a:ext>
            </a:extLst>
          </p:cNvPr>
          <p:cNvSpPr>
            <a:spLocks noGrp="1"/>
          </p:cNvSpPr>
          <p:nvPr/>
        </p:nvSpPr>
        <p:spPr>
          <a:xfrm>
            <a:off x="590550" y="723900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59" name="footer-5">
            <a:extLst>
              <a:ext uri="{FF2B5EF4-FFF2-40B4-BE49-F238E27FC236}">
                <a16:creationId xmlns:a16="http://schemas.microsoft.com/office/drawing/2014/main" id="{6C53B632-CCEB-4929-85A6-0F4AFB2A893D}"/>
              </a:ext>
            </a:extLst>
          </p:cNvPr>
          <p:cNvSpPr>
            <a:spLocks noGrp="1"/>
          </p:cNvSpPr>
          <p:nvPr/>
        </p:nvSpPr>
        <p:spPr>
          <a:xfrm>
            <a:off x="590550" y="7353300"/>
            <a:ext cx="1253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네이버 뉴스·블로그 검색 API 2,257건 | 일반어·중복어 제거 후 빈도 집계</a:t>
            </a:r>
          </a:p>
        </p:txBody>
      </p:sp>
    </p:spTree>
    <p:extLst>
      <p:ext uri="{BB962C8B-B14F-4D97-AF65-F5344CB8AC3E}">
        <p14:creationId xmlns:p14="http://schemas.microsoft.com/office/powerpoint/2010/main" val="112228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ckground-6">
            <a:extLst>
              <a:ext uri="{FF2B5EF4-FFF2-40B4-BE49-F238E27FC236}">
                <a16:creationId xmlns:a16="http://schemas.microsoft.com/office/drawing/2014/main" id="{115825B8-CCAD-4083-8F20-84596C3295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7F5F0"/>
          </a:solidFill>
          <a:ln w="0">
            <a:solidFill>
              <a:srgbClr val="F7F5F0"/>
            </a:solidFill>
            <a:prstDash val="solid"/>
          </a:ln>
        </p:spPr>
      </p:sp>
      <p:sp>
        <p:nvSpPr>
          <p:cNvPr id="2" name="section-6">
            <a:extLst>
              <a:ext uri="{FF2B5EF4-FFF2-40B4-BE49-F238E27FC236}">
                <a16:creationId xmlns:a16="http://schemas.microsoft.com/office/drawing/2014/main" id="{0D8482F7-5F0A-4DCF-93BF-C4650EB12CED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CX · PAIN POINTS</a:t>
            </a:r>
          </a:p>
        </p:txBody>
      </p:sp>
      <p:sp>
        <p:nvSpPr>
          <p:cNvPr id="3" name="header-line-6">
            <a:extLst>
              <a:ext uri="{FF2B5EF4-FFF2-40B4-BE49-F238E27FC236}">
                <a16:creationId xmlns:a16="http://schemas.microsoft.com/office/drawing/2014/main" id="{A9A8D383-2128-4E90-A1F7-DD19B150535B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6">
            <a:extLst>
              <a:ext uri="{FF2B5EF4-FFF2-40B4-BE49-F238E27FC236}">
                <a16:creationId xmlns:a16="http://schemas.microsoft.com/office/drawing/2014/main" id="{F28B9C19-5C36-4C20-A846-4402B57F0758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5" name="title-6">
            <a:extLst>
              <a:ext uri="{FF2B5EF4-FFF2-40B4-BE49-F238E27FC236}">
                <a16:creationId xmlns:a16="http://schemas.microsoft.com/office/drawing/2014/main" id="{104502A6-ABFC-4514-9CD3-D34B3F1BF7B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반복된 단어는 세 가지 고객 문제를 가리켰습니다</a:t>
            </a:r>
          </a:p>
        </p:txBody>
      </p:sp>
      <p:sp>
        <p:nvSpPr>
          <p:cNvPr id="6" name="page-6">
            <a:extLst>
              <a:ext uri="{FF2B5EF4-FFF2-40B4-BE49-F238E27FC236}">
                <a16:creationId xmlns:a16="http://schemas.microsoft.com/office/drawing/2014/main" id="{FE109331-9F8E-4BF4-988B-1A26B38ABAB9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06</a:t>
            </a:r>
          </a:p>
        </p:txBody>
      </p:sp>
      <p:sp>
        <p:nvSpPr>
          <p:cNvPr id="7" name="pain-num-0">
            <a:extLst>
              <a:ext uri="{FF2B5EF4-FFF2-40B4-BE49-F238E27FC236}">
                <a16:creationId xmlns:a16="http://schemas.microsoft.com/office/drawing/2014/main" id="{0F202BCD-B607-4F27-8504-561BD2741AE1}"/>
              </a:ext>
            </a:extLst>
          </p:cNvPr>
          <p:cNvSpPr>
            <a:spLocks noGrp="1"/>
          </p:cNvSpPr>
          <p:nvPr/>
        </p:nvSpPr>
        <p:spPr>
          <a:xfrm>
            <a:off x="590550" y="1857375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00A878"/>
                </a:solidFill>
              </a:defRPr>
            </a:pPr>
            <a:r>
              <a:rPr sz="3450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8" name="pain-title-0">
            <a:extLst>
              <a:ext uri="{FF2B5EF4-FFF2-40B4-BE49-F238E27FC236}">
                <a16:creationId xmlns:a16="http://schemas.microsoft.com/office/drawing/2014/main" id="{F85DA130-A09F-4BBD-A2C0-4BD151D2DB41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361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231F"/>
                </a:solidFill>
              </a:defRPr>
            </a:pPr>
            <a:r>
              <a:rPr sz="2325" b="1">
                <a:solidFill>
                  <a:srgbClr val="17231F"/>
                </a:solidFill>
              </a:rPr>
              <a:t>안전시설 공백</a:t>
            </a:r>
          </a:p>
        </p:txBody>
      </p:sp>
      <p:sp>
        <p:nvSpPr>
          <p:cNvPr id="9" name="pain-desc-0">
            <a:extLst>
              <a:ext uri="{FF2B5EF4-FFF2-40B4-BE49-F238E27FC236}">
                <a16:creationId xmlns:a16="http://schemas.microsoft.com/office/drawing/2014/main" id="{A90A7A6F-C0AE-4E48-B4D0-A91BE5E7F14F}"/>
              </a:ext>
            </a:extLst>
          </p:cNvPr>
          <p:cNvSpPr>
            <a:spLocks noGrp="1"/>
          </p:cNvSpPr>
          <p:nvPr/>
        </p:nvSpPr>
        <p:spPr>
          <a:xfrm>
            <a:off x="590550" y="3714750"/>
            <a:ext cx="361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CCTV와 가로등이 보이지 않는 구간에서</a:t>
            </a:r>
          </a:p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안전을 판단할 근거가 부족합니다.</a:t>
            </a:r>
          </a:p>
        </p:txBody>
      </p:sp>
      <p:sp>
        <p:nvSpPr>
          <p:cNvPr id="10" name="pain-accent-0">
            <a:extLst>
              <a:ext uri="{FF2B5EF4-FFF2-40B4-BE49-F238E27FC236}">
                <a16:creationId xmlns:a16="http://schemas.microsoft.com/office/drawing/2014/main" id="{16077246-E375-4850-84B8-AE1994DE77D0}"/>
              </a:ext>
            </a:extLst>
          </p:cNvPr>
          <p:cNvSpPr>
            <a:spLocks noGrp="1"/>
          </p:cNvSpPr>
          <p:nvPr/>
        </p:nvSpPr>
        <p:spPr>
          <a:xfrm>
            <a:off x="590550" y="4953000"/>
            <a:ext cx="361950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11" name="pain-evidence-0">
            <a:extLst>
              <a:ext uri="{FF2B5EF4-FFF2-40B4-BE49-F238E27FC236}">
                <a16:creationId xmlns:a16="http://schemas.microsoft.com/office/drawing/2014/main" id="{300C9AEC-79FE-45E1-8759-94534A04E33A}"/>
              </a:ext>
            </a:extLst>
          </p:cNvPr>
          <p:cNvSpPr>
            <a:spLocks noGrp="1"/>
          </p:cNvSpPr>
          <p:nvPr/>
        </p:nvSpPr>
        <p:spPr>
          <a:xfrm>
            <a:off x="590550" y="52197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CCTV 588  ·  가로등 399  ·  사각지대 387</a:t>
            </a:r>
          </a:p>
        </p:txBody>
      </p:sp>
      <p:sp>
        <p:nvSpPr>
          <p:cNvPr id="12" name="pain-divider-1">
            <a:extLst>
              <a:ext uri="{FF2B5EF4-FFF2-40B4-BE49-F238E27FC236}">
                <a16:creationId xmlns:a16="http://schemas.microsoft.com/office/drawing/2014/main" id="{1ABA7A9D-BA7E-4164-9851-6C1B26123AED}"/>
              </a:ext>
            </a:extLst>
          </p:cNvPr>
          <p:cNvSpPr>
            <a:spLocks noGrp="1"/>
          </p:cNvSpPr>
          <p:nvPr/>
        </p:nvSpPr>
        <p:spPr>
          <a:xfrm>
            <a:off x="4514850" y="1905000"/>
            <a:ext cx="9525" cy="381000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3" name="pain-num-1">
            <a:extLst>
              <a:ext uri="{FF2B5EF4-FFF2-40B4-BE49-F238E27FC236}">
                <a16:creationId xmlns:a16="http://schemas.microsoft.com/office/drawing/2014/main" id="{7D1AA338-5636-4BF6-9D62-32BCC3CA672F}"/>
              </a:ext>
            </a:extLst>
          </p:cNvPr>
          <p:cNvSpPr>
            <a:spLocks noGrp="1"/>
          </p:cNvSpPr>
          <p:nvPr/>
        </p:nvSpPr>
        <p:spPr>
          <a:xfrm>
            <a:off x="4781550" y="1857375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FF704D"/>
                </a:solidFill>
              </a:defRPr>
            </a:pPr>
            <a:r>
              <a:rPr sz="3450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14" name="pain-title-1">
            <a:extLst>
              <a:ext uri="{FF2B5EF4-FFF2-40B4-BE49-F238E27FC236}">
                <a16:creationId xmlns:a16="http://schemas.microsoft.com/office/drawing/2014/main" id="{C0B72694-A561-4192-9510-6A13B28F9182}"/>
              </a:ext>
            </a:extLst>
          </p:cNvPr>
          <p:cNvSpPr>
            <a:spLocks noGrp="1"/>
          </p:cNvSpPr>
          <p:nvPr/>
        </p:nvSpPr>
        <p:spPr>
          <a:xfrm>
            <a:off x="4781550" y="2857500"/>
            <a:ext cx="361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231F"/>
                </a:solidFill>
              </a:defRPr>
            </a:pPr>
            <a:r>
              <a:rPr sz="2325" b="1">
                <a:solidFill>
                  <a:srgbClr val="17231F"/>
                </a:solidFill>
              </a:rPr>
              <a:t>어두운 이동환경</a:t>
            </a:r>
          </a:p>
        </p:txBody>
      </p:sp>
      <p:sp>
        <p:nvSpPr>
          <p:cNvPr id="15" name="pain-desc-1">
            <a:extLst>
              <a:ext uri="{FF2B5EF4-FFF2-40B4-BE49-F238E27FC236}">
                <a16:creationId xmlns:a16="http://schemas.microsoft.com/office/drawing/2014/main" id="{CF48D823-2ED0-4BD9-B960-AC0C096BA0BF}"/>
              </a:ext>
            </a:extLst>
          </p:cNvPr>
          <p:cNvSpPr>
            <a:spLocks noGrp="1"/>
          </p:cNvSpPr>
          <p:nvPr/>
        </p:nvSpPr>
        <p:spPr>
          <a:xfrm>
            <a:off x="4781550" y="3714750"/>
            <a:ext cx="361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밤길과 골목길은 반복적으로</a:t>
            </a:r>
          </a:p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위험·불안의 상황과 함께 언급됩니다.</a:t>
            </a:r>
          </a:p>
        </p:txBody>
      </p:sp>
      <p:sp>
        <p:nvSpPr>
          <p:cNvPr id="16" name="pain-accent-1">
            <a:extLst>
              <a:ext uri="{FF2B5EF4-FFF2-40B4-BE49-F238E27FC236}">
                <a16:creationId xmlns:a16="http://schemas.microsoft.com/office/drawing/2014/main" id="{7D0E741B-88F9-44A4-874C-34BE1114D598}"/>
              </a:ext>
            </a:extLst>
          </p:cNvPr>
          <p:cNvSpPr>
            <a:spLocks noGrp="1"/>
          </p:cNvSpPr>
          <p:nvPr/>
        </p:nvSpPr>
        <p:spPr>
          <a:xfrm>
            <a:off x="4781550" y="4953000"/>
            <a:ext cx="3619500" cy="38100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17" name="pain-evidence-1">
            <a:extLst>
              <a:ext uri="{FF2B5EF4-FFF2-40B4-BE49-F238E27FC236}">
                <a16:creationId xmlns:a16="http://schemas.microsoft.com/office/drawing/2014/main" id="{F996D0DF-A7BA-4EDA-8403-3C14B05669D6}"/>
              </a:ext>
            </a:extLst>
          </p:cNvPr>
          <p:cNvSpPr>
            <a:spLocks noGrp="1"/>
          </p:cNvSpPr>
          <p:nvPr/>
        </p:nvSpPr>
        <p:spPr>
          <a:xfrm>
            <a:off x="4781550" y="52197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밤길 393  ·  골목길 377  ·  어두운 337</a:t>
            </a:r>
          </a:p>
        </p:txBody>
      </p:sp>
      <p:sp>
        <p:nvSpPr>
          <p:cNvPr id="18" name="pain-divider-2">
            <a:extLst>
              <a:ext uri="{FF2B5EF4-FFF2-40B4-BE49-F238E27FC236}">
                <a16:creationId xmlns:a16="http://schemas.microsoft.com/office/drawing/2014/main" id="{E7E0042F-9A41-4984-8EF3-B674C3337244}"/>
              </a:ext>
            </a:extLst>
          </p:cNvPr>
          <p:cNvSpPr>
            <a:spLocks noGrp="1"/>
          </p:cNvSpPr>
          <p:nvPr/>
        </p:nvSpPr>
        <p:spPr>
          <a:xfrm>
            <a:off x="8705850" y="1905000"/>
            <a:ext cx="9525" cy="381000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9" name="pain-num-2">
            <a:extLst>
              <a:ext uri="{FF2B5EF4-FFF2-40B4-BE49-F238E27FC236}">
                <a16:creationId xmlns:a16="http://schemas.microsoft.com/office/drawing/2014/main" id="{C9112ED1-C2E3-4839-8CB7-8B1C26AF2235}"/>
              </a:ext>
            </a:extLst>
          </p:cNvPr>
          <p:cNvSpPr>
            <a:spLocks noGrp="1"/>
          </p:cNvSpPr>
          <p:nvPr/>
        </p:nvSpPr>
        <p:spPr>
          <a:xfrm>
            <a:off x="8972550" y="1857375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4775E8"/>
                </a:solidFill>
              </a:defRPr>
            </a:pPr>
            <a:r>
              <a:rPr sz="3450" b="1">
                <a:solidFill>
                  <a:srgbClr val="4775E8"/>
                </a:solidFill>
              </a:rPr>
              <a:t>03</a:t>
            </a:r>
          </a:p>
        </p:txBody>
      </p:sp>
      <p:sp>
        <p:nvSpPr>
          <p:cNvPr id="20" name="pain-title-2">
            <a:extLst>
              <a:ext uri="{FF2B5EF4-FFF2-40B4-BE49-F238E27FC236}">
                <a16:creationId xmlns:a16="http://schemas.microsoft.com/office/drawing/2014/main" id="{4E1DFF96-380E-4140-81C8-CCBFAC4B09B8}"/>
              </a:ext>
            </a:extLst>
          </p:cNvPr>
          <p:cNvSpPr>
            <a:spLocks noGrp="1"/>
          </p:cNvSpPr>
          <p:nvPr/>
        </p:nvSpPr>
        <p:spPr>
          <a:xfrm>
            <a:off x="8972550" y="2857500"/>
            <a:ext cx="361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231F"/>
                </a:solidFill>
              </a:defRPr>
            </a:pPr>
            <a:r>
              <a:rPr sz="2325" b="1">
                <a:solidFill>
                  <a:srgbClr val="17231F"/>
                </a:solidFill>
              </a:rPr>
              <a:t>경로 판단 불안</a:t>
            </a:r>
          </a:p>
        </p:txBody>
      </p:sp>
      <p:sp>
        <p:nvSpPr>
          <p:cNvPr id="21" name="pain-desc-2">
            <a:extLst>
              <a:ext uri="{FF2B5EF4-FFF2-40B4-BE49-F238E27FC236}">
                <a16:creationId xmlns:a16="http://schemas.microsoft.com/office/drawing/2014/main" id="{ACAC6CD0-EF0C-4356-8A1C-FE92B08753B0}"/>
              </a:ext>
            </a:extLst>
          </p:cNvPr>
          <p:cNvSpPr>
            <a:spLocks noGrp="1"/>
          </p:cNvSpPr>
          <p:nvPr/>
        </p:nvSpPr>
        <p:spPr>
          <a:xfrm>
            <a:off x="8972550" y="3714750"/>
            <a:ext cx="361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목적지까지 가는 길은 보여도</a:t>
            </a:r>
          </a:p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어느 길이 더 안심되는지는 알기 어렵습니다.</a:t>
            </a:r>
          </a:p>
        </p:txBody>
      </p:sp>
      <p:sp>
        <p:nvSpPr>
          <p:cNvPr id="22" name="pain-accent-2">
            <a:extLst>
              <a:ext uri="{FF2B5EF4-FFF2-40B4-BE49-F238E27FC236}">
                <a16:creationId xmlns:a16="http://schemas.microsoft.com/office/drawing/2014/main" id="{F7E2ED5F-8223-4EE0-9193-127A4A14AF35}"/>
              </a:ext>
            </a:extLst>
          </p:cNvPr>
          <p:cNvSpPr>
            <a:spLocks noGrp="1"/>
          </p:cNvSpPr>
          <p:nvPr/>
        </p:nvSpPr>
        <p:spPr>
          <a:xfrm>
            <a:off x="8972550" y="4953000"/>
            <a:ext cx="3619500" cy="38100"/>
          </a:xfrm>
          <a:prstGeom prst="rect">
            <a:avLst/>
          </a:prstGeom>
          <a:solidFill>
            <a:srgbClr val="4775E8"/>
          </a:solidFill>
          <a:ln w="0">
            <a:solidFill>
              <a:srgbClr val="4775E8"/>
            </a:solidFill>
            <a:prstDash val="solid"/>
          </a:ln>
        </p:spPr>
      </p:sp>
      <p:sp>
        <p:nvSpPr>
          <p:cNvPr id="23" name="pain-evidence-2">
            <a:extLst>
              <a:ext uri="{FF2B5EF4-FFF2-40B4-BE49-F238E27FC236}">
                <a16:creationId xmlns:a16="http://schemas.microsoft.com/office/drawing/2014/main" id="{21B44B58-B516-45EA-9CFF-82F77F1CF1C2}"/>
              </a:ext>
            </a:extLst>
          </p:cNvPr>
          <p:cNvSpPr>
            <a:spLocks noGrp="1"/>
          </p:cNvSpPr>
          <p:nvPr/>
        </p:nvSpPr>
        <p:spPr>
          <a:xfrm>
            <a:off x="8972550" y="52197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75E8"/>
                </a:solidFill>
              </a:defRPr>
            </a:pPr>
            <a:r>
              <a:rPr sz="1125" b="1">
                <a:solidFill>
                  <a:srgbClr val="4775E8"/>
                </a:solidFill>
              </a:rPr>
              <a:t>안심 533  ·  치안 430  ·  경로 213</a:t>
            </a:r>
          </a:p>
        </p:txBody>
      </p:sp>
      <p:sp>
        <p:nvSpPr>
          <p:cNvPr id="24" name="pain-close-bg">
            <a:extLst>
              <a:ext uri="{FF2B5EF4-FFF2-40B4-BE49-F238E27FC236}">
                <a16:creationId xmlns:a16="http://schemas.microsoft.com/office/drawing/2014/main" id="{A525C8EF-5855-4DE0-A9C4-51F14C961D67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125349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DD8"/>
            </a:solidFill>
            <a:prstDash val="solid"/>
          </a:ln>
        </p:spPr>
      </p:sp>
      <p:sp>
        <p:nvSpPr>
          <p:cNvPr id="25" name="pain-close">
            <a:extLst>
              <a:ext uri="{FF2B5EF4-FFF2-40B4-BE49-F238E27FC236}">
                <a16:creationId xmlns:a16="http://schemas.microsoft.com/office/drawing/2014/main" id="{63123401-C021-471C-BC3E-294F0386AC0A}"/>
              </a:ext>
            </a:extLst>
          </p:cNvPr>
          <p:cNvSpPr>
            <a:spLocks noGrp="1"/>
          </p:cNvSpPr>
          <p:nvPr/>
        </p:nvSpPr>
        <p:spPr>
          <a:xfrm>
            <a:off x="838200" y="6286500"/>
            <a:ext cx="1200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핵심 문제는 ‘범죄 정보 부족’보다 ‘지금 가는 길을 판단할 근거 부족’에 가깝습니다.</a:t>
            </a:r>
          </a:p>
        </p:txBody>
      </p:sp>
      <p:sp>
        <p:nvSpPr>
          <p:cNvPr id="26" name="footer-line-6">
            <a:extLst>
              <a:ext uri="{FF2B5EF4-FFF2-40B4-BE49-F238E27FC236}">
                <a16:creationId xmlns:a16="http://schemas.microsoft.com/office/drawing/2014/main" id="{CEF92ACA-72A2-4018-B56D-FB9DFA3E6992}"/>
              </a:ext>
            </a:extLst>
          </p:cNvPr>
          <p:cNvSpPr>
            <a:spLocks noGrp="1"/>
          </p:cNvSpPr>
          <p:nvPr/>
        </p:nvSpPr>
        <p:spPr>
          <a:xfrm>
            <a:off x="590550" y="723900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7" name="footer-6">
            <a:extLst>
              <a:ext uri="{FF2B5EF4-FFF2-40B4-BE49-F238E27FC236}">
                <a16:creationId xmlns:a16="http://schemas.microsoft.com/office/drawing/2014/main" id="{25A58364-38CA-466B-ADA9-298BD8DD0AE6}"/>
              </a:ext>
            </a:extLst>
          </p:cNvPr>
          <p:cNvSpPr>
            <a:spLocks noGrp="1"/>
          </p:cNvSpPr>
          <p:nvPr/>
        </p:nvSpPr>
        <p:spPr>
          <a:xfrm>
            <a:off x="590550" y="7353300"/>
            <a:ext cx="1253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해석 기준: 상위 핵심어의 의미 범주와 동시 등장 맥락을 기반으로 페인포인트 구성</a:t>
            </a:r>
          </a:p>
        </p:txBody>
      </p:sp>
    </p:spTree>
    <p:extLst>
      <p:ext uri="{BB962C8B-B14F-4D97-AF65-F5344CB8AC3E}">
        <p14:creationId xmlns:p14="http://schemas.microsoft.com/office/powerpoint/2010/main" val="329664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-7">
            <a:extLst>
              <a:ext uri="{FF2B5EF4-FFF2-40B4-BE49-F238E27FC236}">
                <a16:creationId xmlns:a16="http://schemas.microsoft.com/office/drawing/2014/main" id="{6A5D4AD9-4B17-4279-A888-E61CB2FB5E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2F7F4"/>
          </a:solidFill>
          <a:ln w="0">
            <a:solidFill>
              <a:srgbClr val="F2F7F4"/>
            </a:solidFill>
            <a:prstDash val="solid"/>
          </a:ln>
        </p:spPr>
      </p:sp>
      <p:sp>
        <p:nvSpPr>
          <p:cNvPr id="2" name="section-7">
            <a:extLst>
              <a:ext uri="{FF2B5EF4-FFF2-40B4-BE49-F238E27FC236}">
                <a16:creationId xmlns:a16="http://schemas.microsoft.com/office/drawing/2014/main" id="{6D68E636-B3E6-4908-8254-3695C28725F4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CX · TARGET CUSTOMER</a:t>
            </a:r>
          </a:p>
        </p:txBody>
      </p:sp>
      <p:sp>
        <p:nvSpPr>
          <p:cNvPr id="3" name="header-line-7">
            <a:extLst>
              <a:ext uri="{FF2B5EF4-FFF2-40B4-BE49-F238E27FC236}">
                <a16:creationId xmlns:a16="http://schemas.microsoft.com/office/drawing/2014/main" id="{432D8C37-5927-4A12-B9A9-5940743197A6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7">
            <a:extLst>
              <a:ext uri="{FF2B5EF4-FFF2-40B4-BE49-F238E27FC236}">
                <a16:creationId xmlns:a16="http://schemas.microsoft.com/office/drawing/2014/main" id="{EFA7FD29-FF2B-49DC-809D-98C21B99BE92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5" name="title-7">
            <a:extLst>
              <a:ext uri="{FF2B5EF4-FFF2-40B4-BE49-F238E27FC236}">
                <a16:creationId xmlns:a16="http://schemas.microsoft.com/office/drawing/2014/main" id="{FFB5EC79-4CEE-4532-8A04-44DCA528D8BB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텍스트 분석 결과를 한 명의 고객으로 구체화했습니다</a:t>
            </a:r>
          </a:p>
        </p:txBody>
      </p:sp>
      <p:sp>
        <p:nvSpPr>
          <p:cNvPr id="6" name="page-7">
            <a:extLst>
              <a:ext uri="{FF2B5EF4-FFF2-40B4-BE49-F238E27FC236}">
                <a16:creationId xmlns:a16="http://schemas.microsoft.com/office/drawing/2014/main" id="{3056B120-27DC-41B2-B5C6-21CCB4C12A05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07</a:t>
            </a:r>
          </a:p>
        </p:txBody>
      </p:sp>
      <p:sp>
        <p:nvSpPr>
          <p:cNvPr id="7" name="persona-frame">
            <a:extLst>
              <a:ext uri="{FF2B5EF4-FFF2-40B4-BE49-F238E27FC236}">
                <a16:creationId xmlns:a16="http://schemas.microsoft.com/office/drawing/2014/main" id="{2FD9F862-4E97-4BB4-BD28-3080D34FFB9F}"/>
              </a:ext>
            </a:extLst>
          </p:cNvPr>
          <p:cNvSpPr>
            <a:spLocks noGrp="1"/>
          </p:cNvSpPr>
          <p:nvPr/>
        </p:nvSpPr>
        <p:spPr>
          <a:xfrm>
            <a:off x="590550" y="1762125"/>
            <a:ext cx="3905250" cy="476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DD8"/>
            </a:solidFill>
            <a:prstDash val="solid"/>
          </a:ln>
        </p:spPr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rcRect t="2225" b="2225"/>
          <a:stretch>
            <a:fillRect/>
          </a:stretch>
        </p:blipFill>
        <p:spPr>
          <a:xfrm>
            <a:off x="723900" y="1895475"/>
            <a:ext cx="3638550" cy="3476625"/>
          </a:xfrm>
          <a:prstGeom prst="rect">
            <a:avLst/>
          </a:prstGeom>
        </p:spPr>
      </p:pic>
      <p:sp>
        <p:nvSpPr>
          <p:cNvPr id="9" name="persona-fictional">
            <a:extLst>
              <a:ext uri="{FF2B5EF4-FFF2-40B4-BE49-F238E27FC236}">
                <a16:creationId xmlns:a16="http://schemas.microsoft.com/office/drawing/2014/main" id="{29C0D493-4F7F-4D7A-B552-582827B376FA}"/>
              </a:ext>
            </a:extLst>
          </p:cNvPr>
          <p:cNvSpPr>
            <a:spLocks noGrp="1"/>
          </p:cNvSpPr>
          <p:nvPr/>
        </p:nvSpPr>
        <p:spPr>
          <a:xfrm>
            <a:off x="781050" y="5667375"/>
            <a:ext cx="347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878"/>
                </a:solidFill>
              </a:defRPr>
            </a:pPr>
            <a:r>
              <a:rPr sz="900" b="1">
                <a:solidFill>
                  <a:srgbClr val="00A878"/>
                </a:solidFill>
              </a:rPr>
              <a:t>AI-GENERATED FICTIONAL PERSONA</a:t>
            </a:r>
          </a:p>
        </p:txBody>
      </p:sp>
      <p:sp>
        <p:nvSpPr>
          <p:cNvPr id="10" name="persona-name">
            <a:extLst>
              <a:ext uri="{FF2B5EF4-FFF2-40B4-BE49-F238E27FC236}">
                <a16:creationId xmlns:a16="http://schemas.microsoft.com/office/drawing/2014/main" id="{459F7F69-1EEE-44A6-92D0-5EA18A3ED088}"/>
              </a:ext>
            </a:extLst>
          </p:cNvPr>
          <p:cNvSpPr>
            <a:spLocks noGrp="1"/>
          </p:cNvSpPr>
          <p:nvPr/>
        </p:nvSpPr>
        <p:spPr>
          <a:xfrm>
            <a:off x="5048250" y="1885950"/>
            <a:ext cx="4762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7231F"/>
                </a:solidFill>
              </a:defRPr>
            </a:pPr>
            <a:r>
              <a:rPr sz="3600" b="1">
                <a:solidFill>
                  <a:srgbClr val="17231F"/>
                </a:solidFill>
              </a:rPr>
              <a:t>김지안</a:t>
            </a:r>
          </a:p>
        </p:txBody>
      </p:sp>
      <p:sp>
        <p:nvSpPr>
          <p:cNvPr id="11" name="persona-age">
            <a:extLst>
              <a:ext uri="{FF2B5EF4-FFF2-40B4-BE49-F238E27FC236}">
                <a16:creationId xmlns:a16="http://schemas.microsoft.com/office/drawing/2014/main" id="{A3EA5EC6-C1DF-4178-9A80-3DA321046A99}"/>
              </a:ext>
            </a:extLst>
          </p:cNvPr>
          <p:cNvSpPr>
            <a:spLocks noGrp="1"/>
          </p:cNvSpPr>
          <p:nvPr/>
        </p:nvSpPr>
        <p:spPr>
          <a:xfrm>
            <a:off x="5095875" y="26479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24세  ·  대학생  ·  1인 가구  ·  야간 도보 귀가</a:t>
            </a:r>
          </a:p>
        </p:txBody>
      </p:sp>
      <p:sp>
        <p:nvSpPr>
          <p:cNvPr id="12" name="persona-situation-label-bar">
            <a:extLst>
              <a:ext uri="{FF2B5EF4-FFF2-40B4-BE49-F238E27FC236}">
                <a16:creationId xmlns:a16="http://schemas.microsoft.com/office/drawing/2014/main" id="{4C3710E3-B80F-44CB-9ED9-83C2809449B3}"/>
              </a:ext>
            </a:extLst>
          </p:cNvPr>
          <p:cNvSpPr>
            <a:spLocks noGrp="1"/>
          </p:cNvSpPr>
          <p:nvPr/>
        </p:nvSpPr>
        <p:spPr>
          <a:xfrm>
            <a:off x="5095875" y="3400425"/>
            <a:ext cx="47625" cy="295275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13" name="persona-situation-label">
            <a:extLst>
              <a:ext uri="{FF2B5EF4-FFF2-40B4-BE49-F238E27FC236}">
                <a16:creationId xmlns:a16="http://schemas.microsoft.com/office/drawing/2014/main" id="{3DD3F867-6E22-432F-8401-671B341308F0}"/>
              </a:ext>
            </a:extLst>
          </p:cNvPr>
          <p:cNvSpPr>
            <a:spLocks noGrp="1"/>
          </p:cNvSpPr>
          <p:nvPr/>
        </p:nvSpPr>
        <p:spPr>
          <a:xfrm>
            <a:off x="5248275" y="3390900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SITUATION</a:t>
            </a:r>
          </a:p>
        </p:txBody>
      </p:sp>
      <p:sp>
        <p:nvSpPr>
          <p:cNvPr id="14" name="persona-situation">
            <a:extLst>
              <a:ext uri="{FF2B5EF4-FFF2-40B4-BE49-F238E27FC236}">
                <a16:creationId xmlns:a16="http://schemas.microsoft.com/office/drawing/2014/main" id="{6D5A3FED-A350-457C-9C6C-F2FB5D8EC225}"/>
              </a:ext>
            </a:extLst>
          </p:cNvPr>
          <p:cNvSpPr>
            <a:spLocks noGrp="1"/>
          </p:cNvSpPr>
          <p:nvPr/>
        </p:nvSpPr>
        <p:spPr>
          <a:xfrm>
            <a:off x="5095875" y="3838575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31F"/>
                </a:solidFill>
              </a:defRPr>
            </a:pPr>
            <a:r>
              <a:rPr sz="1425" b="0">
                <a:solidFill>
                  <a:srgbClr val="17231F"/>
                </a:solidFill>
              </a:rPr>
              <a:t>밤 10시 이후 지하철역에서 자취방까지</a:t>
            </a:r>
          </a:p>
          <a:p>
            <a:pPr algn="l">
              <a:defRPr sz="1425" b="0">
                <a:solidFill>
                  <a:srgbClr val="17231F"/>
                </a:solidFill>
              </a:defRPr>
            </a:pPr>
            <a:r>
              <a:rPr sz="1425" b="0">
                <a:solidFill>
                  <a:srgbClr val="17231F"/>
                </a:solidFill>
              </a:rPr>
              <a:t>약 15분을 걸어 귀가합니다.</a:t>
            </a:r>
          </a:p>
        </p:txBody>
      </p:sp>
      <p:sp>
        <p:nvSpPr>
          <p:cNvPr id="15" name="persona-goal-label-bar">
            <a:extLst>
              <a:ext uri="{FF2B5EF4-FFF2-40B4-BE49-F238E27FC236}">
                <a16:creationId xmlns:a16="http://schemas.microsoft.com/office/drawing/2014/main" id="{2DC94220-0CED-430B-BFC8-836CDBC6EF02}"/>
              </a:ext>
            </a:extLst>
          </p:cNvPr>
          <p:cNvSpPr>
            <a:spLocks noGrp="1"/>
          </p:cNvSpPr>
          <p:nvPr/>
        </p:nvSpPr>
        <p:spPr>
          <a:xfrm>
            <a:off x="5095875" y="4762500"/>
            <a:ext cx="47625" cy="295275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16" name="persona-goal-label">
            <a:extLst>
              <a:ext uri="{FF2B5EF4-FFF2-40B4-BE49-F238E27FC236}">
                <a16:creationId xmlns:a16="http://schemas.microsoft.com/office/drawing/2014/main" id="{3E600A65-9C80-43DF-B779-8E7BF931695A}"/>
              </a:ext>
            </a:extLst>
          </p:cNvPr>
          <p:cNvSpPr>
            <a:spLocks noGrp="1"/>
          </p:cNvSpPr>
          <p:nvPr/>
        </p:nvSpPr>
        <p:spPr>
          <a:xfrm>
            <a:off x="5248275" y="4752975"/>
            <a:ext cx="1466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GOAL</a:t>
            </a:r>
          </a:p>
        </p:txBody>
      </p:sp>
      <p:sp>
        <p:nvSpPr>
          <p:cNvPr id="17" name="persona-goal">
            <a:extLst>
              <a:ext uri="{FF2B5EF4-FFF2-40B4-BE49-F238E27FC236}">
                <a16:creationId xmlns:a16="http://schemas.microsoft.com/office/drawing/2014/main" id="{FB5D9367-67B3-4F3B-97BA-93593641B3EF}"/>
              </a:ext>
            </a:extLst>
          </p:cNvPr>
          <p:cNvSpPr>
            <a:spLocks noGrp="1"/>
          </p:cNvSpPr>
          <p:nvPr/>
        </p:nvSpPr>
        <p:spPr>
          <a:xfrm>
            <a:off x="5095875" y="5181600"/>
            <a:ext cx="742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31F"/>
                </a:solidFill>
              </a:defRPr>
            </a:pPr>
            <a:r>
              <a:rPr sz="1500" b="1">
                <a:solidFill>
                  <a:srgbClr val="17231F"/>
                </a:solidFill>
              </a:rPr>
              <a:t>빠른 길보다 안심할 수 있는 길을 선택하고 싶습니다.</a:t>
            </a:r>
          </a:p>
        </p:txBody>
      </p:sp>
      <p:sp>
        <p:nvSpPr>
          <p:cNvPr id="18" name="persona-pain">
            <a:extLst>
              <a:ext uri="{FF2B5EF4-FFF2-40B4-BE49-F238E27FC236}">
                <a16:creationId xmlns:a16="http://schemas.microsoft.com/office/drawing/2014/main" id="{59134BF8-4C6B-4CCF-8722-9F98EFAB599F}"/>
              </a:ext>
            </a:extLst>
          </p:cNvPr>
          <p:cNvSpPr>
            <a:spLocks noGrp="1"/>
          </p:cNvSpPr>
          <p:nvPr/>
        </p:nvSpPr>
        <p:spPr>
          <a:xfrm>
            <a:off x="5095875" y="5953125"/>
            <a:ext cx="7572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CCTV·가로등 위치를 알기 어렵다  /  위험구간 전 대체 경로를 찾기 어렵다  /  정보를 따로 확인해야 한다</a:t>
            </a:r>
          </a:p>
        </p:txBody>
      </p:sp>
      <p:sp>
        <p:nvSpPr>
          <p:cNvPr id="19" name="footer-line-7">
            <a:extLst>
              <a:ext uri="{FF2B5EF4-FFF2-40B4-BE49-F238E27FC236}">
                <a16:creationId xmlns:a16="http://schemas.microsoft.com/office/drawing/2014/main" id="{B4A35788-EB77-4281-B9A4-66CB80ABDB58}"/>
              </a:ext>
            </a:extLst>
          </p:cNvPr>
          <p:cNvSpPr>
            <a:spLocks noGrp="1"/>
          </p:cNvSpPr>
          <p:nvPr/>
        </p:nvSpPr>
        <p:spPr>
          <a:xfrm>
            <a:off x="590550" y="723900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0" name="footer-7">
            <a:extLst>
              <a:ext uri="{FF2B5EF4-FFF2-40B4-BE49-F238E27FC236}">
                <a16:creationId xmlns:a16="http://schemas.microsoft.com/office/drawing/2014/main" id="{34CBE46C-99EC-403F-9002-1E271C83D852}"/>
              </a:ext>
            </a:extLst>
          </p:cNvPr>
          <p:cNvSpPr>
            <a:spLocks noGrp="1"/>
          </p:cNvSpPr>
          <p:nvPr/>
        </p:nvSpPr>
        <p:spPr>
          <a:xfrm>
            <a:off x="590550" y="7353300"/>
            <a:ext cx="1253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Persona synthesis: 워드클라우드 상위 핵심어와 페인포인트를 기반으로 구성한 가상 인물</a:t>
            </a:r>
          </a:p>
        </p:txBody>
      </p:sp>
    </p:spTree>
    <p:extLst>
      <p:ext uri="{BB962C8B-B14F-4D97-AF65-F5344CB8AC3E}">
        <p14:creationId xmlns:p14="http://schemas.microsoft.com/office/powerpoint/2010/main" val="1399418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ackground-8">
            <a:extLst>
              <a:ext uri="{FF2B5EF4-FFF2-40B4-BE49-F238E27FC236}">
                <a16:creationId xmlns:a16="http://schemas.microsoft.com/office/drawing/2014/main" id="{13F876C8-92D3-4A18-8198-BA1FE02A52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EEF7F2"/>
          </a:solidFill>
          <a:ln w="0">
            <a:solidFill>
              <a:srgbClr val="EEF7F2"/>
            </a:solidFill>
            <a:prstDash val="solid"/>
          </a:ln>
        </p:spPr>
      </p:sp>
      <p:sp>
        <p:nvSpPr>
          <p:cNvPr id="2" name="section-8">
            <a:extLst>
              <a:ext uri="{FF2B5EF4-FFF2-40B4-BE49-F238E27FC236}">
                <a16:creationId xmlns:a16="http://schemas.microsoft.com/office/drawing/2014/main" id="{48222180-4B26-4313-AE8A-5BEFC4C97975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CX · CUSTOMER NEEDS</a:t>
            </a:r>
          </a:p>
        </p:txBody>
      </p:sp>
      <p:sp>
        <p:nvSpPr>
          <p:cNvPr id="3" name="header-line-8">
            <a:extLst>
              <a:ext uri="{FF2B5EF4-FFF2-40B4-BE49-F238E27FC236}">
                <a16:creationId xmlns:a16="http://schemas.microsoft.com/office/drawing/2014/main" id="{866FDED7-421E-4A10-8705-60B004F555B5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8">
            <a:extLst>
              <a:ext uri="{FF2B5EF4-FFF2-40B4-BE49-F238E27FC236}">
                <a16:creationId xmlns:a16="http://schemas.microsoft.com/office/drawing/2014/main" id="{6EACD863-28C1-416C-BDC5-C6587C440576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5" name="title-8">
            <a:extLst>
              <a:ext uri="{FF2B5EF4-FFF2-40B4-BE49-F238E27FC236}">
                <a16:creationId xmlns:a16="http://schemas.microsoft.com/office/drawing/2014/main" id="{BD7EFD33-BFD7-47E7-A2BA-883D1CA1A4F1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고객에게 필요한 것은 ‘길을 결정할 근거’입니다</a:t>
            </a:r>
          </a:p>
        </p:txBody>
      </p:sp>
      <p:sp>
        <p:nvSpPr>
          <p:cNvPr id="6" name="page-8">
            <a:extLst>
              <a:ext uri="{FF2B5EF4-FFF2-40B4-BE49-F238E27FC236}">
                <a16:creationId xmlns:a16="http://schemas.microsoft.com/office/drawing/2014/main" id="{C898BECF-0DEC-40AC-A1DB-35E3630ABA35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08</a:t>
            </a:r>
          </a:p>
        </p:txBody>
      </p:sp>
      <p:sp>
        <p:nvSpPr>
          <p:cNvPr id="7" name="needs-lead">
            <a:extLst>
              <a:ext uri="{FF2B5EF4-FFF2-40B4-BE49-F238E27FC236}">
                <a16:creationId xmlns:a16="http://schemas.microsoft.com/office/drawing/2014/main" id="{6DB3EAB0-4FDF-4B89-A382-CCD519BB65B1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2706B"/>
                </a:solidFill>
              </a:defRPr>
            </a:pPr>
            <a:r>
              <a:rPr sz="1650" b="0">
                <a:solidFill>
                  <a:srgbClr val="62706B"/>
                </a:solidFill>
              </a:rPr>
              <a:t>김지안의 귀가 여정에는 세 번의 판단 순간이 있습니다.</a:t>
            </a:r>
          </a:p>
        </p:txBody>
      </p:sp>
      <p:sp>
        <p:nvSpPr>
          <p:cNvPr id="8" name="needs-line">
            <a:extLst>
              <a:ext uri="{FF2B5EF4-FFF2-40B4-BE49-F238E27FC236}">
                <a16:creationId xmlns:a16="http://schemas.microsoft.com/office/drawing/2014/main" id="{20B4660A-6AB8-4CE4-817D-D24E0F970A87}"/>
              </a:ext>
            </a:extLst>
          </p:cNvPr>
          <p:cNvSpPr>
            <a:spLocks noGrp="1"/>
          </p:cNvSpPr>
          <p:nvPr/>
        </p:nvSpPr>
        <p:spPr>
          <a:xfrm>
            <a:off x="1143000" y="3238500"/>
            <a:ext cx="10953750" cy="2857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9" name="need-node-0">
            <a:extLst>
              <a:ext uri="{FF2B5EF4-FFF2-40B4-BE49-F238E27FC236}">
                <a16:creationId xmlns:a16="http://schemas.microsoft.com/office/drawing/2014/main" id="{16FC4065-F7FC-4EC2-801D-A2400E4B1F1C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495300" cy="495300"/>
          </a:xfrm>
          <a:prstGeom prst="rect">
            <a:avLst/>
          </a:prstGeom>
          <a:solidFill>
            <a:srgbClr val="F7F5F0"/>
          </a:solidFill>
          <a:ln w="19050">
            <a:solidFill>
              <a:srgbClr val="00A878"/>
            </a:solidFill>
            <a:prstDash val="solid"/>
          </a:ln>
        </p:spPr>
      </p:sp>
      <p:sp>
        <p:nvSpPr>
          <p:cNvPr id="10" name="need-node-text-0">
            <a:extLst>
              <a:ext uri="{FF2B5EF4-FFF2-40B4-BE49-F238E27FC236}">
                <a16:creationId xmlns:a16="http://schemas.microsoft.com/office/drawing/2014/main" id="{F9BAE32D-F006-40D2-A47E-7DA811C85D6E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1" name="need-phase-0">
            <a:extLst>
              <a:ext uri="{FF2B5EF4-FFF2-40B4-BE49-F238E27FC236}">
                <a16:creationId xmlns:a16="http://schemas.microsoft.com/office/drawing/2014/main" id="{EE983037-3206-4EB0-9690-D6DC6114C3FC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A878"/>
                </a:solidFill>
              </a:defRPr>
            </a:pPr>
            <a:r>
              <a:rPr sz="1200" b="1">
                <a:solidFill>
                  <a:srgbClr val="00A878"/>
                </a:solidFill>
              </a:rPr>
              <a:t>출발 전</a:t>
            </a:r>
          </a:p>
        </p:txBody>
      </p:sp>
      <p:sp>
        <p:nvSpPr>
          <p:cNvPr id="12" name="need-title-0">
            <a:extLst>
              <a:ext uri="{FF2B5EF4-FFF2-40B4-BE49-F238E27FC236}">
                <a16:creationId xmlns:a16="http://schemas.microsoft.com/office/drawing/2014/main" id="{9C706FD4-637A-4F94-9375-1372F81509C4}"/>
              </a:ext>
            </a:extLst>
          </p:cNvPr>
          <p:cNvSpPr>
            <a:spLocks noGrp="1"/>
          </p:cNvSpPr>
          <p:nvPr/>
        </p:nvSpPr>
        <p:spPr>
          <a:xfrm>
            <a:off x="742950" y="43624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안전 경로 비교</a:t>
            </a:r>
          </a:p>
        </p:txBody>
      </p:sp>
      <p:sp>
        <p:nvSpPr>
          <p:cNvPr id="13" name="need-desc-0">
            <a:extLst>
              <a:ext uri="{FF2B5EF4-FFF2-40B4-BE49-F238E27FC236}">
                <a16:creationId xmlns:a16="http://schemas.microsoft.com/office/drawing/2014/main" id="{F2CB1212-0221-4881-B9A3-E88FFD50766E}"/>
              </a:ext>
            </a:extLst>
          </p:cNvPr>
          <p:cNvSpPr>
            <a:spLocks noGrp="1"/>
          </p:cNvSpPr>
          <p:nvPr/>
        </p:nvSpPr>
        <p:spPr>
          <a:xfrm>
            <a:off x="742950" y="50482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최단거리와 안전한 길의</a:t>
            </a:r>
          </a:p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차이를 확인</a:t>
            </a:r>
          </a:p>
        </p:txBody>
      </p:sp>
      <p:sp>
        <p:nvSpPr>
          <p:cNvPr id="14" name="need-node-1">
            <a:extLst>
              <a:ext uri="{FF2B5EF4-FFF2-40B4-BE49-F238E27FC236}">
                <a16:creationId xmlns:a16="http://schemas.microsoft.com/office/drawing/2014/main" id="{34DAA807-C4F9-495F-A6F9-218C2CBC34C7}"/>
              </a:ext>
            </a:extLst>
          </p:cNvPr>
          <p:cNvSpPr>
            <a:spLocks noGrp="1"/>
          </p:cNvSpPr>
          <p:nvPr/>
        </p:nvSpPr>
        <p:spPr>
          <a:xfrm>
            <a:off x="5048250" y="3009900"/>
            <a:ext cx="495300" cy="495300"/>
          </a:xfrm>
          <a:prstGeom prst="rect">
            <a:avLst/>
          </a:prstGeom>
          <a:solidFill>
            <a:srgbClr val="F7F5F0"/>
          </a:solidFill>
          <a:ln w="19050">
            <a:solidFill>
              <a:srgbClr val="4775E8"/>
            </a:solidFill>
            <a:prstDash val="solid"/>
          </a:ln>
        </p:spPr>
      </p:sp>
      <p:sp>
        <p:nvSpPr>
          <p:cNvPr id="15" name="need-node-text-1">
            <a:extLst>
              <a:ext uri="{FF2B5EF4-FFF2-40B4-BE49-F238E27FC236}">
                <a16:creationId xmlns:a16="http://schemas.microsoft.com/office/drawing/2014/main" id="{6473936B-C381-4B96-8E59-31930534D103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4775E8"/>
                </a:solidFill>
              </a:defRPr>
            </a:pPr>
            <a:r>
              <a:rPr sz="1125" b="1">
                <a:solidFill>
                  <a:srgbClr val="4775E8"/>
                </a:solidFill>
              </a:rPr>
              <a:t>02</a:t>
            </a:r>
          </a:p>
        </p:txBody>
      </p:sp>
      <p:sp>
        <p:nvSpPr>
          <p:cNvPr id="16" name="need-phase-1">
            <a:extLst>
              <a:ext uri="{FF2B5EF4-FFF2-40B4-BE49-F238E27FC236}">
                <a16:creationId xmlns:a16="http://schemas.microsoft.com/office/drawing/2014/main" id="{792C8D61-529D-4261-A205-C306ABDB2CF8}"/>
              </a:ext>
            </a:extLst>
          </p:cNvPr>
          <p:cNvSpPr>
            <a:spLocks noGrp="1"/>
          </p:cNvSpPr>
          <p:nvPr/>
        </p:nvSpPr>
        <p:spPr>
          <a:xfrm>
            <a:off x="5048250" y="38576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775E8"/>
                </a:solidFill>
              </a:defRPr>
            </a:pPr>
            <a:r>
              <a:rPr sz="1200" b="1">
                <a:solidFill>
                  <a:srgbClr val="4775E8"/>
                </a:solidFill>
              </a:rPr>
              <a:t>이동 중</a:t>
            </a:r>
          </a:p>
        </p:txBody>
      </p:sp>
      <p:sp>
        <p:nvSpPr>
          <p:cNvPr id="17" name="need-title-1">
            <a:extLst>
              <a:ext uri="{FF2B5EF4-FFF2-40B4-BE49-F238E27FC236}">
                <a16:creationId xmlns:a16="http://schemas.microsoft.com/office/drawing/2014/main" id="{EA1BA37B-6658-47AC-9533-714F06EC6CC0}"/>
              </a:ext>
            </a:extLst>
          </p:cNvPr>
          <p:cNvSpPr>
            <a:spLocks noGrp="1"/>
          </p:cNvSpPr>
          <p:nvPr/>
        </p:nvSpPr>
        <p:spPr>
          <a:xfrm>
            <a:off x="5048250" y="43624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안전시설 확인</a:t>
            </a:r>
          </a:p>
        </p:txBody>
      </p:sp>
      <p:sp>
        <p:nvSpPr>
          <p:cNvPr id="18" name="need-desc-1">
            <a:extLst>
              <a:ext uri="{FF2B5EF4-FFF2-40B4-BE49-F238E27FC236}">
                <a16:creationId xmlns:a16="http://schemas.microsoft.com/office/drawing/2014/main" id="{CD7DDF68-8C5D-416B-B092-5883E803EFB3}"/>
              </a:ext>
            </a:extLst>
          </p:cNvPr>
          <p:cNvSpPr>
            <a:spLocks noGrp="1"/>
          </p:cNvSpPr>
          <p:nvPr/>
        </p:nvSpPr>
        <p:spPr>
          <a:xfrm>
            <a:off x="5048250" y="50482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CCTV·가로등·비상벨을</a:t>
            </a:r>
          </a:p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한 화면에서 확인</a:t>
            </a:r>
          </a:p>
        </p:txBody>
      </p:sp>
      <p:sp>
        <p:nvSpPr>
          <p:cNvPr id="19" name="need-node-2">
            <a:extLst>
              <a:ext uri="{FF2B5EF4-FFF2-40B4-BE49-F238E27FC236}">
                <a16:creationId xmlns:a16="http://schemas.microsoft.com/office/drawing/2014/main" id="{1A34D0D2-E8B2-4337-B1DA-7EEA0F830C4F}"/>
              </a:ext>
            </a:extLst>
          </p:cNvPr>
          <p:cNvSpPr>
            <a:spLocks noGrp="1"/>
          </p:cNvSpPr>
          <p:nvPr/>
        </p:nvSpPr>
        <p:spPr>
          <a:xfrm>
            <a:off x="9353550" y="3009900"/>
            <a:ext cx="495300" cy="495300"/>
          </a:xfrm>
          <a:prstGeom prst="rect">
            <a:avLst/>
          </a:prstGeom>
          <a:solidFill>
            <a:srgbClr val="F7F5F0"/>
          </a:solidFill>
          <a:ln w="19050">
            <a:solidFill>
              <a:srgbClr val="FF704D"/>
            </a:solidFill>
            <a:prstDash val="solid"/>
          </a:ln>
        </p:spPr>
      </p:sp>
      <p:sp>
        <p:nvSpPr>
          <p:cNvPr id="20" name="need-node-text-2">
            <a:extLst>
              <a:ext uri="{FF2B5EF4-FFF2-40B4-BE49-F238E27FC236}">
                <a16:creationId xmlns:a16="http://schemas.microsoft.com/office/drawing/2014/main" id="{DB862620-132F-441C-81AA-E0B7EF7571AA}"/>
              </a:ext>
            </a:extLst>
          </p:cNvPr>
          <p:cNvSpPr>
            <a:spLocks noGrp="1"/>
          </p:cNvSpPr>
          <p:nvPr/>
        </p:nvSpPr>
        <p:spPr>
          <a:xfrm>
            <a:off x="9410700" y="3105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03</a:t>
            </a:r>
          </a:p>
        </p:txBody>
      </p:sp>
      <p:sp>
        <p:nvSpPr>
          <p:cNvPr id="21" name="need-phase-2">
            <a:extLst>
              <a:ext uri="{FF2B5EF4-FFF2-40B4-BE49-F238E27FC236}">
                <a16:creationId xmlns:a16="http://schemas.microsoft.com/office/drawing/2014/main" id="{B1843AB0-50B2-45A9-BC87-17E626C8B51F}"/>
              </a:ext>
            </a:extLst>
          </p:cNvPr>
          <p:cNvSpPr>
            <a:spLocks noGrp="1"/>
          </p:cNvSpPr>
          <p:nvPr/>
        </p:nvSpPr>
        <p:spPr>
          <a:xfrm>
            <a:off x="9353550" y="38576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704D"/>
                </a:solidFill>
              </a:defRPr>
            </a:pPr>
            <a:r>
              <a:rPr sz="1200" b="1">
                <a:solidFill>
                  <a:srgbClr val="FF704D"/>
                </a:solidFill>
              </a:rPr>
              <a:t>위험 전</a:t>
            </a:r>
          </a:p>
        </p:txBody>
      </p:sp>
      <p:sp>
        <p:nvSpPr>
          <p:cNvPr id="22" name="need-title-2">
            <a:extLst>
              <a:ext uri="{FF2B5EF4-FFF2-40B4-BE49-F238E27FC236}">
                <a16:creationId xmlns:a16="http://schemas.microsoft.com/office/drawing/2014/main" id="{BC55775D-64A7-4DA9-87E6-8B3373048F7D}"/>
              </a:ext>
            </a:extLst>
          </p:cNvPr>
          <p:cNvSpPr>
            <a:spLocks noGrp="1"/>
          </p:cNvSpPr>
          <p:nvPr/>
        </p:nvSpPr>
        <p:spPr>
          <a:xfrm>
            <a:off x="9353550" y="43624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사전 알림</a:t>
            </a:r>
          </a:p>
        </p:txBody>
      </p:sp>
      <p:sp>
        <p:nvSpPr>
          <p:cNvPr id="23" name="need-desc-2">
            <a:extLst>
              <a:ext uri="{FF2B5EF4-FFF2-40B4-BE49-F238E27FC236}">
                <a16:creationId xmlns:a16="http://schemas.microsoft.com/office/drawing/2014/main" id="{F2DB0B9F-1E50-4642-93BD-A7E44870177C}"/>
              </a:ext>
            </a:extLst>
          </p:cNvPr>
          <p:cNvSpPr>
            <a:spLocks noGrp="1"/>
          </p:cNvSpPr>
          <p:nvPr/>
        </p:nvSpPr>
        <p:spPr>
          <a:xfrm>
            <a:off x="9353550" y="50482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사각지대·취약구간 진입 전</a:t>
            </a:r>
          </a:p>
          <a:p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대체 경로 안내</a:t>
            </a:r>
          </a:p>
        </p:txBody>
      </p:sp>
      <p:sp>
        <p:nvSpPr>
          <p:cNvPr id="24" name="needs-close">
            <a:extLst>
              <a:ext uri="{FF2B5EF4-FFF2-40B4-BE49-F238E27FC236}">
                <a16:creationId xmlns:a16="http://schemas.microsoft.com/office/drawing/2014/main" id="{CD1A3258-315E-48C2-81D2-32D3379A51FF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1190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A878"/>
                </a:solidFill>
              </a:defRPr>
            </a:pPr>
            <a:r>
              <a:rPr sz="1875" b="1">
                <a:solidFill>
                  <a:srgbClr val="00A878"/>
                </a:solidFill>
              </a:rPr>
              <a:t>LocalHub는 이 세 가지 판단 순간을 하나의 화면에서 지원합니다.</a:t>
            </a:r>
          </a:p>
        </p:txBody>
      </p:sp>
    </p:spTree>
    <p:extLst>
      <p:ext uri="{BB962C8B-B14F-4D97-AF65-F5344CB8AC3E}">
        <p14:creationId xmlns:p14="http://schemas.microsoft.com/office/powerpoint/2010/main" val="759453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ackground-9">
            <a:extLst>
              <a:ext uri="{FF2B5EF4-FFF2-40B4-BE49-F238E27FC236}">
                <a16:creationId xmlns:a16="http://schemas.microsoft.com/office/drawing/2014/main" id="{1CD0DD2B-7066-4887-BB37-C011824647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2F5FF"/>
          </a:solidFill>
          <a:ln w="0">
            <a:solidFill>
              <a:srgbClr val="F2F5FF"/>
            </a:solidFill>
            <a:prstDash val="solid"/>
          </a:ln>
        </p:spPr>
      </p:sp>
      <p:sp>
        <p:nvSpPr>
          <p:cNvPr id="2" name="section-9">
            <a:extLst>
              <a:ext uri="{FF2B5EF4-FFF2-40B4-BE49-F238E27FC236}">
                <a16:creationId xmlns:a16="http://schemas.microsoft.com/office/drawing/2014/main" id="{21CB19B0-95A9-45F9-BD73-F8420371C55C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DX · KEY ACCELERATORS</a:t>
            </a:r>
          </a:p>
        </p:txBody>
      </p:sp>
      <p:sp>
        <p:nvSpPr>
          <p:cNvPr id="3" name="header-line-9">
            <a:extLst>
              <a:ext uri="{FF2B5EF4-FFF2-40B4-BE49-F238E27FC236}">
                <a16:creationId xmlns:a16="http://schemas.microsoft.com/office/drawing/2014/main" id="{CA71E032-FF9A-4A84-BD90-A497DB7B0D74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9">
            <a:extLst>
              <a:ext uri="{FF2B5EF4-FFF2-40B4-BE49-F238E27FC236}">
                <a16:creationId xmlns:a16="http://schemas.microsoft.com/office/drawing/2014/main" id="{D5456E7B-B319-478A-A126-3D8CEEA1F8D1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5" name="title-9">
            <a:extLst>
              <a:ext uri="{FF2B5EF4-FFF2-40B4-BE49-F238E27FC236}">
                <a16:creationId xmlns:a16="http://schemas.microsoft.com/office/drawing/2014/main" id="{4006530D-CBD7-4EC5-BF18-D47CFD313AA0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세 가지 고객 요구를 아홉 개 기능으로 구현했습니다</a:t>
            </a:r>
          </a:p>
        </p:txBody>
      </p:sp>
      <p:sp>
        <p:nvSpPr>
          <p:cNvPr id="6" name="page-9">
            <a:extLst>
              <a:ext uri="{FF2B5EF4-FFF2-40B4-BE49-F238E27FC236}">
                <a16:creationId xmlns:a16="http://schemas.microsoft.com/office/drawing/2014/main" id="{B651CC84-A031-4699-8F7B-6D92ABB43648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09</a:t>
            </a:r>
          </a:p>
        </p:txBody>
      </p:sp>
      <p:sp>
        <p:nvSpPr>
          <p:cNvPr id="7" name="dx-key-0">
            <a:extLst>
              <a:ext uri="{FF2B5EF4-FFF2-40B4-BE49-F238E27FC236}">
                <a16:creationId xmlns:a16="http://schemas.microsoft.com/office/drawing/2014/main" id="{5B835539-A7BF-469C-984E-4362AE40C0E7}"/>
              </a:ext>
            </a:extLst>
          </p:cNvPr>
          <p:cNvSpPr>
            <a:spLocks noGrp="1"/>
          </p:cNvSpPr>
          <p:nvPr/>
        </p:nvSpPr>
        <p:spPr>
          <a:xfrm>
            <a:off x="590550" y="17621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A878"/>
                </a:solidFill>
              </a:defRPr>
            </a:pPr>
            <a:r>
              <a:rPr sz="1950" b="1">
                <a:solidFill>
                  <a:srgbClr val="00A878"/>
                </a:solidFill>
              </a:rPr>
              <a:t>SEE</a:t>
            </a:r>
          </a:p>
        </p:txBody>
      </p:sp>
      <p:sp>
        <p:nvSpPr>
          <p:cNvPr id="8" name="dx-title-0">
            <a:extLst>
              <a:ext uri="{FF2B5EF4-FFF2-40B4-BE49-F238E27FC236}">
                <a16:creationId xmlns:a16="http://schemas.microsoft.com/office/drawing/2014/main" id="{CE423F23-36B0-4C9A-950D-FC63305ECED1}"/>
              </a:ext>
            </a:extLst>
          </p:cNvPr>
          <p:cNvSpPr>
            <a:spLocks noGrp="1"/>
          </p:cNvSpPr>
          <p:nvPr/>
        </p:nvSpPr>
        <p:spPr>
          <a:xfrm>
            <a:off x="590550" y="2362200"/>
            <a:ext cx="361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안전정보 시각화</a:t>
            </a:r>
          </a:p>
        </p:txBody>
      </p:sp>
      <p:sp>
        <p:nvSpPr>
          <p:cNvPr id="9" name="dx-accent-0">
            <a:extLst>
              <a:ext uri="{FF2B5EF4-FFF2-40B4-BE49-F238E27FC236}">
                <a16:creationId xmlns:a16="http://schemas.microsoft.com/office/drawing/2014/main" id="{1B91EF5C-96B7-4754-856D-72391AA9C9BD}"/>
              </a:ext>
            </a:extLst>
          </p:cNvPr>
          <p:cNvSpPr>
            <a:spLocks noGrp="1"/>
          </p:cNvSpPr>
          <p:nvPr/>
        </p:nvSpPr>
        <p:spPr>
          <a:xfrm>
            <a:off x="590550" y="3048000"/>
            <a:ext cx="361950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10" name="dx-index-0-0">
            <a:extLst>
              <a:ext uri="{FF2B5EF4-FFF2-40B4-BE49-F238E27FC236}">
                <a16:creationId xmlns:a16="http://schemas.microsoft.com/office/drawing/2014/main" id="{7F2E7D4E-DCD7-49AE-AA9E-79841A599C0C}"/>
              </a:ext>
            </a:extLst>
          </p:cNvPr>
          <p:cNvSpPr>
            <a:spLocks noGrp="1"/>
          </p:cNvSpPr>
          <p:nvPr/>
        </p:nvSpPr>
        <p:spPr>
          <a:xfrm>
            <a:off x="590550" y="34766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1" name="dx-item-0-0">
            <a:extLst>
              <a:ext uri="{FF2B5EF4-FFF2-40B4-BE49-F238E27FC236}">
                <a16:creationId xmlns:a16="http://schemas.microsoft.com/office/drawing/2014/main" id="{AB54A0E4-F6D1-4480-9C3B-C9FB000B2228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CCTV 공공데이터 활용</a:t>
            </a:r>
          </a:p>
        </p:txBody>
      </p:sp>
      <p:sp>
        <p:nvSpPr>
          <p:cNvPr id="12" name="dx-index-0-1">
            <a:extLst>
              <a:ext uri="{FF2B5EF4-FFF2-40B4-BE49-F238E27FC236}">
                <a16:creationId xmlns:a16="http://schemas.microsoft.com/office/drawing/2014/main" id="{F67DF194-ABB3-4A47-8EF5-7610958EC600}"/>
              </a:ext>
            </a:extLst>
          </p:cNvPr>
          <p:cNvSpPr>
            <a:spLocks noGrp="1"/>
          </p:cNvSpPr>
          <p:nvPr/>
        </p:nvSpPr>
        <p:spPr>
          <a:xfrm>
            <a:off x="590550" y="41624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13" name="dx-item-0-1">
            <a:extLst>
              <a:ext uri="{FF2B5EF4-FFF2-40B4-BE49-F238E27FC236}">
                <a16:creationId xmlns:a16="http://schemas.microsoft.com/office/drawing/2014/main" id="{7C356C22-210C-4196-8515-55CFBCD4EF43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안전지역 히트맵</a:t>
            </a:r>
          </a:p>
        </p:txBody>
      </p:sp>
      <p:sp>
        <p:nvSpPr>
          <p:cNvPr id="14" name="dx-index-0-2">
            <a:extLst>
              <a:ext uri="{FF2B5EF4-FFF2-40B4-BE49-F238E27FC236}">
                <a16:creationId xmlns:a16="http://schemas.microsoft.com/office/drawing/2014/main" id="{9A354D96-6D70-4039-A9ED-DD1EC8AF6313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15" name="dx-item-0-2">
            <a:extLst>
              <a:ext uri="{FF2B5EF4-FFF2-40B4-BE49-F238E27FC236}">
                <a16:creationId xmlns:a16="http://schemas.microsoft.com/office/drawing/2014/main" id="{B4C30BC7-7E58-41AE-9947-DB8B6BFF6D1E}"/>
              </a:ext>
            </a:extLst>
          </p:cNvPr>
          <p:cNvSpPr>
            <a:spLocks noGrp="1"/>
          </p:cNvSpPr>
          <p:nvPr/>
        </p:nvSpPr>
        <p:spPr>
          <a:xfrm>
            <a:off x="1066800" y="48006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경찰시설 위치·지역 안전도</a:t>
            </a:r>
          </a:p>
        </p:txBody>
      </p:sp>
      <p:sp>
        <p:nvSpPr>
          <p:cNvPr id="16" name="dx-note-0">
            <a:extLst>
              <a:ext uri="{FF2B5EF4-FFF2-40B4-BE49-F238E27FC236}">
                <a16:creationId xmlns:a16="http://schemas.microsoft.com/office/drawing/2014/main" id="{7065AA4A-6492-4512-97A9-7C03B1653B55}"/>
              </a:ext>
            </a:extLst>
          </p:cNvPr>
          <p:cNvSpPr>
            <a:spLocks noGrp="1"/>
          </p:cNvSpPr>
          <p:nvPr/>
        </p:nvSpPr>
        <p:spPr>
          <a:xfrm>
            <a:off x="590550" y="57150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2706B"/>
                </a:solidFill>
              </a:defRPr>
            </a:pPr>
            <a:r>
              <a:rPr sz="1125" b="0">
                <a:solidFill>
                  <a:srgbClr val="62706B"/>
                </a:solidFill>
              </a:rPr>
              <a:t>지금 주변이 얼마나 안전한지 확인</a:t>
            </a:r>
          </a:p>
        </p:txBody>
      </p:sp>
      <p:sp>
        <p:nvSpPr>
          <p:cNvPr id="17" name="dx-divider-1">
            <a:extLst>
              <a:ext uri="{FF2B5EF4-FFF2-40B4-BE49-F238E27FC236}">
                <a16:creationId xmlns:a16="http://schemas.microsoft.com/office/drawing/2014/main" id="{17E22533-AE1F-4889-9AAE-C2740B9587F9}"/>
              </a:ext>
            </a:extLst>
          </p:cNvPr>
          <p:cNvSpPr>
            <a:spLocks noGrp="1"/>
          </p:cNvSpPr>
          <p:nvPr/>
        </p:nvSpPr>
        <p:spPr>
          <a:xfrm>
            <a:off x="4514850" y="1905000"/>
            <a:ext cx="9525" cy="419100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8" name="dx-key-1">
            <a:extLst>
              <a:ext uri="{FF2B5EF4-FFF2-40B4-BE49-F238E27FC236}">
                <a16:creationId xmlns:a16="http://schemas.microsoft.com/office/drawing/2014/main" id="{CC41116C-DD62-49C1-9BF8-8B404FCCD080}"/>
              </a:ext>
            </a:extLst>
          </p:cNvPr>
          <p:cNvSpPr>
            <a:spLocks noGrp="1"/>
          </p:cNvSpPr>
          <p:nvPr/>
        </p:nvSpPr>
        <p:spPr>
          <a:xfrm>
            <a:off x="4781550" y="17621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F704D"/>
                </a:solidFill>
              </a:defRPr>
            </a:pPr>
            <a:r>
              <a:rPr sz="1950" b="1">
                <a:solidFill>
                  <a:srgbClr val="FF704D"/>
                </a:solidFill>
              </a:rPr>
              <a:t>GUIDE</a:t>
            </a:r>
          </a:p>
        </p:txBody>
      </p:sp>
      <p:sp>
        <p:nvSpPr>
          <p:cNvPr id="19" name="dx-title-1">
            <a:extLst>
              <a:ext uri="{FF2B5EF4-FFF2-40B4-BE49-F238E27FC236}">
                <a16:creationId xmlns:a16="http://schemas.microsoft.com/office/drawing/2014/main" id="{9D772FD2-1175-4F89-AF91-5EBE5CDAB880}"/>
              </a:ext>
            </a:extLst>
          </p:cNvPr>
          <p:cNvSpPr>
            <a:spLocks noGrp="1"/>
          </p:cNvSpPr>
          <p:nvPr/>
        </p:nvSpPr>
        <p:spPr>
          <a:xfrm>
            <a:off x="4781550" y="2362200"/>
            <a:ext cx="361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안전귀가 안내</a:t>
            </a:r>
          </a:p>
        </p:txBody>
      </p:sp>
      <p:sp>
        <p:nvSpPr>
          <p:cNvPr id="20" name="dx-accent-1">
            <a:extLst>
              <a:ext uri="{FF2B5EF4-FFF2-40B4-BE49-F238E27FC236}">
                <a16:creationId xmlns:a16="http://schemas.microsoft.com/office/drawing/2014/main" id="{D9FCBF1A-1360-40FD-99E1-6D77FAA3B9AF}"/>
              </a:ext>
            </a:extLst>
          </p:cNvPr>
          <p:cNvSpPr>
            <a:spLocks noGrp="1"/>
          </p:cNvSpPr>
          <p:nvPr/>
        </p:nvSpPr>
        <p:spPr>
          <a:xfrm>
            <a:off x="4781550" y="3048000"/>
            <a:ext cx="3619500" cy="38100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21" name="dx-index-1-0">
            <a:extLst>
              <a:ext uri="{FF2B5EF4-FFF2-40B4-BE49-F238E27FC236}">
                <a16:creationId xmlns:a16="http://schemas.microsoft.com/office/drawing/2014/main" id="{77562BE8-6959-4808-B9CC-C42120866655}"/>
              </a:ext>
            </a:extLst>
          </p:cNvPr>
          <p:cNvSpPr>
            <a:spLocks noGrp="1"/>
          </p:cNvSpPr>
          <p:nvPr/>
        </p:nvSpPr>
        <p:spPr>
          <a:xfrm>
            <a:off x="4781550" y="34766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01</a:t>
            </a:r>
          </a:p>
        </p:txBody>
      </p:sp>
      <p:sp>
        <p:nvSpPr>
          <p:cNvPr id="22" name="dx-item-1-0">
            <a:extLst>
              <a:ext uri="{FF2B5EF4-FFF2-40B4-BE49-F238E27FC236}">
                <a16:creationId xmlns:a16="http://schemas.microsoft.com/office/drawing/2014/main" id="{4F410BAA-37AD-48AD-80D8-A895DC278E5D}"/>
              </a:ext>
            </a:extLst>
          </p:cNvPr>
          <p:cNvSpPr>
            <a:spLocks noGrp="1"/>
          </p:cNvSpPr>
          <p:nvPr/>
        </p:nvSpPr>
        <p:spPr>
          <a:xfrm>
            <a:off x="5257800" y="34290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최단경로·안전경로 비교</a:t>
            </a:r>
          </a:p>
        </p:txBody>
      </p:sp>
      <p:sp>
        <p:nvSpPr>
          <p:cNvPr id="23" name="dx-index-1-1">
            <a:extLst>
              <a:ext uri="{FF2B5EF4-FFF2-40B4-BE49-F238E27FC236}">
                <a16:creationId xmlns:a16="http://schemas.microsoft.com/office/drawing/2014/main" id="{E3ABD437-87D8-4C6C-A7D5-F07DADEDD2C8}"/>
              </a:ext>
            </a:extLst>
          </p:cNvPr>
          <p:cNvSpPr>
            <a:spLocks noGrp="1"/>
          </p:cNvSpPr>
          <p:nvPr/>
        </p:nvSpPr>
        <p:spPr>
          <a:xfrm>
            <a:off x="4781550" y="41624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24" name="dx-item-1-1">
            <a:extLst>
              <a:ext uri="{FF2B5EF4-FFF2-40B4-BE49-F238E27FC236}">
                <a16:creationId xmlns:a16="http://schemas.microsoft.com/office/drawing/2014/main" id="{523AC793-38D6-406F-8315-F9F10FBA5A52}"/>
              </a:ext>
            </a:extLst>
          </p:cNvPr>
          <p:cNvSpPr>
            <a:spLocks noGrp="1"/>
          </p:cNvSpPr>
          <p:nvPr/>
        </p:nvSpPr>
        <p:spPr>
          <a:xfrm>
            <a:off x="5257800" y="41148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CCTV 사각지대 위험구간</a:t>
            </a:r>
          </a:p>
        </p:txBody>
      </p:sp>
      <p:sp>
        <p:nvSpPr>
          <p:cNvPr id="25" name="dx-index-1-2">
            <a:extLst>
              <a:ext uri="{FF2B5EF4-FFF2-40B4-BE49-F238E27FC236}">
                <a16:creationId xmlns:a16="http://schemas.microsoft.com/office/drawing/2014/main" id="{0D315E1F-C31B-46E9-AA17-CF0630F1A0E2}"/>
              </a:ext>
            </a:extLst>
          </p:cNvPr>
          <p:cNvSpPr>
            <a:spLocks noGrp="1"/>
          </p:cNvSpPr>
          <p:nvPr/>
        </p:nvSpPr>
        <p:spPr>
          <a:xfrm>
            <a:off x="4781550" y="48482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03</a:t>
            </a:r>
          </a:p>
        </p:txBody>
      </p:sp>
      <p:sp>
        <p:nvSpPr>
          <p:cNvPr id="26" name="dx-item-1-2">
            <a:extLst>
              <a:ext uri="{FF2B5EF4-FFF2-40B4-BE49-F238E27FC236}">
                <a16:creationId xmlns:a16="http://schemas.microsoft.com/office/drawing/2014/main" id="{C8A39888-CF8D-49F3-BAA3-B43E6ACD8E54}"/>
              </a:ext>
            </a:extLst>
          </p:cNvPr>
          <p:cNvSpPr>
            <a:spLocks noGrp="1"/>
          </p:cNvSpPr>
          <p:nvPr/>
        </p:nvSpPr>
        <p:spPr>
          <a:xfrm>
            <a:off x="5257800" y="48006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단계별 세부 길안내</a:t>
            </a:r>
          </a:p>
        </p:txBody>
      </p:sp>
      <p:sp>
        <p:nvSpPr>
          <p:cNvPr id="27" name="dx-note-1">
            <a:extLst>
              <a:ext uri="{FF2B5EF4-FFF2-40B4-BE49-F238E27FC236}">
                <a16:creationId xmlns:a16="http://schemas.microsoft.com/office/drawing/2014/main" id="{D4AA9900-1778-4FAA-9BAA-7A0271528F99}"/>
              </a:ext>
            </a:extLst>
          </p:cNvPr>
          <p:cNvSpPr>
            <a:spLocks noGrp="1"/>
          </p:cNvSpPr>
          <p:nvPr/>
        </p:nvSpPr>
        <p:spPr>
          <a:xfrm>
            <a:off x="4781550" y="57150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2706B"/>
                </a:solidFill>
              </a:defRPr>
            </a:pPr>
            <a:r>
              <a:rPr sz="1125" b="0">
                <a:solidFill>
                  <a:srgbClr val="62706B"/>
                </a:solidFill>
              </a:rPr>
              <a:t>빠른 길과 안전한 길을 근거로 선택</a:t>
            </a:r>
          </a:p>
        </p:txBody>
      </p:sp>
      <p:sp>
        <p:nvSpPr>
          <p:cNvPr id="28" name="dx-divider-2">
            <a:extLst>
              <a:ext uri="{FF2B5EF4-FFF2-40B4-BE49-F238E27FC236}">
                <a16:creationId xmlns:a16="http://schemas.microsoft.com/office/drawing/2014/main" id="{AD6C8B83-141D-45E4-B22F-9D3C86C30607}"/>
              </a:ext>
            </a:extLst>
          </p:cNvPr>
          <p:cNvSpPr>
            <a:spLocks noGrp="1"/>
          </p:cNvSpPr>
          <p:nvPr/>
        </p:nvSpPr>
        <p:spPr>
          <a:xfrm>
            <a:off x="8705850" y="1905000"/>
            <a:ext cx="9525" cy="4191000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9" name="dx-key-2">
            <a:extLst>
              <a:ext uri="{FF2B5EF4-FFF2-40B4-BE49-F238E27FC236}">
                <a16:creationId xmlns:a16="http://schemas.microsoft.com/office/drawing/2014/main" id="{71953440-478A-4631-80E4-68607CD75756}"/>
              </a:ext>
            </a:extLst>
          </p:cNvPr>
          <p:cNvSpPr>
            <a:spLocks noGrp="1"/>
          </p:cNvSpPr>
          <p:nvPr/>
        </p:nvSpPr>
        <p:spPr>
          <a:xfrm>
            <a:off x="8972550" y="17621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4775E8"/>
                </a:solidFill>
              </a:defRPr>
            </a:pPr>
            <a:r>
              <a:rPr sz="1950" b="1">
                <a:solidFill>
                  <a:srgbClr val="4775E8"/>
                </a:solidFill>
              </a:rPr>
              <a:t>SHARE</a:t>
            </a:r>
          </a:p>
        </p:txBody>
      </p:sp>
      <p:sp>
        <p:nvSpPr>
          <p:cNvPr id="30" name="dx-title-2">
            <a:extLst>
              <a:ext uri="{FF2B5EF4-FFF2-40B4-BE49-F238E27FC236}">
                <a16:creationId xmlns:a16="http://schemas.microsoft.com/office/drawing/2014/main" id="{640B0181-4372-4193-BD66-4A77FF9CF528}"/>
              </a:ext>
            </a:extLst>
          </p:cNvPr>
          <p:cNvSpPr>
            <a:spLocks noGrp="1"/>
          </p:cNvSpPr>
          <p:nvPr/>
        </p:nvSpPr>
        <p:spPr>
          <a:xfrm>
            <a:off x="8972550" y="2362200"/>
            <a:ext cx="361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실시간 정보 공유</a:t>
            </a:r>
          </a:p>
        </p:txBody>
      </p:sp>
      <p:sp>
        <p:nvSpPr>
          <p:cNvPr id="31" name="dx-accent-2">
            <a:extLst>
              <a:ext uri="{FF2B5EF4-FFF2-40B4-BE49-F238E27FC236}">
                <a16:creationId xmlns:a16="http://schemas.microsoft.com/office/drawing/2014/main" id="{CE24FB23-C6AF-4836-BF7E-BAD5D9820A47}"/>
              </a:ext>
            </a:extLst>
          </p:cNvPr>
          <p:cNvSpPr>
            <a:spLocks noGrp="1"/>
          </p:cNvSpPr>
          <p:nvPr/>
        </p:nvSpPr>
        <p:spPr>
          <a:xfrm>
            <a:off x="8972550" y="3048000"/>
            <a:ext cx="3619500" cy="38100"/>
          </a:xfrm>
          <a:prstGeom prst="rect">
            <a:avLst/>
          </a:prstGeom>
          <a:solidFill>
            <a:srgbClr val="4775E8"/>
          </a:solidFill>
          <a:ln w="0">
            <a:solidFill>
              <a:srgbClr val="4775E8"/>
            </a:solidFill>
            <a:prstDash val="solid"/>
          </a:ln>
        </p:spPr>
      </p:sp>
      <p:sp>
        <p:nvSpPr>
          <p:cNvPr id="32" name="dx-index-2-0">
            <a:extLst>
              <a:ext uri="{FF2B5EF4-FFF2-40B4-BE49-F238E27FC236}">
                <a16:creationId xmlns:a16="http://schemas.microsoft.com/office/drawing/2014/main" id="{9CD7B6B5-0751-4D23-8048-B1084DB9774C}"/>
              </a:ext>
            </a:extLst>
          </p:cNvPr>
          <p:cNvSpPr>
            <a:spLocks noGrp="1"/>
          </p:cNvSpPr>
          <p:nvPr/>
        </p:nvSpPr>
        <p:spPr>
          <a:xfrm>
            <a:off x="8972550" y="34766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01</a:t>
            </a:r>
          </a:p>
        </p:txBody>
      </p:sp>
      <p:sp>
        <p:nvSpPr>
          <p:cNvPr id="33" name="dx-item-2-0">
            <a:extLst>
              <a:ext uri="{FF2B5EF4-FFF2-40B4-BE49-F238E27FC236}">
                <a16:creationId xmlns:a16="http://schemas.microsoft.com/office/drawing/2014/main" id="{4709164E-D84F-4D4D-BB1C-49E36D1A96A0}"/>
              </a:ext>
            </a:extLst>
          </p:cNvPr>
          <p:cNvSpPr>
            <a:spLocks noGrp="1"/>
          </p:cNvSpPr>
          <p:nvPr/>
        </p:nvSpPr>
        <p:spPr>
          <a:xfrm>
            <a:off x="9448800" y="34290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범죄정보 챗봇</a:t>
            </a:r>
          </a:p>
        </p:txBody>
      </p:sp>
      <p:sp>
        <p:nvSpPr>
          <p:cNvPr id="34" name="dx-index-2-1">
            <a:extLst>
              <a:ext uri="{FF2B5EF4-FFF2-40B4-BE49-F238E27FC236}">
                <a16:creationId xmlns:a16="http://schemas.microsoft.com/office/drawing/2014/main" id="{690F6B19-AB20-44CA-8172-30518406FDE5}"/>
              </a:ext>
            </a:extLst>
          </p:cNvPr>
          <p:cNvSpPr>
            <a:spLocks noGrp="1"/>
          </p:cNvSpPr>
          <p:nvPr/>
        </p:nvSpPr>
        <p:spPr>
          <a:xfrm>
            <a:off x="8972550" y="41624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02</a:t>
            </a:r>
          </a:p>
        </p:txBody>
      </p:sp>
      <p:sp>
        <p:nvSpPr>
          <p:cNvPr id="35" name="dx-item-2-1">
            <a:extLst>
              <a:ext uri="{FF2B5EF4-FFF2-40B4-BE49-F238E27FC236}">
                <a16:creationId xmlns:a16="http://schemas.microsoft.com/office/drawing/2014/main" id="{8B67D689-356C-4DE0-9987-49746CF5DA49}"/>
              </a:ext>
            </a:extLst>
          </p:cNvPr>
          <p:cNvSpPr>
            <a:spLocks noGrp="1"/>
          </p:cNvSpPr>
          <p:nvPr/>
        </p:nvSpPr>
        <p:spPr>
          <a:xfrm>
            <a:off x="9448800" y="41148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네이버 기사 자동 최신화</a:t>
            </a:r>
          </a:p>
        </p:txBody>
      </p:sp>
      <p:sp>
        <p:nvSpPr>
          <p:cNvPr id="36" name="dx-index-2-2">
            <a:extLst>
              <a:ext uri="{FF2B5EF4-FFF2-40B4-BE49-F238E27FC236}">
                <a16:creationId xmlns:a16="http://schemas.microsoft.com/office/drawing/2014/main" id="{97FFD121-0C9B-4FB4-8566-DC1D4788BA9B}"/>
              </a:ext>
            </a:extLst>
          </p:cNvPr>
          <p:cNvSpPr>
            <a:spLocks noGrp="1"/>
          </p:cNvSpPr>
          <p:nvPr/>
        </p:nvSpPr>
        <p:spPr>
          <a:xfrm>
            <a:off x="8972550" y="48482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03</a:t>
            </a:r>
          </a:p>
        </p:txBody>
      </p:sp>
      <p:sp>
        <p:nvSpPr>
          <p:cNvPr id="37" name="dx-item-2-2">
            <a:extLst>
              <a:ext uri="{FF2B5EF4-FFF2-40B4-BE49-F238E27FC236}">
                <a16:creationId xmlns:a16="http://schemas.microsoft.com/office/drawing/2014/main" id="{73D7314B-6EF7-4017-96A5-BF7780E8463F}"/>
              </a:ext>
            </a:extLst>
          </p:cNvPr>
          <p:cNvSpPr>
            <a:spLocks noGrp="1"/>
          </p:cNvSpPr>
          <p:nvPr/>
        </p:nvSpPr>
        <p:spPr>
          <a:xfrm>
            <a:off x="9448800" y="48006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커뮤니티 위험구간 제보</a:t>
            </a:r>
          </a:p>
        </p:txBody>
      </p:sp>
      <p:sp>
        <p:nvSpPr>
          <p:cNvPr id="38" name="dx-note-2">
            <a:extLst>
              <a:ext uri="{FF2B5EF4-FFF2-40B4-BE49-F238E27FC236}">
                <a16:creationId xmlns:a16="http://schemas.microsoft.com/office/drawing/2014/main" id="{61179494-304D-492F-8360-CB1B1D92520F}"/>
              </a:ext>
            </a:extLst>
          </p:cNvPr>
          <p:cNvSpPr>
            <a:spLocks noGrp="1"/>
          </p:cNvSpPr>
          <p:nvPr/>
        </p:nvSpPr>
        <p:spPr>
          <a:xfrm>
            <a:off x="8972550" y="57150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2706B"/>
                </a:solidFill>
              </a:defRPr>
            </a:pPr>
            <a:r>
              <a:rPr sz="1125" b="0">
                <a:solidFill>
                  <a:srgbClr val="62706B"/>
                </a:solidFill>
              </a:rPr>
              <a:t>공공데이터의 공백을 최신 정보로 보완</a:t>
            </a:r>
          </a:p>
        </p:txBody>
      </p:sp>
      <p:sp>
        <p:nvSpPr>
          <p:cNvPr id="39" name="footer-line-9">
            <a:extLst>
              <a:ext uri="{FF2B5EF4-FFF2-40B4-BE49-F238E27FC236}">
                <a16:creationId xmlns:a16="http://schemas.microsoft.com/office/drawing/2014/main" id="{619A5B2A-3989-4A51-A778-B2019BF7E258}"/>
              </a:ext>
            </a:extLst>
          </p:cNvPr>
          <p:cNvSpPr>
            <a:spLocks noGrp="1"/>
          </p:cNvSpPr>
          <p:nvPr/>
        </p:nvSpPr>
        <p:spPr>
          <a:xfrm>
            <a:off x="590550" y="723900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0" name="footer-9">
            <a:extLst>
              <a:ext uri="{FF2B5EF4-FFF2-40B4-BE49-F238E27FC236}">
                <a16:creationId xmlns:a16="http://schemas.microsoft.com/office/drawing/2014/main" id="{C8E1D91A-B367-46FF-B6F0-84C04383211A}"/>
              </a:ext>
            </a:extLst>
          </p:cNvPr>
          <p:cNvSpPr>
            <a:spLocks noGrp="1"/>
          </p:cNvSpPr>
          <p:nvPr/>
        </p:nvSpPr>
        <p:spPr>
          <a:xfrm>
            <a:off x="590550" y="7353300"/>
            <a:ext cx="1253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공공데이터 · 경로 알고리즘 · 최신 정보 · 주민 제보를 하나의 귀가 경험으로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9560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-10">
            <a:extLst>
              <a:ext uri="{FF2B5EF4-FFF2-40B4-BE49-F238E27FC236}">
                <a16:creationId xmlns:a16="http://schemas.microsoft.com/office/drawing/2014/main" id="{FE7D4F7E-2315-44EE-9175-48A5D52F0E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7F5F0"/>
          </a:solidFill>
          <a:ln w="0">
            <a:solidFill>
              <a:srgbClr val="F7F5F0"/>
            </a:solidFill>
            <a:prstDash val="solid"/>
          </a:ln>
        </p:spPr>
      </p:sp>
      <p:sp>
        <p:nvSpPr>
          <p:cNvPr id="2" name="section-10">
            <a:extLst>
              <a:ext uri="{FF2B5EF4-FFF2-40B4-BE49-F238E27FC236}">
                <a16:creationId xmlns:a16="http://schemas.microsoft.com/office/drawing/2014/main" id="{5B3BF953-3EB2-42B1-B353-77B00DC3E7B1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DX · SAFE ROUTE</a:t>
            </a:r>
          </a:p>
        </p:txBody>
      </p:sp>
      <p:sp>
        <p:nvSpPr>
          <p:cNvPr id="3" name="header-line-10">
            <a:extLst>
              <a:ext uri="{FF2B5EF4-FFF2-40B4-BE49-F238E27FC236}">
                <a16:creationId xmlns:a16="http://schemas.microsoft.com/office/drawing/2014/main" id="{177E4526-110C-4D0B-8786-9E1DF5B24BB9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10">
            <a:extLst>
              <a:ext uri="{FF2B5EF4-FFF2-40B4-BE49-F238E27FC236}">
                <a16:creationId xmlns:a16="http://schemas.microsoft.com/office/drawing/2014/main" id="{55C1388A-2AD1-4F67-85C1-8B8171A7FC6E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5" name="title-10">
            <a:extLst>
              <a:ext uri="{FF2B5EF4-FFF2-40B4-BE49-F238E27FC236}">
                <a16:creationId xmlns:a16="http://schemas.microsoft.com/office/drawing/2014/main" id="{0DAEC3A1-139E-4FF4-8B96-1DD8A464A334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두 경로를 안전점수로 비교합니다</a:t>
            </a:r>
          </a:p>
        </p:txBody>
      </p:sp>
      <p:sp>
        <p:nvSpPr>
          <p:cNvPr id="6" name="page-10">
            <a:extLst>
              <a:ext uri="{FF2B5EF4-FFF2-40B4-BE49-F238E27FC236}">
                <a16:creationId xmlns:a16="http://schemas.microsoft.com/office/drawing/2014/main" id="{ABA69330-A960-4DC4-A285-EA354CC6A7D6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10</a:t>
            </a:r>
          </a:p>
        </p:txBody>
      </p:sp>
      <p:sp>
        <p:nvSpPr>
          <p:cNvPr id="7" name="route-frame">
            <a:extLst>
              <a:ext uri="{FF2B5EF4-FFF2-40B4-BE49-F238E27FC236}">
                <a16:creationId xmlns:a16="http://schemas.microsoft.com/office/drawing/2014/main" id="{D05B2E45-7230-4A52-9415-DF0DCFC0D2EE}"/>
              </a:ext>
            </a:extLst>
          </p:cNvPr>
          <p:cNvSpPr>
            <a:spLocks noGrp="1"/>
          </p:cNvSpPr>
          <p:nvPr/>
        </p:nvSpPr>
        <p:spPr>
          <a:xfrm>
            <a:off x="590550" y="1695450"/>
            <a:ext cx="8858250" cy="5095875"/>
          </a:xfrm>
          <a:prstGeom prst="rect">
            <a:avLst/>
          </a:prstGeom>
          <a:solidFill>
            <a:srgbClr val="FFFFFF"/>
          </a:solidFill>
          <a:ln w="9525">
            <a:solidFill>
              <a:srgbClr val="D2DDD8"/>
            </a:solidFill>
            <a:prstDash val="solid"/>
          </a:ln>
        </p:spPr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rcRect t="5033" b="5033"/>
          <a:stretch>
            <a:fillRect/>
          </a:stretch>
        </p:blipFill>
        <p:spPr>
          <a:xfrm>
            <a:off x="723900" y="1828800"/>
            <a:ext cx="8591550" cy="4829175"/>
          </a:xfrm>
          <a:prstGeom prst="rect">
            <a:avLst/>
          </a:prstGeom>
        </p:spPr>
      </p:pic>
      <p:sp>
        <p:nvSpPr>
          <p:cNvPr id="9" name="route-num-0">
            <a:extLst>
              <a:ext uri="{FF2B5EF4-FFF2-40B4-BE49-F238E27FC236}">
                <a16:creationId xmlns:a16="http://schemas.microsoft.com/office/drawing/2014/main" id="{12867184-C1D7-4BCD-BF33-B11C8E9E48F6}"/>
              </a:ext>
            </a:extLst>
          </p:cNvPr>
          <p:cNvSpPr>
            <a:spLocks noGrp="1"/>
          </p:cNvSpPr>
          <p:nvPr/>
        </p:nvSpPr>
        <p:spPr>
          <a:xfrm>
            <a:off x="9906000" y="18097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0A878"/>
                </a:solidFill>
              </a:defRPr>
            </a:pPr>
            <a:r>
              <a:rPr sz="217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0" name="route-title-0">
            <a:extLst>
              <a:ext uri="{FF2B5EF4-FFF2-40B4-BE49-F238E27FC236}">
                <a16:creationId xmlns:a16="http://schemas.microsoft.com/office/drawing/2014/main" id="{E5815CB5-5625-46C3-AC82-579412DB4DD5}"/>
              </a:ext>
            </a:extLst>
          </p:cNvPr>
          <p:cNvSpPr>
            <a:spLocks noGrp="1"/>
          </p:cNvSpPr>
          <p:nvPr/>
        </p:nvSpPr>
        <p:spPr>
          <a:xfrm>
            <a:off x="10668000" y="1828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31F"/>
                </a:solidFill>
              </a:defRPr>
            </a:pPr>
            <a:r>
              <a:rPr sz="1650" b="1">
                <a:solidFill>
                  <a:srgbClr val="17231F"/>
                </a:solidFill>
              </a:rPr>
              <a:t>히트맵으로 확인</a:t>
            </a:r>
          </a:p>
        </p:txBody>
      </p:sp>
      <p:sp>
        <p:nvSpPr>
          <p:cNvPr id="11" name="route-desc-0">
            <a:extLst>
              <a:ext uri="{FF2B5EF4-FFF2-40B4-BE49-F238E27FC236}">
                <a16:creationId xmlns:a16="http://schemas.microsoft.com/office/drawing/2014/main" id="{327CED02-379B-4FFE-BC6A-5D41188E3C12}"/>
              </a:ext>
            </a:extLst>
          </p:cNvPr>
          <p:cNvSpPr>
            <a:spLocks noGrp="1"/>
          </p:cNvSpPr>
          <p:nvPr/>
        </p:nvSpPr>
        <p:spPr>
          <a:xfrm>
            <a:off x="9906000" y="2333625"/>
            <a:ext cx="314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CCTV·경찰시설 분포를</a:t>
            </a:r>
          </a:p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지도 위 안전도로 시각화</a:t>
            </a:r>
          </a:p>
        </p:txBody>
      </p:sp>
      <p:sp>
        <p:nvSpPr>
          <p:cNvPr id="12" name="route-rule-0">
            <a:extLst>
              <a:ext uri="{FF2B5EF4-FFF2-40B4-BE49-F238E27FC236}">
                <a16:creationId xmlns:a16="http://schemas.microsoft.com/office/drawing/2014/main" id="{A0BC5083-3572-4F3E-A148-4B353E839D1E}"/>
              </a:ext>
            </a:extLst>
          </p:cNvPr>
          <p:cNvSpPr>
            <a:spLocks noGrp="1"/>
          </p:cNvSpPr>
          <p:nvPr/>
        </p:nvSpPr>
        <p:spPr>
          <a:xfrm>
            <a:off x="9906000" y="3048000"/>
            <a:ext cx="314325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3" name="route-num-1">
            <a:extLst>
              <a:ext uri="{FF2B5EF4-FFF2-40B4-BE49-F238E27FC236}">
                <a16:creationId xmlns:a16="http://schemas.microsoft.com/office/drawing/2014/main" id="{0E7D7AC7-4F68-4DBA-B9AE-EB17E03F89BF}"/>
              </a:ext>
            </a:extLst>
          </p:cNvPr>
          <p:cNvSpPr>
            <a:spLocks noGrp="1"/>
          </p:cNvSpPr>
          <p:nvPr/>
        </p:nvSpPr>
        <p:spPr>
          <a:xfrm>
            <a:off x="9906000" y="34861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FF704D"/>
                </a:solidFill>
              </a:defRPr>
            </a:pPr>
            <a:r>
              <a:rPr sz="2175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14" name="route-title-1">
            <a:extLst>
              <a:ext uri="{FF2B5EF4-FFF2-40B4-BE49-F238E27FC236}">
                <a16:creationId xmlns:a16="http://schemas.microsoft.com/office/drawing/2014/main" id="{0C608CD2-CCB5-4D2E-A353-C975A53FDFFC}"/>
              </a:ext>
            </a:extLst>
          </p:cNvPr>
          <p:cNvSpPr>
            <a:spLocks noGrp="1"/>
          </p:cNvSpPr>
          <p:nvPr/>
        </p:nvSpPr>
        <p:spPr>
          <a:xfrm>
            <a:off x="10668000" y="3505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31F"/>
                </a:solidFill>
              </a:defRPr>
            </a:pPr>
            <a:r>
              <a:rPr sz="1650" b="1">
                <a:solidFill>
                  <a:srgbClr val="17231F"/>
                </a:solidFill>
              </a:rPr>
              <a:t>경로를 비교</a:t>
            </a:r>
          </a:p>
        </p:txBody>
      </p:sp>
      <p:sp>
        <p:nvSpPr>
          <p:cNvPr id="15" name="route-desc-1">
            <a:extLst>
              <a:ext uri="{FF2B5EF4-FFF2-40B4-BE49-F238E27FC236}">
                <a16:creationId xmlns:a16="http://schemas.microsoft.com/office/drawing/2014/main" id="{A6551D20-A7EF-46A9-8647-ABB746CCDF7D}"/>
              </a:ext>
            </a:extLst>
          </p:cNvPr>
          <p:cNvSpPr>
            <a:spLocks noGrp="1"/>
          </p:cNvSpPr>
          <p:nvPr/>
        </p:nvSpPr>
        <p:spPr>
          <a:xfrm>
            <a:off x="9906000" y="4010025"/>
            <a:ext cx="314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최단 95분 · 안전 47점</a:t>
            </a:r>
          </a:p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안전경로 99분 · 안전 80점</a:t>
            </a:r>
          </a:p>
        </p:txBody>
      </p:sp>
      <p:sp>
        <p:nvSpPr>
          <p:cNvPr id="16" name="route-rule-1">
            <a:extLst>
              <a:ext uri="{FF2B5EF4-FFF2-40B4-BE49-F238E27FC236}">
                <a16:creationId xmlns:a16="http://schemas.microsoft.com/office/drawing/2014/main" id="{6A620066-3766-4DDD-B83D-D4E2E4D5ED59}"/>
              </a:ext>
            </a:extLst>
          </p:cNvPr>
          <p:cNvSpPr>
            <a:spLocks noGrp="1"/>
          </p:cNvSpPr>
          <p:nvPr/>
        </p:nvSpPr>
        <p:spPr>
          <a:xfrm>
            <a:off x="9906000" y="4724400"/>
            <a:ext cx="314325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7" name="route-num-2">
            <a:extLst>
              <a:ext uri="{FF2B5EF4-FFF2-40B4-BE49-F238E27FC236}">
                <a16:creationId xmlns:a16="http://schemas.microsoft.com/office/drawing/2014/main" id="{D0FDE8A2-5C5D-4E21-8ADE-EBC4070631EB}"/>
              </a:ext>
            </a:extLst>
          </p:cNvPr>
          <p:cNvSpPr>
            <a:spLocks noGrp="1"/>
          </p:cNvSpPr>
          <p:nvPr/>
        </p:nvSpPr>
        <p:spPr>
          <a:xfrm>
            <a:off x="9906000" y="51625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4775E8"/>
                </a:solidFill>
              </a:defRPr>
            </a:pPr>
            <a:r>
              <a:rPr sz="2175" b="1">
                <a:solidFill>
                  <a:srgbClr val="4775E8"/>
                </a:solidFill>
              </a:rPr>
              <a:t>03</a:t>
            </a:r>
          </a:p>
        </p:txBody>
      </p:sp>
      <p:sp>
        <p:nvSpPr>
          <p:cNvPr id="18" name="route-title-2">
            <a:extLst>
              <a:ext uri="{FF2B5EF4-FFF2-40B4-BE49-F238E27FC236}">
                <a16:creationId xmlns:a16="http://schemas.microsoft.com/office/drawing/2014/main" id="{092F2D9C-D45F-49BF-8511-5E5288EB8A86}"/>
              </a:ext>
            </a:extLst>
          </p:cNvPr>
          <p:cNvSpPr>
            <a:spLocks noGrp="1"/>
          </p:cNvSpPr>
          <p:nvPr/>
        </p:nvSpPr>
        <p:spPr>
          <a:xfrm>
            <a:off x="10668000" y="5181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31F"/>
                </a:solidFill>
              </a:defRPr>
            </a:pPr>
            <a:r>
              <a:rPr sz="1650" b="1">
                <a:solidFill>
                  <a:srgbClr val="17231F"/>
                </a:solidFill>
              </a:rPr>
              <a:t>위험구간 안내</a:t>
            </a:r>
          </a:p>
        </p:txBody>
      </p:sp>
      <p:sp>
        <p:nvSpPr>
          <p:cNvPr id="19" name="route-desc-2">
            <a:extLst>
              <a:ext uri="{FF2B5EF4-FFF2-40B4-BE49-F238E27FC236}">
                <a16:creationId xmlns:a16="http://schemas.microsoft.com/office/drawing/2014/main" id="{F997236A-03B3-47D8-9266-C69E43C93D7A}"/>
              </a:ext>
            </a:extLst>
          </p:cNvPr>
          <p:cNvSpPr>
            <a:spLocks noGrp="1"/>
          </p:cNvSpPr>
          <p:nvPr/>
        </p:nvSpPr>
        <p:spPr>
          <a:xfrm>
            <a:off x="9906000" y="5686425"/>
            <a:ext cx="314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시설 반경 90m 공백 구간과</a:t>
            </a:r>
          </a:p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단계별 이동 정보를 전달</a:t>
            </a:r>
          </a:p>
        </p:txBody>
      </p:sp>
      <p:sp>
        <p:nvSpPr>
          <p:cNvPr id="20" name="route-rule-2">
            <a:extLst>
              <a:ext uri="{FF2B5EF4-FFF2-40B4-BE49-F238E27FC236}">
                <a16:creationId xmlns:a16="http://schemas.microsoft.com/office/drawing/2014/main" id="{73D919C7-88C2-4627-839C-630E0C6D0879}"/>
              </a:ext>
            </a:extLst>
          </p:cNvPr>
          <p:cNvSpPr>
            <a:spLocks noGrp="1"/>
          </p:cNvSpPr>
          <p:nvPr/>
        </p:nvSpPr>
        <p:spPr>
          <a:xfrm>
            <a:off x="9906000" y="6400800"/>
            <a:ext cx="314325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1" name="footer-line-10">
            <a:extLst>
              <a:ext uri="{FF2B5EF4-FFF2-40B4-BE49-F238E27FC236}">
                <a16:creationId xmlns:a16="http://schemas.microsoft.com/office/drawing/2014/main" id="{71C44F6A-D26A-433E-9373-FABF0969E2BE}"/>
              </a:ext>
            </a:extLst>
          </p:cNvPr>
          <p:cNvSpPr>
            <a:spLocks noGrp="1"/>
          </p:cNvSpPr>
          <p:nvPr/>
        </p:nvSpPr>
        <p:spPr>
          <a:xfrm>
            <a:off x="590550" y="723900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2" name="footer-10">
            <a:extLst>
              <a:ext uri="{FF2B5EF4-FFF2-40B4-BE49-F238E27FC236}">
                <a16:creationId xmlns:a16="http://schemas.microsoft.com/office/drawing/2014/main" id="{C13A7AF2-45AF-43B2-BDE4-A3745F129B0C}"/>
              </a:ext>
            </a:extLst>
          </p:cNvPr>
          <p:cNvSpPr>
            <a:spLocks noGrp="1"/>
          </p:cNvSpPr>
          <p:nvPr/>
        </p:nvSpPr>
        <p:spPr>
          <a:xfrm>
            <a:off x="590550" y="7353300"/>
            <a:ext cx="1253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LocalHub 배포 화면 캡처 | 2026-07-15 | https://jovial-phoenix-52d898.netlify.app/</a:t>
            </a:r>
          </a:p>
        </p:txBody>
      </p:sp>
    </p:spTree>
    <p:extLst>
      <p:ext uri="{BB962C8B-B14F-4D97-AF65-F5344CB8AC3E}">
        <p14:creationId xmlns:p14="http://schemas.microsoft.com/office/powerpoint/2010/main" val="1020893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-11">
            <a:extLst>
              <a:ext uri="{FF2B5EF4-FFF2-40B4-BE49-F238E27FC236}">
                <a16:creationId xmlns:a16="http://schemas.microsoft.com/office/drawing/2014/main" id="{D7483ECC-8866-45FE-A41B-B826DFFC46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2F7F4"/>
          </a:solidFill>
          <a:ln w="0">
            <a:solidFill>
              <a:srgbClr val="F2F7F4"/>
            </a:solidFill>
            <a:prstDash val="solid"/>
          </a:ln>
        </p:spPr>
      </p:sp>
      <p:sp>
        <p:nvSpPr>
          <p:cNvPr id="2" name="section-11">
            <a:extLst>
              <a:ext uri="{FF2B5EF4-FFF2-40B4-BE49-F238E27FC236}">
                <a16:creationId xmlns:a16="http://schemas.microsoft.com/office/drawing/2014/main" id="{B7C3B3B3-DB53-4A0D-B16E-CE6912B5EC84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DX · REAL-TIME INFORMATION</a:t>
            </a:r>
          </a:p>
        </p:txBody>
      </p:sp>
      <p:sp>
        <p:nvSpPr>
          <p:cNvPr id="3" name="header-line-11">
            <a:extLst>
              <a:ext uri="{FF2B5EF4-FFF2-40B4-BE49-F238E27FC236}">
                <a16:creationId xmlns:a16="http://schemas.microsoft.com/office/drawing/2014/main" id="{48E4ADDD-353B-44A4-8934-2EFBCDFEDB24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11">
            <a:extLst>
              <a:ext uri="{FF2B5EF4-FFF2-40B4-BE49-F238E27FC236}">
                <a16:creationId xmlns:a16="http://schemas.microsoft.com/office/drawing/2014/main" id="{5E5C06F8-BDE8-4131-8701-358A82AFDB7E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5" name="title-11">
            <a:extLst>
              <a:ext uri="{FF2B5EF4-FFF2-40B4-BE49-F238E27FC236}">
                <a16:creationId xmlns:a16="http://schemas.microsoft.com/office/drawing/2014/main" id="{042A2D1F-9245-4A1C-8ED6-1A091E853C21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최신 기사와 현장 제보가 안전정보를 보완합니다</a:t>
            </a:r>
          </a:p>
        </p:txBody>
      </p:sp>
      <p:sp>
        <p:nvSpPr>
          <p:cNvPr id="6" name="page-11">
            <a:extLst>
              <a:ext uri="{FF2B5EF4-FFF2-40B4-BE49-F238E27FC236}">
                <a16:creationId xmlns:a16="http://schemas.microsoft.com/office/drawing/2014/main" id="{A560B4A1-4481-4AD9-AEA2-A94315CAF2E5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11</a:t>
            </a:r>
          </a:p>
        </p:txBody>
      </p:sp>
      <p:sp>
        <p:nvSpPr>
          <p:cNvPr id="7" name="chatbot-frame">
            <a:extLst>
              <a:ext uri="{FF2B5EF4-FFF2-40B4-BE49-F238E27FC236}">
                <a16:creationId xmlns:a16="http://schemas.microsoft.com/office/drawing/2014/main" id="{95F7DF8F-0368-4172-A68A-4D9062F822D5}"/>
              </a:ext>
            </a:extLst>
          </p:cNvPr>
          <p:cNvSpPr>
            <a:spLocks noGrp="1"/>
          </p:cNvSpPr>
          <p:nvPr/>
        </p:nvSpPr>
        <p:spPr>
          <a:xfrm>
            <a:off x="590550" y="1714500"/>
            <a:ext cx="609600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DD8"/>
            </a:solidFill>
            <a:prstDash val="solid"/>
          </a:ln>
        </p:spPr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rcRect t="2468" b="2468"/>
          <a:stretch>
            <a:fillRect/>
          </a:stretch>
        </p:blipFill>
        <p:spPr>
          <a:xfrm>
            <a:off x="704850" y="1828800"/>
            <a:ext cx="5867400" cy="3486150"/>
          </a:xfrm>
          <a:prstGeom prst="rect">
            <a:avLst/>
          </a:prstGeom>
        </p:spPr>
      </p:pic>
      <p:sp>
        <p:nvSpPr>
          <p:cNvPr id="9" name="community-frame">
            <a:extLst>
              <a:ext uri="{FF2B5EF4-FFF2-40B4-BE49-F238E27FC236}">
                <a16:creationId xmlns:a16="http://schemas.microsoft.com/office/drawing/2014/main" id="{99E27E22-3660-4AFB-A9B6-58D7CF6C13FF}"/>
              </a:ext>
            </a:extLst>
          </p:cNvPr>
          <p:cNvSpPr>
            <a:spLocks noGrp="1"/>
          </p:cNvSpPr>
          <p:nvPr/>
        </p:nvSpPr>
        <p:spPr>
          <a:xfrm>
            <a:off x="7029450" y="1714500"/>
            <a:ext cx="609600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DD8"/>
            </a:solidFill>
            <a:prstDash val="solid"/>
          </a:ln>
        </p:spPr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rcRect t="2468" b="2468"/>
          <a:stretch>
            <a:fillRect/>
          </a:stretch>
        </p:blipFill>
        <p:spPr>
          <a:xfrm>
            <a:off x="7143750" y="1828800"/>
            <a:ext cx="5867400" cy="3486150"/>
          </a:xfrm>
          <a:prstGeom prst="rect">
            <a:avLst/>
          </a:prstGeom>
        </p:spPr>
      </p:pic>
      <p:sp>
        <p:nvSpPr>
          <p:cNvPr id="11" name="chat-label-bar">
            <a:extLst>
              <a:ext uri="{FF2B5EF4-FFF2-40B4-BE49-F238E27FC236}">
                <a16:creationId xmlns:a16="http://schemas.microsoft.com/office/drawing/2014/main" id="{56DEC8A5-A7F6-4DF6-BE88-BB29D3C35B81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47625" cy="295275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12" name="chat-label">
            <a:extLst>
              <a:ext uri="{FF2B5EF4-FFF2-40B4-BE49-F238E27FC236}">
                <a16:creationId xmlns:a16="http://schemas.microsoft.com/office/drawing/2014/main" id="{4AE8245A-6FAE-4FB2-A873-4FA9B32F387D}"/>
              </a:ext>
            </a:extLst>
          </p:cNvPr>
          <p:cNvSpPr>
            <a:spLocks noGrp="1"/>
          </p:cNvSpPr>
          <p:nvPr/>
        </p:nvSpPr>
        <p:spPr>
          <a:xfrm>
            <a:off x="742950" y="5800725"/>
            <a:ext cx="5657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CHATBOT  ·  주변 범죄정보</a:t>
            </a:r>
          </a:p>
        </p:txBody>
      </p:sp>
      <p:sp>
        <p:nvSpPr>
          <p:cNvPr id="13" name="chat-desc">
            <a:extLst>
              <a:ext uri="{FF2B5EF4-FFF2-40B4-BE49-F238E27FC236}">
                <a16:creationId xmlns:a16="http://schemas.microsoft.com/office/drawing/2014/main" id="{D9F688EF-C598-4EC8-9C6D-4FFE43A2F750}"/>
              </a:ext>
            </a:extLst>
          </p:cNvPr>
          <p:cNvSpPr>
            <a:spLocks noGrp="1"/>
          </p:cNvSpPr>
          <p:nvPr/>
        </p:nvSpPr>
        <p:spPr>
          <a:xfrm>
            <a:off x="742950" y="622935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네이버 검색 API로 관련 기사를 갱신하고, 범죄 예방·안전귀가 정보를 대화형으로 전달합니다.</a:t>
            </a:r>
          </a:p>
        </p:txBody>
      </p:sp>
      <p:sp>
        <p:nvSpPr>
          <p:cNvPr id="14" name="community-label-bar">
            <a:extLst>
              <a:ext uri="{FF2B5EF4-FFF2-40B4-BE49-F238E27FC236}">
                <a16:creationId xmlns:a16="http://schemas.microsoft.com/office/drawing/2014/main" id="{F93C6140-D1B9-412C-9778-67BD6B29768B}"/>
              </a:ext>
            </a:extLst>
          </p:cNvPr>
          <p:cNvSpPr>
            <a:spLocks noGrp="1"/>
          </p:cNvSpPr>
          <p:nvPr/>
        </p:nvSpPr>
        <p:spPr>
          <a:xfrm>
            <a:off x="7029450" y="5810250"/>
            <a:ext cx="47625" cy="295275"/>
          </a:xfrm>
          <a:prstGeom prst="rect">
            <a:avLst/>
          </a:prstGeom>
          <a:solidFill>
            <a:srgbClr val="4775E8"/>
          </a:solidFill>
          <a:ln w="0">
            <a:solidFill>
              <a:srgbClr val="4775E8"/>
            </a:solidFill>
            <a:prstDash val="solid"/>
          </a:ln>
        </p:spPr>
      </p:sp>
      <p:sp>
        <p:nvSpPr>
          <p:cNvPr id="15" name="community-label">
            <a:extLst>
              <a:ext uri="{FF2B5EF4-FFF2-40B4-BE49-F238E27FC236}">
                <a16:creationId xmlns:a16="http://schemas.microsoft.com/office/drawing/2014/main" id="{9D9D9AF9-3E64-4F3D-8315-3B6264553674}"/>
              </a:ext>
            </a:extLst>
          </p:cNvPr>
          <p:cNvSpPr>
            <a:spLocks noGrp="1"/>
          </p:cNvSpPr>
          <p:nvPr/>
        </p:nvSpPr>
        <p:spPr>
          <a:xfrm>
            <a:off x="7181850" y="5800725"/>
            <a:ext cx="5753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COMMUNITY  ·  위험구간 공유</a:t>
            </a:r>
          </a:p>
        </p:txBody>
      </p:sp>
      <p:sp>
        <p:nvSpPr>
          <p:cNvPr id="16" name="community-desc">
            <a:extLst>
              <a:ext uri="{FF2B5EF4-FFF2-40B4-BE49-F238E27FC236}">
                <a16:creationId xmlns:a16="http://schemas.microsoft.com/office/drawing/2014/main" id="{06BF5023-96A3-42F4-A863-30C0F5E1A6D4}"/>
              </a:ext>
            </a:extLst>
          </p:cNvPr>
          <p:cNvSpPr>
            <a:spLocks noGrp="1"/>
          </p:cNvSpPr>
          <p:nvPr/>
        </p:nvSpPr>
        <p:spPr>
          <a:xfrm>
            <a:off x="7181850" y="622935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어두운 골목·공사구간·사고 위험 등 주민이 발견한 현장 정보를 공유하고 보완합니다.</a:t>
            </a:r>
          </a:p>
        </p:txBody>
      </p:sp>
      <p:sp>
        <p:nvSpPr>
          <p:cNvPr id="17" name="footer-line-11">
            <a:extLst>
              <a:ext uri="{FF2B5EF4-FFF2-40B4-BE49-F238E27FC236}">
                <a16:creationId xmlns:a16="http://schemas.microsoft.com/office/drawing/2014/main" id="{4F72D73E-B4EC-409C-911D-8166C9E1F672}"/>
              </a:ext>
            </a:extLst>
          </p:cNvPr>
          <p:cNvSpPr>
            <a:spLocks noGrp="1"/>
          </p:cNvSpPr>
          <p:nvPr/>
        </p:nvSpPr>
        <p:spPr>
          <a:xfrm>
            <a:off x="590550" y="723900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8" name="footer-11">
            <a:extLst>
              <a:ext uri="{FF2B5EF4-FFF2-40B4-BE49-F238E27FC236}">
                <a16:creationId xmlns:a16="http://schemas.microsoft.com/office/drawing/2014/main" id="{ED887144-FCEF-4BCA-BAE8-1F56CBDE6EB8}"/>
              </a:ext>
            </a:extLst>
          </p:cNvPr>
          <p:cNvSpPr>
            <a:spLocks noGrp="1"/>
          </p:cNvSpPr>
          <p:nvPr/>
        </p:nvSpPr>
        <p:spPr>
          <a:xfrm>
            <a:off x="590550" y="7353300"/>
            <a:ext cx="1253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LocalHub 배포 화면 캡처 | 2026-07-15 | https://jovial-phoenix-52d898.netlify.app/</a:t>
            </a:r>
          </a:p>
        </p:txBody>
      </p:sp>
    </p:spTree>
    <p:extLst>
      <p:ext uri="{BB962C8B-B14F-4D97-AF65-F5344CB8AC3E}">
        <p14:creationId xmlns:p14="http://schemas.microsoft.com/office/powerpoint/2010/main" val="36303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-12">
            <a:extLst>
              <a:ext uri="{FF2B5EF4-FFF2-40B4-BE49-F238E27FC236}">
                <a16:creationId xmlns:a16="http://schemas.microsoft.com/office/drawing/2014/main" id="{F1E02962-515A-4867-B3BF-65C005486A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7F5F0"/>
          </a:solidFill>
          <a:ln w="0">
            <a:solidFill>
              <a:srgbClr val="F7F5F0"/>
            </a:solidFill>
            <a:prstDash val="solid"/>
          </a:ln>
        </p:spPr>
      </p:sp>
      <p:sp>
        <p:nvSpPr>
          <p:cNvPr id="2" name="section-12">
            <a:extLst>
              <a:ext uri="{FF2B5EF4-FFF2-40B4-BE49-F238E27FC236}">
                <a16:creationId xmlns:a16="http://schemas.microsoft.com/office/drawing/2014/main" id="{5B20D9F6-8CE7-4783-A629-4D4A58826C04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DX · PUBLIC DATA</a:t>
            </a:r>
          </a:p>
        </p:txBody>
      </p:sp>
      <p:sp>
        <p:nvSpPr>
          <p:cNvPr id="3" name="header-line-12">
            <a:extLst>
              <a:ext uri="{FF2B5EF4-FFF2-40B4-BE49-F238E27FC236}">
                <a16:creationId xmlns:a16="http://schemas.microsoft.com/office/drawing/2014/main" id="{356CB46C-714A-4839-893D-FE3A916F9189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12">
            <a:extLst>
              <a:ext uri="{FF2B5EF4-FFF2-40B4-BE49-F238E27FC236}">
                <a16:creationId xmlns:a16="http://schemas.microsoft.com/office/drawing/2014/main" id="{44D9E51D-0591-452B-92BC-F5AE4167095E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5" name="title-12">
            <a:extLst>
              <a:ext uri="{FF2B5EF4-FFF2-40B4-BE49-F238E27FC236}">
                <a16:creationId xmlns:a16="http://schemas.microsoft.com/office/drawing/2014/main" id="{3F46E631-739A-4698-A43C-6ABF98182055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실제 광주 공공데이터로 서비스가 작동합니다</a:t>
            </a:r>
          </a:p>
        </p:txBody>
      </p:sp>
      <p:sp>
        <p:nvSpPr>
          <p:cNvPr id="6" name="page-12">
            <a:extLst>
              <a:ext uri="{FF2B5EF4-FFF2-40B4-BE49-F238E27FC236}">
                <a16:creationId xmlns:a16="http://schemas.microsoft.com/office/drawing/2014/main" id="{F2D2FB21-1F37-45A2-BD4D-B2717B844E60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12</a:t>
            </a:r>
          </a:p>
        </p:txBody>
      </p:sp>
      <p:sp>
        <p:nvSpPr>
          <p:cNvPr id="7" name="home-frame">
            <a:extLst>
              <a:ext uri="{FF2B5EF4-FFF2-40B4-BE49-F238E27FC236}">
                <a16:creationId xmlns:a16="http://schemas.microsoft.com/office/drawing/2014/main" id="{BF858609-4B7C-40A2-B73E-BA462F825A46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80010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DD8"/>
            </a:solidFill>
            <a:prstDash val="solid"/>
          </a:ln>
        </p:spPr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rcRect t="1527" b="1527"/>
          <a:stretch>
            <a:fillRect/>
          </a:stretch>
        </p:blipFill>
        <p:spPr>
          <a:xfrm>
            <a:off x="723900" y="1866900"/>
            <a:ext cx="7734300" cy="4686300"/>
          </a:xfrm>
          <a:prstGeom prst="rect">
            <a:avLst/>
          </a:prstGeom>
        </p:spPr>
      </p:pic>
      <p:sp>
        <p:nvSpPr>
          <p:cNvPr id="9" name="stat-value-0">
            <a:extLst>
              <a:ext uri="{FF2B5EF4-FFF2-40B4-BE49-F238E27FC236}">
                <a16:creationId xmlns:a16="http://schemas.microsoft.com/office/drawing/2014/main" id="{AB357110-32F1-42EF-9692-8326318077E8}"/>
              </a:ext>
            </a:extLst>
          </p:cNvPr>
          <p:cNvSpPr>
            <a:spLocks noGrp="1"/>
          </p:cNvSpPr>
          <p:nvPr/>
        </p:nvSpPr>
        <p:spPr>
          <a:xfrm>
            <a:off x="9124950" y="1790700"/>
            <a:ext cx="228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00A878"/>
                </a:solidFill>
              </a:defRPr>
            </a:pPr>
            <a:r>
              <a:rPr sz="4050" b="1">
                <a:solidFill>
                  <a:srgbClr val="00A878"/>
                </a:solidFill>
              </a:rPr>
              <a:t>6,805</a:t>
            </a:r>
          </a:p>
        </p:txBody>
      </p:sp>
      <p:sp>
        <p:nvSpPr>
          <p:cNvPr id="10" name="stat-label-0">
            <a:extLst>
              <a:ext uri="{FF2B5EF4-FFF2-40B4-BE49-F238E27FC236}">
                <a16:creationId xmlns:a16="http://schemas.microsoft.com/office/drawing/2014/main" id="{84761D54-81ED-40F9-8058-4FDBD252AFD9}"/>
              </a:ext>
            </a:extLst>
          </p:cNvPr>
          <p:cNvSpPr>
            <a:spLocks noGrp="1"/>
          </p:cNvSpPr>
          <p:nvPr/>
        </p:nvSpPr>
        <p:spPr>
          <a:xfrm>
            <a:off x="11334750" y="2019300"/>
            <a:ext cx="171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광주 CCTV 전체</a:t>
            </a:r>
          </a:p>
        </p:txBody>
      </p:sp>
      <p:sp>
        <p:nvSpPr>
          <p:cNvPr id="11" name="stat-rule-0">
            <a:extLst>
              <a:ext uri="{FF2B5EF4-FFF2-40B4-BE49-F238E27FC236}">
                <a16:creationId xmlns:a16="http://schemas.microsoft.com/office/drawing/2014/main" id="{DFBD1C15-5D12-4A8A-AD2C-CAD32EB7C4B4}"/>
              </a:ext>
            </a:extLst>
          </p:cNvPr>
          <p:cNvSpPr>
            <a:spLocks noGrp="1"/>
          </p:cNvSpPr>
          <p:nvPr/>
        </p:nvSpPr>
        <p:spPr>
          <a:xfrm>
            <a:off x="9124950" y="2667000"/>
            <a:ext cx="39243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2" name="stat-value-1">
            <a:extLst>
              <a:ext uri="{FF2B5EF4-FFF2-40B4-BE49-F238E27FC236}">
                <a16:creationId xmlns:a16="http://schemas.microsoft.com/office/drawing/2014/main" id="{BDD675A0-6575-48A8-8384-CC1B00DB77FC}"/>
              </a:ext>
            </a:extLst>
          </p:cNvPr>
          <p:cNvSpPr>
            <a:spLocks noGrp="1"/>
          </p:cNvSpPr>
          <p:nvPr/>
        </p:nvSpPr>
        <p:spPr>
          <a:xfrm>
            <a:off x="9124950" y="3238500"/>
            <a:ext cx="228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4775E8"/>
                </a:solidFill>
              </a:defRPr>
            </a:pPr>
            <a:r>
              <a:rPr sz="4050" b="1">
                <a:solidFill>
                  <a:srgbClr val="4775E8"/>
                </a:solidFill>
              </a:rPr>
              <a:t>4,212</a:t>
            </a:r>
          </a:p>
        </p:txBody>
      </p:sp>
      <p:sp>
        <p:nvSpPr>
          <p:cNvPr id="13" name="stat-label-1">
            <a:extLst>
              <a:ext uri="{FF2B5EF4-FFF2-40B4-BE49-F238E27FC236}">
                <a16:creationId xmlns:a16="http://schemas.microsoft.com/office/drawing/2014/main" id="{6113A0BE-A691-4AB8-AC09-9FD3CA3EC375}"/>
              </a:ext>
            </a:extLst>
          </p:cNvPr>
          <p:cNvSpPr>
            <a:spLocks noGrp="1"/>
          </p:cNvSpPr>
          <p:nvPr/>
        </p:nvSpPr>
        <p:spPr>
          <a:xfrm>
            <a:off x="11334750" y="3467100"/>
            <a:ext cx="171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지도 반영 CCTV</a:t>
            </a:r>
          </a:p>
        </p:txBody>
      </p:sp>
      <p:sp>
        <p:nvSpPr>
          <p:cNvPr id="14" name="stat-rule-1">
            <a:extLst>
              <a:ext uri="{FF2B5EF4-FFF2-40B4-BE49-F238E27FC236}">
                <a16:creationId xmlns:a16="http://schemas.microsoft.com/office/drawing/2014/main" id="{26D930CE-14C0-4A38-AB4C-BEBC6E7BC969}"/>
              </a:ext>
            </a:extLst>
          </p:cNvPr>
          <p:cNvSpPr>
            <a:spLocks noGrp="1"/>
          </p:cNvSpPr>
          <p:nvPr/>
        </p:nvSpPr>
        <p:spPr>
          <a:xfrm>
            <a:off x="9124950" y="4114800"/>
            <a:ext cx="39243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5" name="stat-value-2">
            <a:extLst>
              <a:ext uri="{FF2B5EF4-FFF2-40B4-BE49-F238E27FC236}">
                <a16:creationId xmlns:a16="http://schemas.microsoft.com/office/drawing/2014/main" id="{160ABDFB-E5AE-47FA-9454-F2D32D29021F}"/>
              </a:ext>
            </a:extLst>
          </p:cNvPr>
          <p:cNvSpPr>
            <a:spLocks noGrp="1"/>
          </p:cNvSpPr>
          <p:nvPr/>
        </p:nvSpPr>
        <p:spPr>
          <a:xfrm>
            <a:off x="9124950" y="4686300"/>
            <a:ext cx="228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704D"/>
                </a:solidFill>
              </a:defRPr>
            </a:pPr>
            <a:r>
              <a:rPr sz="4050" b="1">
                <a:solidFill>
                  <a:srgbClr val="FF704D"/>
                </a:solidFill>
              </a:rPr>
              <a:t>40</a:t>
            </a:r>
          </a:p>
        </p:txBody>
      </p:sp>
      <p:sp>
        <p:nvSpPr>
          <p:cNvPr id="16" name="stat-label-2">
            <a:extLst>
              <a:ext uri="{FF2B5EF4-FFF2-40B4-BE49-F238E27FC236}">
                <a16:creationId xmlns:a16="http://schemas.microsoft.com/office/drawing/2014/main" id="{D1583CC9-DBAC-4AA7-954C-B371A25CD9CA}"/>
              </a:ext>
            </a:extLst>
          </p:cNvPr>
          <p:cNvSpPr>
            <a:spLocks noGrp="1"/>
          </p:cNvSpPr>
          <p:nvPr/>
        </p:nvSpPr>
        <p:spPr>
          <a:xfrm>
            <a:off x="11334750" y="4914900"/>
            <a:ext cx="171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경찰시설</a:t>
            </a:r>
          </a:p>
        </p:txBody>
      </p:sp>
      <p:sp>
        <p:nvSpPr>
          <p:cNvPr id="17" name="stat-rule-2">
            <a:extLst>
              <a:ext uri="{FF2B5EF4-FFF2-40B4-BE49-F238E27FC236}">
                <a16:creationId xmlns:a16="http://schemas.microsoft.com/office/drawing/2014/main" id="{20430149-4B63-40F9-A5E7-40B8064D640A}"/>
              </a:ext>
            </a:extLst>
          </p:cNvPr>
          <p:cNvSpPr>
            <a:spLocks noGrp="1"/>
          </p:cNvSpPr>
          <p:nvPr/>
        </p:nvSpPr>
        <p:spPr>
          <a:xfrm>
            <a:off x="9124950" y="5562600"/>
            <a:ext cx="39243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8" name="public-close">
            <a:extLst>
              <a:ext uri="{FF2B5EF4-FFF2-40B4-BE49-F238E27FC236}">
                <a16:creationId xmlns:a16="http://schemas.microsoft.com/office/drawing/2014/main" id="{32D7E671-66D2-4045-A6FB-6A2973893A27}"/>
              </a:ext>
            </a:extLst>
          </p:cNvPr>
          <p:cNvSpPr>
            <a:spLocks noGrp="1"/>
          </p:cNvSpPr>
          <p:nvPr/>
        </p:nvSpPr>
        <p:spPr>
          <a:xfrm>
            <a:off x="9124950" y="5953125"/>
            <a:ext cx="3905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공공데이터로 보고,</a:t>
            </a:r>
          </a:p>
          <a:p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안전경로로 안내하고,</a:t>
            </a:r>
          </a:p>
          <a:p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주민과 함께 보완합니다.</a:t>
            </a:r>
          </a:p>
        </p:txBody>
      </p:sp>
      <p:sp>
        <p:nvSpPr>
          <p:cNvPr id="19" name="footer-line-12">
            <a:extLst>
              <a:ext uri="{FF2B5EF4-FFF2-40B4-BE49-F238E27FC236}">
                <a16:creationId xmlns:a16="http://schemas.microsoft.com/office/drawing/2014/main" id="{C6A066D5-97D1-4D01-B7F3-650D33D20E4E}"/>
              </a:ext>
            </a:extLst>
          </p:cNvPr>
          <p:cNvSpPr>
            <a:spLocks noGrp="1"/>
          </p:cNvSpPr>
          <p:nvPr/>
        </p:nvSpPr>
        <p:spPr>
          <a:xfrm>
            <a:off x="590550" y="723900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0" name="footer-12">
            <a:extLst>
              <a:ext uri="{FF2B5EF4-FFF2-40B4-BE49-F238E27FC236}">
                <a16:creationId xmlns:a16="http://schemas.microsoft.com/office/drawing/2014/main" id="{A0BAF3B8-13D6-4FB7-8F80-6EECC1D02C3D}"/>
              </a:ext>
            </a:extLst>
          </p:cNvPr>
          <p:cNvSpPr>
            <a:spLocks noGrp="1"/>
          </p:cNvSpPr>
          <p:nvPr/>
        </p:nvSpPr>
        <p:spPr>
          <a:xfrm>
            <a:off x="590550" y="7353300"/>
            <a:ext cx="1253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LocalHub 배포 화면 캡처 | 2026-07-15 | https://jovial-phoenix-52d898.netlify.app/</a:t>
            </a:r>
          </a:p>
        </p:txBody>
      </p:sp>
    </p:spTree>
    <p:extLst>
      <p:ext uri="{BB962C8B-B14F-4D97-AF65-F5344CB8AC3E}">
        <p14:creationId xmlns:p14="http://schemas.microsoft.com/office/powerpoint/2010/main" val="1938936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-13">
            <a:extLst>
              <a:ext uri="{FF2B5EF4-FFF2-40B4-BE49-F238E27FC236}">
                <a16:creationId xmlns:a16="http://schemas.microsoft.com/office/drawing/2014/main" id="{689203FC-79D7-457E-A613-BE07BA57E8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5F1FF"/>
          </a:solidFill>
          <a:ln w="0">
            <a:solidFill>
              <a:srgbClr val="F5F1FF"/>
            </a:solidFill>
            <a:prstDash val="solid"/>
          </a:ln>
        </p:spPr>
      </p:sp>
      <p:sp>
        <p:nvSpPr>
          <p:cNvPr id="2" name="section-13">
            <a:extLst>
              <a:ext uri="{FF2B5EF4-FFF2-40B4-BE49-F238E27FC236}">
                <a16:creationId xmlns:a16="http://schemas.microsoft.com/office/drawing/2014/main" id="{159D1E2B-D6BC-4380-A28B-5D105B4A4040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75E8"/>
                </a:solidFill>
              </a:defRPr>
            </a:pPr>
            <a:r>
              <a:rPr sz="1125" b="1">
                <a:solidFill>
                  <a:srgbClr val="4775E8"/>
                </a:solidFill>
              </a:rPr>
              <a:t>DX · API STACK</a:t>
            </a:r>
          </a:p>
        </p:txBody>
      </p:sp>
      <p:sp>
        <p:nvSpPr>
          <p:cNvPr id="3" name="header-line-13">
            <a:extLst>
              <a:ext uri="{FF2B5EF4-FFF2-40B4-BE49-F238E27FC236}">
                <a16:creationId xmlns:a16="http://schemas.microsoft.com/office/drawing/2014/main" id="{16E27EB4-8EA4-41BA-84B4-059613A903C6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13">
            <a:extLst>
              <a:ext uri="{FF2B5EF4-FFF2-40B4-BE49-F238E27FC236}">
                <a16:creationId xmlns:a16="http://schemas.microsoft.com/office/drawing/2014/main" id="{05B82D67-2AF5-448F-9F63-6FE4A7C9A9BF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4775E8"/>
          </a:solidFill>
          <a:ln w="0">
            <a:solidFill>
              <a:srgbClr val="4775E8"/>
            </a:solidFill>
            <a:prstDash val="solid"/>
          </a:ln>
        </p:spPr>
      </p:sp>
      <p:sp>
        <p:nvSpPr>
          <p:cNvPr id="5" name="title-13">
            <a:extLst>
              <a:ext uri="{FF2B5EF4-FFF2-40B4-BE49-F238E27FC236}">
                <a16:creationId xmlns:a16="http://schemas.microsoft.com/office/drawing/2014/main" id="{72932D82-3F28-4F09-ABAC-E8BFC34735F7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네 가지 API가 지도·경로·좌표·대화를 연결합니다</a:t>
            </a:r>
          </a:p>
        </p:txBody>
      </p:sp>
      <p:sp>
        <p:nvSpPr>
          <p:cNvPr id="6" name="page-13">
            <a:extLst>
              <a:ext uri="{FF2B5EF4-FFF2-40B4-BE49-F238E27FC236}">
                <a16:creationId xmlns:a16="http://schemas.microsoft.com/office/drawing/2014/main" id="{0E8A866F-2C88-4B88-A7DC-8D1F9643A96A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13</a:t>
            </a:r>
          </a:p>
        </p:txBody>
      </p:sp>
      <p:sp>
        <p:nvSpPr>
          <p:cNvPr id="7" name="api-panel-0">
            <a:extLst>
              <a:ext uri="{FF2B5EF4-FFF2-40B4-BE49-F238E27FC236}">
                <a16:creationId xmlns:a16="http://schemas.microsoft.com/office/drawing/2014/main" id="{38C4B1FF-CAE6-43C4-971B-9D8A7469CE74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2857500" cy="4095750"/>
          </a:xfrm>
          <a:prstGeom prst="roundRect">
            <a:avLst>
              <a:gd name="adj" fmla="val 5333"/>
            </a:avLst>
          </a:prstGeom>
          <a:solidFill>
            <a:srgbClr val="E8F7F1"/>
          </a:solidFill>
          <a:ln w="9525">
            <a:solidFill>
              <a:srgbClr val="D8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api-num-0">
            <a:extLst>
              <a:ext uri="{FF2B5EF4-FFF2-40B4-BE49-F238E27FC236}">
                <a16:creationId xmlns:a16="http://schemas.microsoft.com/office/drawing/2014/main" id="{27C1904A-193F-46D8-BE77-925ECC1CEC56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A878"/>
                </a:solidFill>
              </a:defRPr>
            </a:pPr>
            <a:r>
              <a:rPr sz="187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9" name="api-name-0">
            <a:extLst>
              <a:ext uri="{FF2B5EF4-FFF2-40B4-BE49-F238E27FC236}">
                <a16:creationId xmlns:a16="http://schemas.microsoft.com/office/drawing/2014/main" id="{D7FD1192-16C1-4A18-BCD7-B8B2C843CBFF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TMAP API</a:t>
            </a:r>
          </a:p>
        </p:txBody>
      </p:sp>
      <p:sp>
        <p:nvSpPr>
          <p:cNvPr id="10" name="api-accent-0">
            <a:extLst>
              <a:ext uri="{FF2B5EF4-FFF2-40B4-BE49-F238E27FC236}">
                <a16:creationId xmlns:a16="http://schemas.microsoft.com/office/drawing/2014/main" id="{ADCEEA1F-CCA0-4175-9BA9-3D5A6A55DD12}"/>
              </a:ext>
            </a:extLst>
          </p:cNvPr>
          <p:cNvSpPr>
            <a:spLocks noGrp="1"/>
          </p:cNvSpPr>
          <p:nvPr/>
        </p:nvSpPr>
        <p:spPr>
          <a:xfrm>
            <a:off x="857250" y="3371850"/>
            <a:ext cx="2324100" cy="47625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11" name="api-role-label-0">
            <a:extLst>
              <a:ext uri="{FF2B5EF4-FFF2-40B4-BE49-F238E27FC236}">
                <a16:creationId xmlns:a16="http://schemas.microsoft.com/office/drawing/2014/main" id="{F0D91A2F-8DC9-4763-B1CF-05B683498013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ROLE</a:t>
            </a:r>
          </a:p>
        </p:txBody>
      </p:sp>
      <p:sp>
        <p:nvSpPr>
          <p:cNvPr id="12" name="api-role-0">
            <a:extLst>
              <a:ext uri="{FF2B5EF4-FFF2-40B4-BE49-F238E27FC236}">
                <a16:creationId xmlns:a16="http://schemas.microsoft.com/office/drawing/2014/main" id="{6CF436EB-05D5-434E-A068-E8C758D2ECEB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232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보행자 경로 후보 탐색</a:t>
            </a:r>
          </a:p>
        </p:txBody>
      </p:sp>
      <p:sp>
        <p:nvSpPr>
          <p:cNvPr id="13" name="api-key-label-0">
            <a:extLst>
              <a:ext uri="{FF2B5EF4-FFF2-40B4-BE49-F238E27FC236}">
                <a16:creationId xmlns:a16="http://schemas.microsoft.com/office/drawing/2014/main" id="{4E5E2057-6700-46DA-A834-8249B89614EC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2706B"/>
                </a:solidFill>
              </a:defRPr>
            </a:pPr>
            <a:r>
              <a:rPr sz="825" b="1">
                <a:solidFill>
                  <a:srgbClr val="62706B"/>
                </a:solidFill>
              </a:rPr>
              <a:t>ENVIRONMENT VARIABLE</a:t>
            </a:r>
          </a:p>
        </p:txBody>
      </p:sp>
      <p:sp>
        <p:nvSpPr>
          <p:cNvPr id="14" name="api-key-0">
            <a:extLst>
              <a:ext uri="{FF2B5EF4-FFF2-40B4-BE49-F238E27FC236}">
                <a16:creationId xmlns:a16="http://schemas.microsoft.com/office/drawing/2014/main" id="{341D0E15-2DBD-4A58-98F8-6959C52F9A1E}"/>
              </a:ext>
            </a:extLst>
          </p:cNvPr>
          <p:cNvSpPr>
            <a:spLocks noGrp="1"/>
          </p:cNvSpPr>
          <p:nvPr/>
        </p:nvSpPr>
        <p:spPr>
          <a:xfrm>
            <a:off x="857250" y="503872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VITE_TMAP_APP_KEY</a:t>
            </a:r>
          </a:p>
        </p:txBody>
      </p:sp>
      <p:sp>
        <p:nvSpPr>
          <p:cNvPr id="15" name="api-note-0">
            <a:extLst>
              <a:ext uri="{FF2B5EF4-FFF2-40B4-BE49-F238E27FC236}">
                <a16:creationId xmlns:a16="http://schemas.microsoft.com/office/drawing/2014/main" id="{8D6F057E-9ED7-4076-8441-60D81CB1C2FC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06B"/>
                </a:solidFill>
              </a:defRPr>
            </a:pPr>
            <a:r>
              <a:rPr sz="1050" b="0">
                <a:solidFill>
                  <a:srgbClr val="62706B"/>
                </a:solidFill>
              </a:rPr>
              <a:t>최단경로와 안전경로 비교의 기반</a:t>
            </a:r>
          </a:p>
        </p:txBody>
      </p:sp>
      <p:sp>
        <p:nvSpPr>
          <p:cNvPr id="16" name="api-panel-1">
            <a:extLst>
              <a:ext uri="{FF2B5EF4-FFF2-40B4-BE49-F238E27FC236}">
                <a16:creationId xmlns:a16="http://schemas.microsoft.com/office/drawing/2014/main" id="{549E348B-4808-4E4E-96B3-96E6E8EE8EA1}"/>
              </a:ext>
            </a:extLst>
          </p:cNvPr>
          <p:cNvSpPr>
            <a:spLocks noGrp="1"/>
          </p:cNvSpPr>
          <p:nvPr/>
        </p:nvSpPr>
        <p:spPr>
          <a:xfrm>
            <a:off x="3762375" y="1790700"/>
            <a:ext cx="2857500" cy="4095750"/>
          </a:xfrm>
          <a:prstGeom prst="roundRect">
            <a:avLst>
              <a:gd name="adj" fmla="val 5333"/>
            </a:avLst>
          </a:prstGeom>
          <a:solidFill>
            <a:srgbClr val="FFF3DF"/>
          </a:solidFill>
          <a:ln w="9525">
            <a:solidFill>
              <a:srgbClr val="D8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api-num-1">
            <a:extLst>
              <a:ext uri="{FF2B5EF4-FFF2-40B4-BE49-F238E27FC236}">
                <a16:creationId xmlns:a16="http://schemas.microsoft.com/office/drawing/2014/main" id="{668A127A-78D1-4868-8624-0CE0B0CC2F37}"/>
              </a:ext>
            </a:extLst>
          </p:cNvPr>
          <p:cNvSpPr>
            <a:spLocks noGrp="1"/>
          </p:cNvSpPr>
          <p:nvPr/>
        </p:nvSpPr>
        <p:spPr>
          <a:xfrm>
            <a:off x="4029075" y="209550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704D"/>
                </a:solidFill>
              </a:defRPr>
            </a:pPr>
            <a:r>
              <a:rPr sz="1875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18" name="api-name-1">
            <a:extLst>
              <a:ext uri="{FF2B5EF4-FFF2-40B4-BE49-F238E27FC236}">
                <a16:creationId xmlns:a16="http://schemas.microsoft.com/office/drawing/2014/main" id="{BE688B17-0F9E-416D-8B48-89022932891E}"/>
              </a:ext>
            </a:extLst>
          </p:cNvPr>
          <p:cNvSpPr>
            <a:spLocks noGrp="1"/>
          </p:cNvSpPr>
          <p:nvPr/>
        </p:nvSpPr>
        <p:spPr>
          <a:xfrm>
            <a:off x="4029075" y="272415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Kakao Maps</a:t>
            </a:r>
          </a:p>
        </p:txBody>
      </p:sp>
      <p:sp>
        <p:nvSpPr>
          <p:cNvPr id="19" name="api-accent-1">
            <a:extLst>
              <a:ext uri="{FF2B5EF4-FFF2-40B4-BE49-F238E27FC236}">
                <a16:creationId xmlns:a16="http://schemas.microsoft.com/office/drawing/2014/main" id="{EE4E6FA1-AF20-4DEA-863F-716FB44AEFDE}"/>
              </a:ext>
            </a:extLst>
          </p:cNvPr>
          <p:cNvSpPr>
            <a:spLocks noGrp="1"/>
          </p:cNvSpPr>
          <p:nvPr/>
        </p:nvSpPr>
        <p:spPr>
          <a:xfrm>
            <a:off x="4029075" y="3371850"/>
            <a:ext cx="2324100" cy="47625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20" name="api-role-label-1">
            <a:extLst>
              <a:ext uri="{FF2B5EF4-FFF2-40B4-BE49-F238E27FC236}">
                <a16:creationId xmlns:a16="http://schemas.microsoft.com/office/drawing/2014/main" id="{2125DC16-8777-43AD-914C-527D033BDEB2}"/>
              </a:ext>
            </a:extLst>
          </p:cNvPr>
          <p:cNvSpPr>
            <a:spLocks noGrp="1"/>
          </p:cNvSpPr>
          <p:nvPr/>
        </p:nvSpPr>
        <p:spPr>
          <a:xfrm>
            <a:off x="4029075" y="373380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ROLE</a:t>
            </a:r>
          </a:p>
        </p:txBody>
      </p:sp>
      <p:sp>
        <p:nvSpPr>
          <p:cNvPr id="21" name="api-role-1">
            <a:extLst>
              <a:ext uri="{FF2B5EF4-FFF2-40B4-BE49-F238E27FC236}">
                <a16:creationId xmlns:a16="http://schemas.microsoft.com/office/drawing/2014/main" id="{AFC59ACB-749E-41B7-8070-C72BA75381BE}"/>
              </a:ext>
            </a:extLst>
          </p:cNvPr>
          <p:cNvSpPr>
            <a:spLocks noGrp="1"/>
          </p:cNvSpPr>
          <p:nvPr/>
        </p:nvSpPr>
        <p:spPr>
          <a:xfrm>
            <a:off x="4029075" y="4048125"/>
            <a:ext cx="232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지도·마커·히트맵 표시</a:t>
            </a:r>
          </a:p>
        </p:txBody>
      </p:sp>
      <p:sp>
        <p:nvSpPr>
          <p:cNvPr id="22" name="api-key-label-1">
            <a:extLst>
              <a:ext uri="{FF2B5EF4-FFF2-40B4-BE49-F238E27FC236}">
                <a16:creationId xmlns:a16="http://schemas.microsoft.com/office/drawing/2014/main" id="{27AA2D52-6C58-445B-8A3D-C0290AAE7F69}"/>
              </a:ext>
            </a:extLst>
          </p:cNvPr>
          <p:cNvSpPr>
            <a:spLocks noGrp="1"/>
          </p:cNvSpPr>
          <p:nvPr/>
        </p:nvSpPr>
        <p:spPr>
          <a:xfrm>
            <a:off x="4029075" y="4762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2706B"/>
                </a:solidFill>
              </a:defRPr>
            </a:pPr>
            <a:r>
              <a:rPr sz="825" b="1">
                <a:solidFill>
                  <a:srgbClr val="62706B"/>
                </a:solidFill>
              </a:rPr>
              <a:t>ENVIRONMENT VARIABLE</a:t>
            </a:r>
          </a:p>
        </p:txBody>
      </p:sp>
      <p:sp>
        <p:nvSpPr>
          <p:cNvPr id="23" name="api-key-1">
            <a:extLst>
              <a:ext uri="{FF2B5EF4-FFF2-40B4-BE49-F238E27FC236}">
                <a16:creationId xmlns:a16="http://schemas.microsoft.com/office/drawing/2014/main" id="{5AD2C007-BF46-4C37-9996-7D2998855E04}"/>
              </a:ext>
            </a:extLst>
          </p:cNvPr>
          <p:cNvSpPr>
            <a:spLocks noGrp="1"/>
          </p:cNvSpPr>
          <p:nvPr/>
        </p:nvSpPr>
        <p:spPr>
          <a:xfrm>
            <a:off x="4029075" y="503872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VITE_KAKAO_MAP_APP_KEY</a:t>
            </a:r>
          </a:p>
        </p:txBody>
      </p:sp>
      <p:sp>
        <p:nvSpPr>
          <p:cNvPr id="24" name="api-note-1">
            <a:extLst>
              <a:ext uri="{FF2B5EF4-FFF2-40B4-BE49-F238E27FC236}">
                <a16:creationId xmlns:a16="http://schemas.microsoft.com/office/drawing/2014/main" id="{087E8266-40FF-437E-A46B-5731F80F9AD9}"/>
              </a:ext>
            </a:extLst>
          </p:cNvPr>
          <p:cNvSpPr>
            <a:spLocks noGrp="1"/>
          </p:cNvSpPr>
          <p:nvPr/>
        </p:nvSpPr>
        <p:spPr>
          <a:xfrm>
            <a:off x="4029075" y="5476875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06B"/>
                </a:solidFill>
              </a:defRPr>
            </a:pPr>
            <a:r>
              <a:rPr sz="1050" b="0">
                <a:solidFill>
                  <a:srgbClr val="62706B"/>
                </a:solidFill>
              </a:rPr>
              <a:t>CCTV와 경찰시설을 한 화면에 시각화</a:t>
            </a:r>
          </a:p>
        </p:txBody>
      </p:sp>
      <p:sp>
        <p:nvSpPr>
          <p:cNvPr id="25" name="api-panel-2">
            <a:extLst>
              <a:ext uri="{FF2B5EF4-FFF2-40B4-BE49-F238E27FC236}">
                <a16:creationId xmlns:a16="http://schemas.microsoft.com/office/drawing/2014/main" id="{4BCCCEA0-0943-4649-B8D4-C443A27D1B34}"/>
              </a:ext>
            </a:extLst>
          </p:cNvPr>
          <p:cNvSpPr>
            <a:spLocks noGrp="1"/>
          </p:cNvSpPr>
          <p:nvPr/>
        </p:nvSpPr>
        <p:spPr>
          <a:xfrm>
            <a:off x="6934200" y="1790700"/>
            <a:ext cx="2857500" cy="4095750"/>
          </a:xfrm>
          <a:prstGeom prst="roundRect">
            <a:avLst>
              <a:gd name="adj" fmla="val 5333"/>
            </a:avLst>
          </a:prstGeom>
          <a:solidFill>
            <a:srgbClr val="EAF0FF"/>
          </a:solidFill>
          <a:ln w="9525">
            <a:solidFill>
              <a:srgbClr val="D8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api-num-2">
            <a:extLst>
              <a:ext uri="{FF2B5EF4-FFF2-40B4-BE49-F238E27FC236}">
                <a16:creationId xmlns:a16="http://schemas.microsoft.com/office/drawing/2014/main" id="{7CE459AA-03D7-43BB-A39E-7DD3B76224AD}"/>
              </a:ext>
            </a:extLst>
          </p:cNvPr>
          <p:cNvSpPr>
            <a:spLocks noGrp="1"/>
          </p:cNvSpPr>
          <p:nvPr/>
        </p:nvSpPr>
        <p:spPr>
          <a:xfrm>
            <a:off x="7200900" y="209550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4775E8"/>
                </a:solidFill>
              </a:defRPr>
            </a:pPr>
            <a:r>
              <a:rPr sz="1875" b="1">
                <a:solidFill>
                  <a:srgbClr val="4775E8"/>
                </a:solidFill>
              </a:rPr>
              <a:t>03</a:t>
            </a:r>
          </a:p>
        </p:txBody>
      </p:sp>
      <p:sp>
        <p:nvSpPr>
          <p:cNvPr id="27" name="api-name-2">
            <a:extLst>
              <a:ext uri="{FF2B5EF4-FFF2-40B4-BE49-F238E27FC236}">
                <a16:creationId xmlns:a16="http://schemas.microsoft.com/office/drawing/2014/main" id="{94198B7D-50A2-41CA-AF6E-FFB72A8E9672}"/>
              </a:ext>
            </a:extLst>
          </p:cNvPr>
          <p:cNvSpPr>
            <a:spLocks noGrp="1"/>
          </p:cNvSpPr>
          <p:nvPr/>
        </p:nvSpPr>
        <p:spPr>
          <a:xfrm>
            <a:off x="7200900" y="272415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Kakao REST</a:t>
            </a:r>
          </a:p>
        </p:txBody>
      </p:sp>
      <p:sp>
        <p:nvSpPr>
          <p:cNvPr id="28" name="api-accent-2">
            <a:extLst>
              <a:ext uri="{FF2B5EF4-FFF2-40B4-BE49-F238E27FC236}">
                <a16:creationId xmlns:a16="http://schemas.microsoft.com/office/drawing/2014/main" id="{4B373920-64F7-4898-9DBB-B503403F540C}"/>
              </a:ext>
            </a:extLst>
          </p:cNvPr>
          <p:cNvSpPr>
            <a:spLocks noGrp="1"/>
          </p:cNvSpPr>
          <p:nvPr/>
        </p:nvSpPr>
        <p:spPr>
          <a:xfrm>
            <a:off x="7200900" y="3371850"/>
            <a:ext cx="2324100" cy="47625"/>
          </a:xfrm>
          <a:prstGeom prst="rect">
            <a:avLst/>
          </a:prstGeom>
          <a:solidFill>
            <a:srgbClr val="4775E8"/>
          </a:solidFill>
          <a:ln w="0">
            <a:solidFill>
              <a:srgbClr val="4775E8"/>
            </a:solidFill>
            <a:prstDash val="solid"/>
          </a:ln>
        </p:spPr>
      </p:sp>
      <p:sp>
        <p:nvSpPr>
          <p:cNvPr id="29" name="api-role-label-2">
            <a:extLst>
              <a:ext uri="{FF2B5EF4-FFF2-40B4-BE49-F238E27FC236}">
                <a16:creationId xmlns:a16="http://schemas.microsoft.com/office/drawing/2014/main" id="{0E18D6D0-5C46-4134-BACA-3F2893867E53}"/>
              </a:ext>
            </a:extLst>
          </p:cNvPr>
          <p:cNvSpPr>
            <a:spLocks noGrp="1"/>
          </p:cNvSpPr>
          <p:nvPr/>
        </p:nvSpPr>
        <p:spPr>
          <a:xfrm>
            <a:off x="7200900" y="373380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ROLE</a:t>
            </a:r>
          </a:p>
        </p:txBody>
      </p:sp>
      <p:sp>
        <p:nvSpPr>
          <p:cNvPr id="30" name="api-role-2">
            <a:extLst>
              <a:ext uri="{FF2B5EF4-FFF2-40B4-BE49-F238E27FC236}">
                <a16:creationId xmlns:a16="http://schemas.microsoft.com/office/drawing/2014/main" id="{0CE4CC32-5EF1-413A-A511-CEA40F2FE04E}"/>
              </a:ext>
            </a:extLst>
          </p:cNvPr>
          <p:cNvSpPr>
            <a:spLocks noGrp="1"/>
          </p:cNvSpPr>
          <p:nvPr/>
        </p:nvSpPr>
        <p:spPr>
          <a:xfrm>
            <a:off x="7200900" y="4048125"/>
            <a:ext cx="232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경찰시설 주소 좌표 변환</a:t>
            </a:r>
          </a:p>
        </p:txBody>
      </p:sp>
      <p:sp>
        <p:nvSpPr>
          <p:cNvPr id="31" name="api-key-label-2">
            <a:extLst>
              <a:ext uri="{FF2B5EF4-FFF2-40B4-BE49-F238E27FC236}">
                <a16:creationId xmlns:a16="http://schemas.microsoft.com/office/drawing/2014/main" id="{17E9634D-BA7C-48D0-BBA4-13C939C2BF66}"/>
              </a:ext>
            </a:extLst>
          </p:cNvPr>
          <p:cNvSpPr>
            <a:spLocks noGrp="1"/>
          </p:cNvSpPr>
          <p:nvPr/>
        </p:nvSpPr>
        <p:spPr>
          <a:xfrm>
            <a:off x="7200900" y="4762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2706B"/>
                </a:solidFill>
              </a:defRPr>
            </a:pPr>
            <a:r>
              <a:rPr sz="825" b="1">
                <a:solidFill>
                  <a:srgbClr val="62706B"/>
                </a:solidFill>
              </a:rPr>
              <a:t>ENVIRONMENT VARIABLE</a:t>
            </a:r>
          </a:p>
        </p:txBody>
      </p:sp>
      <p:sp>
        <p:nvSpPr>
          <p:cNvPr id="32" name="api-key-2">
            <a:extLst>
              <a:ext uri="{FF2B5EF4-FFF2-40B4-BE49-F238E27FC236}">
                <a16:creationId xmlns:a16="http://schemas.microsoft.com/office/drawing/2014/main" id="{CAE67F50-2131-416D-A4F5-C580ADA3E093}"/>
              </a:ext>
            </a:extLst>
          </p:cNvPr>
          <p:cNvSpPr>
            <a:spLocks noGrp="1"/>
          </p:cNvSpPr>
          <p:nvPr/>
        </p:nvSpPr>
        <p:spPr>
          <a:xfrm>
            <a:off x="7200900" y="503872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VITE_KAKAO_REST_API_KEY</a:t>
            </a:r>
          </a:p>
        </p:txBody>
      </p:sp>
      <p:sp>
        <p:nvSpPr>
          <p:cNvPr id="33" name="api-note-2">
            <a:extLst>
              <a:ext uri="{FF2B5EF4-FFF2-40B4-BE49-F238E27FC236}">
                <a16:creationId xmlns:a16="http://schemas.microsoft.com/office/drawing/2014/main" id="{9F638147-977C-4065-97C4-05CEA0BBC7D6}"/>
              </a:ext>
            </a:extLst>
          </p:cNvPr>
          <p:cNvSpPr>
            <a:spLocks noGrp="1"/>
          </p:cNvSpPr>
          <p:nvPr/>
        </p:nvSpPr>
        <p:spPr>
          <a:xfrm>
            <a:off x="7200900" y="5476875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06B"/>
                </a:solidFill>
              </a:defRPr>
            </a:pPr>
            <a:r>
              <a:rPr sz="1050" b="0">
                <a:solidFill>
                  <a:srgbClr val="62706B"/>
                </a:solidFill>
              </a:rPr>
              <a:t>공공데이터 주소를 지도 좌표로 정제</a:t>
            </a:r>
          </a:p>
        </p:txBody>
      </p:sp>
      <p:sp>
        <p:nvSpPr>
          <p:cNvPr id="34" name="api-panel-3">
            <a:extLst>
              <a:ext uri="{FF2B5EF4-FFF2-40B4-BE49-F238E27FC236}">
                <a16:creationId xmlns:a16="http://schemas.microsoft.com/office/drawing/2014/main" id="{33FCF77D-850B-42CD-9D4E-C609D4C31696}"/>
              </a:ext>
            </a:extLst>
          </p:cNvPr>
          <p:cNvSpPr>
            <a:spLocks noGrp="1"/>
          </p:cNvSpPr>
          <p:nvPr/>
        </p:nvSpPr>
        <p:spPr>
          <a:xfrm>
            <a:off x="10106025" y="1790700"/>
            <a:ext cx="2857500" cy="4095750"/>
          </a:xfrm>
          <a:prstGeom prst="roundRect">
            <a:avLst>
              <a:gd name="adj" fmla="val 5333"/>
            </a:avLst>
          </a:prstGeom>
          <a:solidFill>
            <a:srgbClr val="F1ECFF"/>
          </a:solidFill>
          <a:ln w="9525">
            <a:solidFill>
              <a:srgbClr val="D8DE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5" name="api-num-3">
            <a:extLst>
              <a:ext uri="{FF2B5EF4-FFF2-40B4-BE49-F238E27FC236}">
                <a16:creationId xmlns:a16="http://schemas.microsoft.com/office/drawing/2014/main" id="{2013C121-D4BA-4B27-B66E-33830C015836}"/>
              </a:ext>
            </a:extLst>
          </p:cNvPr>
          <p:cNvSpPr>
            <a:spLocks noGrp="1"/>
          </p:cNvSpPr>
          <p:nvPr/>
        </p:nvSpPr>
        <p:spPr>
          <a:xfrm>
            <a:off x="10372725" y="209550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7B61C9"/>
                </a:solidFill>
              </a:defRPr>
            </a:pPr>
            <a:r>
              <a:rPr sz="1875" b="1">
                <a:solidFill>
                  <a:srgbClr val="7B61C9"/>
                </a:solidFill>
              </a:rPr>
              <a:t>04</a:t>
            </a:r>
          </a:p>
        </p:txBody>
      </p:sp>
      <p:sp>
        <p:nvSpPr>
          <p:cNvPr id="36" name="api-name-3">
            <a:extLst>
              <a:ext uri="{FF2B5EF4-FFF2-40B4-BE49-F238E27FC236}">
                <a16:creationId xmlns:a16="http://schemas.microsoft.com/office/drawing/2014/main" id="{8086B56A-009F-4E6D-874D-702DD11A5FD4}"/>
              </a:ext>
            </a:extLst>
          </p:cNvPr>
          <p:cNvSpPr>
            <a:spLocks noGrp="1"/>
          </p:cNvSpPr>
          <p:nvPr/>
        </p:nvSpPr>
        <p:spPr>
          <a:xfrm>
            <a:off x="10372725" y="272415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OpenAI API</a:t>
            </a:r>
          </a:p>
        </p:txBody>
      </p:sp>
      <p:sp>
        <p:nvSpPr>
          <p:cNvPr id="37" name="api-accent-3">
            <a:extLst>
              <a:ext uri="{FF2B5EF4-FFF2-40B4-BE49-F238E27FC236}">
                <a16:creationId xmlns:a16="http://schemas.microsoft.com/office/drawing/2014/main" id="{F982F5C4-7572-4017-B15E-E91813D5B85A}"/>
              </a:ext>
            </a:extLst>
          </p:cNvPr>
          <p:cNvSpPr>
            <a:spLocks noGrp="1"/>
          </p:cNvSpPr>
          <p:nvPr/>
        </p:nvSpPr>
        <p:spPr>
          <a:xfrm>
            <a:off x="10372725" y="3371850"/>
            <a:ext cx="2324100" cy="47625"/>
          </a:xfrm>
          <a:prstGeom prst="rect">
            <a:avLst/>
          </a:prstGeom>
          <a:solidFill>
            <a:srgbClr val="7B61C9"/>
          </a:solidFill>
          <a:ln w="0">
            <a:solidFill>
              <a:srgbClr val="7B61C9"/>
            </a:solidFill>
            <a:prstDash val="solid"/>
          </a:ln>
        </p:spPr>
      </p:sp>
      <p:sp>
        <p:nvSpPr>
          <p:cNvPr id="38" name="api-role-label-3">
            <a:extLst>
              <a:ext uri="{FF2B5EF4-FFF2-40B4-BE49-F238E27FC236}">
                <a16:creationId xmlns:a16="http://schemas.microsoft.com/office/drawing/2014/main" id="{688A7019-DE19-47A8-8311-0AAE8E8D7BFD}"/>
              </a:ext>
            </a:extLst>
          </p:cNvPr>
          <p:cNvSpPr>
            <a:spLocks noGrp="1"/>
          </p:cNvSpPr>
          <p:nvPr/>
        </p:nvSpPr>
        <p:spPr>
          <a:xfrm>
            <a:off x="10372725" y="373380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7B61C9"/>
                </a:solidFill>
              </a:defRPr>
            </a:pPr>
            <a:r>
              <a:rPr sz="975" b="1">
                <a:solidFill>
                  <a:srgbClr val="7B61C9"/>
                </a:solidFill>
              </a:rPr>
              <a:t>ROLE</a:t>
            </a:r>
          </a:p>
        </p:txBody>
      </p:sp>
      <p:sp>
        <p:nvSpPr>
          <p:cNvPr id="39" name="api-role-3">
            <a:extLst>
              <a:ext uri="{FF2B5EF4-FFF2-40B4-BE49-F238E27FC236}">
                <a16:creationId xmlns:a16="http://schemas.microsoft.com/office/drawing/2014/main" id="{27A7FADA-EAF3-49FC-B3FB-35926C7FC7EA}"/>
              </a:ext>
            </a:extLst>
          </p:cNvPr>
          <p:cNvSpPr>
            <a:spLocks noGrp="1"/>
          </p:cNvSpPr>
          <p:nvPr/>
        </p:nvSpPr>
        <p:spPr>
          <a:xfrm>
            <a:off x="10372725" y="4048125"/>
            <a:ext cx="232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생활안전 챗봇 응답</a:t>
            </a:r>
          </a:p>
        </p:txBody>
      </p:sp>
      <p:sp>
        <p:nvSpPr>
          <p:cNvPr id="40" name="api-key-label-3">
            <a:extLst>
              <a:ext uri="{FF2B5EF4-FFF2-40B4-BE49-F238E27FC236}">
                <a16:creationId xmlns:a16="http://schemas.microsoft.com/office/drawing/2014/main" id="{C30C3271-86FB-4F63-9F88-B9D188F808C6}"/>
              </a:ext>
            </a:extLst>
          </p:cNvPr>
          <p:cNvSpPr>
            <a:spLocks noGrp="1"/>
          </p:cNvSpPr>
          <p:nvPr/>
        </p:nvSpPr>
        <p:spPr>
          <a:xfrm>
            <a:off x="10372725" y="4762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2706B"/>
                </a:solidFill>
              </a:defRPr>
            </a:pPr>
            <a:r>
              <a:rPr sz="825" b="1">
                <a:solidFill>
                  <a:srgbClr val="62706B"/>
                </a:solidFill>
              </a:rPr>
              <a:t>ENVIRONMENT VARIABLE</a:t>
            </a:r>
          </a:p>
        </p:txBody>
      </p:sp>
      <p:sp>
        <p:nvSpPr>
          <p:cNvPr id="41" name="api-key-3">
            <a:extLst>
              <a:ext uri="{FF2B5EF4-FFF2-40B4-BE49-F238E27FC236}">
                <a16:creationId xmlns:a16="http://schemas.microsoft.com/office/drawing/2014/main" id="{187F628D-A5C2-4B33-8C7E-E1DC1747E1F6}"/>
              </a:ext>
            </a:extLst>
          </p:cNvPr>
          <p:cNvSpPr>
            <a:spLocks noGrp="1"/>
          </p:cNvSpPr>
          <p:nvPr/>
        </p:nvSpPr>
        <p:spPr>
          <a:xfrm>
            <a:off x="10372725" y="503872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7B61C9"/>
                </a:solidFill>
              </a:defRPr>
            </a:pPr>
            <a:r>
              <a:rPr sz="975" b="1">
                <a:solidFill>
                  <a:srgbClr val="7B61C9"/>
                </a:solidFill>
              </a:rPr>
              <a:t>OPENAI_API_KEY</a:t>
            </a:r>
          </a:p>
        </p:txBody>
      </p:sp>
      <p:sp>
        <p:nvSpPr>
          <p:cNvPr id="42" name="api-note-3">
            <a:extLst>
              <a:ext uri="{FF2B5EF4-FFF2-40B4-BE49-F238E27FC236}">
                <a16:creationId xmlns:a16="http://schemas.microsoft.com/office/drawing/2014/main" id="{F49FD546-175E-47CE-89AE-46C51D19269B}"/>
              </a:ext>
            </a:extLst>
          </p:cNvPr>
          <p:cNvSpPr>
            <a:spLocks noGrp="1"/>
          </p:cNvSpPr>
          <p:nvPr/>
        </p:nvSpPr>
        <p:spPr>
          <a:xfrm>
            <a:off x="10372725" y="5476875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06B"/>
                </a:solidFill>
              </a:defRPr>
            </a:pPr>
            <a:r>
              <a:rPr sz="1050" b="0">
                <a:solidFill>
                  <a:srgbClr val="62706B"/>
                </a:solidFill>
              </a:rPr>
              <a:t>Netlify Functions 서버에서만 호출</a:t>
            </a:r>
          </a:p>
        </p:txBody>
      </p:sp>
      <p:sp>
        <p:nvSpPr>
          <p:cNvPr id="43" name="api-security">
            <a:extLst>
              <a:ext uri="{FF2B5EF4-FFF2-40B4-BE49-F238E27FC236}">
                <a16:creationId xmlns:a16="http://schemas.microsoft.com/office/drawing/2014/main" id="{598B9C6E-F637-48BB-AB47-CAA8C918E03C}"/>
              </a:ext>
            </a:extLst>
          </p:cNvPr>
          <p:cNvSpPr>
            <a:spLocks noGrp="1"/>
          </p:cNvSpPr>
          <p:nvPr/>
        </p:nvSpPr>
        <p:spPr>
          <a:xfrm>
            <a:off x="590550" y="6248400"/>
            <a:ext cx="12372975" cy="66675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D6DF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4" name="api-security-title">
            <a:extLst>
              <a:ext uri="{FF2B5EF4-FFF2-40B4-BE49-F238E27FC236}">
                <a16:creationId xmlns:a16="http://schemas.microsoft.com/office/drawing/2014/main" id="{4967D4F2-FA43-4693-9F73-DAA4F02F02CF}"/>
              </a:ext>
            </a:extLst>
          </p:cNvPr>
          <p:cNvSpPr>
            <a:spLocks noGrp="1"/>
          </p:cNvSpPr>
          <p:nvPr/>
        </p:nvSpPr>
        <p:spPr>
          <a:xfrm>
            <a:off x="838200" y="64389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704D"/>
                </a:solidFill>
              </a:defRPr>
            </a:pPr>
            <a:r>
              <a:rPr sz="1050" b="1">
                <a:solidFill>
                  <a:srgbClr val="FF704D"/>
                </a:solidFill>
              </a:rPr>
              <a:t>SECURITY</a:t>
            </a:r>
          </a:p>
        </p:txBody>
      </p:sp>
      <p:sp>
        <p:nvSpPr>
          <p:cNvPr id="45" name="api-security-copy">
            <a:extLst>
              <a:ext uri="{FF2B5EF4-FFF2-40B4-BE49-F238E27FC236}">
                <a16:creationId xmlns:a16="http://schemas.microsoft.com/office/drawing/2014/main" id="{3F4987BE-941A-415B-8999-C7F05635721C}"/>
              </a:ext>
            </a:extLst>
          </p:cNvPr>
          <p:cNvSpPr>
            <a:spLocks noGrp="1"/>
          </p:cNvSpPr>
          <p:nvPr/>
        </p:nvSpPr>
        <p:spPr>
          <a:xfrm>
            <a:off x="1952625" y="6419850"/>
            <a:ext cx="1071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31F"/>
                </a:solidFill>
              </a:defRPr>
            </a:pPr>
            <a:r>
              <a:rPr sz="1275" b="1">
                <a:solidFill>
                  <a:srgbClr val="17231F"/>
                </a:solidFill>
              </a:rPr>
              <a:t>환경변수 이름만 표기하고 실제 키 값은 공개하지 않습니다. OPENAI_API_KEY는 브라우저가 아닌 서버 환경에서만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994601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ackground-14">
            <a:extLst>
              <a:ext uri="{FF2B5EF4-FFF2-40B4-BE49-F238E27FC236}">
                <a16:creationId xmlns:a16="http://schemas.microsoft.com/office/drawing/2014/main" id="{E7A7543C-8B1E-4A21-B03D-14F5D1C84C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7F5F0"/>
          </a:solidFill>
          <a:ln w="0">
            <a:solidFill>
              <a:srgbClr val="F7F5F0"/>
            </a:solidFill>
            <a:prstDash val="solid"/>
          </a:ln>
        </p:spPr>
      </p:sp>
      <p:sp>
        <p:nvSpPr>
          <p:cNvPr id="2" name="section-14">
            <a:extLst>
              <a:ext uri="{FF2B5EF4-FFF2-40B4-BE49-F238E27FC236}">
                <a16:creationId xmlns:a16="http://schemas.microsoft.com/office/drawing/2014/main" id="{C183C946-D8D3-4A47-8AD7-35953A356D54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DX · SOURCES</a:t>
            </a:r>
          </a:p>
        </p:txBody>
      </p:sp>
      <p:sp>
        <p:nvSpPr>
          <p:cNvPr id="3" name="header-line-14">
            <a:extLst>
              <a:ext uri="{FF2B5EF4-FFF2-40B4-BE49-F238E27FC236}">
                <a16:creationId xmlns:a16="http://schemas.microsoft.com/office/drawing/2014/main" id="{F21E60BF-7D3A-481A-8BFB-DD6150315E83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25349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header-accent-14">
            <a:extLst>
              <a:ext uri="{FF2B5EF4-FFF2-40B4-BE49-F238E27FC236}">
                <a16:creationId xmlns:a16="http://schemas.microsoft.com/office/drawing/2014/main" id="{36CEE3E1-6004-46F0-9BEF-6831F49DA969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428750" cy="38100"/>
          </a:xfrm>
          <a:prstGeom prst="rect">
            <a:avLst/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</p:sp>
      <p:sp>
        <p:nvSpPr>
          <p:cNvPr id="5" name="title-14">
            <a:extLst>
              <a:ext uri="{FF2B5EF4-FFF2-40B4-BE49-F238E27FC236}">
                <a16:creationId xmlns:a16="http://schemas.microsoft.com/office/drawing/2014/main" id="{699AA81F-7432-4F0B-BFC9-C5DA4FFE12F6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서비스를 구성한 공공데이터와 검색 API</a:t>
            </a:r>
          </a:p>
        </p:txBody>
      </p:sp>
      <p:sp>
        <p:nvSpPr>
          <p:cNvPr id="6" name="page-14">
            <a:extLst>
              <a:ext uri="{FF2B5EF4-FFF2-40B4-BE49-F238E27FC236}">
                <a16:creationId xmlns:a16="http://schemas.microsoft.com/office/drawing/2014/main" id="{BA8FC97D-ECC1-4141-AAE0-35FCDBF6433D}"/>
              </a:ext>
            </a:extLst>
          </p:cNvPr>
          <p:cNvSpPr>
            <a:spLocks noGrp="1"/>
          </p:cNvSpPr>
          <p:nvPr/>
        </p:nvSpPr>
        <p:spPr>
          <a:xfrm>
            <a:off x="12382500" y="9429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14</a:t>
            </a:r>
          </a:p>
        </p:txBody>
      </p:sp>
      <p:sp>
        <p:nvSpPr>
          <p:cNvPr id="7" name="source-num-0">
            <a:extLst>
              <a:ext uri="{FF2B5EF4-FFF2-40B4-BE49-F238E27FC236}">
                <a16:creationId xmlns:a16="http://schemas.microsoft.com/office/drawing/2014/main" id="{5DA26F0B-4D88-46BF-9D3D-C18F103254D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0A878"/>
                </a:solidFill>
              </a:defRPr>
            </a:pPr>
            <a:r>
              <a:rPr sz="2700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8" name="source-title-0">
            <a:extLst>
              <a:ext uri="{FF2B5EF4-FFF2-40B4-BE49-F238E27FC236}">
                <a16:creationId xmlns:a16="http://schemas.microsoft.com/office/drawing/2014/main" id="{0327B0EA-4C10-4DC3-89FE-3CA8AFBAF7ED}"/>
              </a:ext>
            </a:extLst>
          </p:cNvPr>
          <p:cNvSpPr>
            <a:spLocks noGrp="1"/>
          </p:cNvSpPr>
          <p:nvPr/>
        </p:nvSpPr>
        <p:spPr>
          <a:xfrm>
            <a:off x="1619250" y="18097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CCTV 위치 데이터</a:t>
            </a:r>
          </a:p>
        </p:txBody>
      </p:sp>
      <p:sp>
        <p:nvSpPr>
          <p:cNvPr id="9" name="source-desc-0">
            <a:extLst>
              <a:ext uri="{FF2B5EF4-FFF2-40B4-BE49-F238E27FC236}">
                <a16:creationId xmlns:a16="http://schemas.microsoft.com/office/drawing/2014/main" id="{E1D5417C-E41C-4DE8-AB90-2C28DA171A2A}"/>
              </a:ext>
            </a:extLst>
          </p:cNvPr>
          <p:cNvSpPr>
            <a:spLocks noGrp="1"/>
          </p:cNvSpPr>
          <p:nvPr/>
        </p:nvSpPr>
        <p:spPr>
          <a:xfrm>
            <a:off x="5810250" y="1809750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공공데이터포털 전남광주 CCTV 데이터</a:t>
            </a:r>
          </a:p>
        </p:txBody>
      </p:sp>
      <p:sp>
        <p:nvSpPr>
          <p:cNvPr id="10" name="source-url-0">
            <a:extLst>
              <a:ext uri="{FF2B5EF4-FFF2-40B4-BE49-F238E27FC236}">
                <a16:creationId xmlns:a16="http://schemas.microsoft.com/office/drawing/2014/main" id="{9882A5CA-369A-4FD3-973C-54522764718B}"/>
              </a:ext>
            </a:extLst>
          </p:cNvPr>
          <p:cNvSpPr>
            <a:spLocks noGrp="1"/>
          </p:cNvSpPr>
          <p:nvPr/>
        </p:nvSpPr>
        <p:spPr>
          <a:xfrm>
            <a:off x="5810250" y="22098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00A878"/>
                </a:solidFill>
              </a:defRPr>
            </a:pPr>
            <a:r>
              <a:rPr sz="900" b="0">
                <a:solidFill>
                  <a:srgbClr val="00A878"/>
                </a:solidFill>
              </a:rPr>
              <a:t>https://www.data.go.kr/data/15084631/fileData.do</a:t>
            </a:r>
          </a:p>
        </p:txBody>
      </p:sp>
      <p:sp>
        <p:nvSpPr>
          <p:cNvPr id="11" name="source-rule-0">
            <a:extLst>
              <a:ext uri="{FF2B5EF4-FFF2-40B4-BE49-F238E27FC236}">
                <a16:creationId xmlns:a16="http://schemas.microsoft.com/office/drawing/2014/main" id="{EE9004C7-9A9C-42C3-8200-0908CB518142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251585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2" name="source-num-1">
            <a:extLst>
              <a:ext uri="{FF2B5EF4-FFF2-40B4-BE49-F238E27FC236}">
                <a16:creationId xmlns:a16="http://schemas.microsoft.com/office/drawing/2014/main" id="{9A4D16A3-44BD-4900-BEC0-270E5D04B5FB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4775E8"/>
                </a:solidFill>
              </a:defRPr>
            </a:pPr>
            <a:r>
              <a:rPr sz="2700" b="1">
                <a:solidFill>
                  <a:srgbClr val="4775E8"/>
                </a:solidFill>
              </a:rPr>
              <a:t>02</a:t>
            </a:r>
          </a:p>
        </p:txBody>
      </p:sp>
      <p:sp>
        <p:nvSpPr>
          <p:cNvPr id="13" name="source-title-1">
            <a:extLst>
              <a:ext uri="{FF2B5EF4-FFF2-40B4-BE49-F238E27FC236}">
                <a16:creationId xmlns:a16="http://schemas.microsoft.com/office/drawing/2014/main" id="{BA2DA38B-FDA4-4A6E-B009-2CF4929F4C10}"/>
              </a:ext>
            </a:extLst>
          </p:cNvPr>
          <p:cNvSpPr>
            <a:spLocks noGrp="1"/>
          </p:cNvSpPr>
          <p:nvPr/>
        </p:nvSpPr>
        <p:spPr>
          <a:xfrm>
            <a:off x="1619250" y="30480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지구대·파출소 위치 데이터</a:t>
            </a:r>
          </a:p>
        </p:txBody>
      </p:sp>
      <p:sp>
        <p:nvSpPr>
          <p:cNvPr id="14" name="source-desc-1">
            <a:extLst>
              <a:ext uri="{FF2B5EF4-FFF2-40B4-BE49-F238E27FC236}">
                <a16:creationId xmlns:a16="http://schemas.microsoft.com/office/drawing/2014/main" id="{B2EB7260-C609-4BDB-85D0-23742CB11771}"/>
              </a:ext>
            </a:extLst>
          </p:cNvPr>
          <p:cNvSpPr>
            <a:spLocks noGrp="1"/>
          </p:cNvSpPr>
          <p:nvPr/>
        </p:nvSpPr>
        <p:spPr>
          <a:xfrm>
            <a:off x="5810250" y="3048000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공공데이터포털 전남광주 지구대 및 파출소 현황</a:t>
            </a:r>
          </a:p>
        </p:txBody>
      </p:sp>
      <p:sp>
        <p:nvSpPr>
          <p:cNvPr id="15" name="source-url-1">
            <a:extLst>
              <a:ext uri="{FF2B5EF4-FFF2-40B4-BE49-F238E27FC236}">
                <a16:creationId xmlns:a16="http://schemas.microsoft.com/office/drawing/2014/main" id="{17840C87-36C0-4DC2-B18F-C8866E1B3DA0}"/>
              </a:ext>
            </a:extLst>
          </p:cNvPr>
          <p:cNvSpPr>
            <a:spLocks noGrp="1"/>
          </p:cNvSpPr>
          <p:nvPr/>
        </p:nvSpPr>
        <p:spPr>
          <a:xfrm>
            <a:off x="5810250" y="34480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4775E8"/>
                </a:solidFill>
              </a:defRPr>
            </a:pPr>
            <a:r>
              <a:rPr sz="900" b="0">
                <a:solidFill>
                  <a:srgbClr val="4775E8"/>
                </a:solidFill>
              </a:rPr>
              <a:t>https://www.data.go.kr/data/15099907/fileData.do</a:t>
            </a:r>
          </a:p>
        </p:txBody>
      </p:sp>
      <p:sp>
        <p:nvSpPr>
          <p:cNvPr id="16" name="source-rule-1">
            <a:extLst>
              <a:ext uri="{FF2B5EF4-FFF2-40B4-BE49-F238E27FC236}">
                <a16:creationId xmlns:a16="http://schemas.microsoft.com/office/drawing/2014/main" id="{8240CC7C-EE39-4FE7-8729-2850381B779F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1251585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17" name="source-num-2">
            <a:extLst>
              <a:ext uri="{FF2B5EF4-FFF2-40B4-BE49-F238E27FC236}">
                <a16:creationId xmlns:a16="http://schemas.microsoft.com/office/drawing/2014/main" id="{6A2C80D2-202F-44D1-8932-8F83AD2935DA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704D"/>
                </a:solidFill>
              </a:defRPr>
            </a:pPr>
            <a:r>
              <a:rPr sz="2700" b="1">
                <a:solidFill>
                  <a:srgbClr val="FF704D"/>
                </a:solidFill>
              </a:rPr>
              <a:t>03</a:t>
            </a:r>
          </a:p>
        </p:txBody>
      </p:sp>
      <p:sp>
        <p:nvSpPr>
          <p:cNvPr id="18" name="source-title-2">
            <a:extLst>
              <a:ext uri="{FF2B5EF4-FFF2-40B4-BE49-F238E27FC236}">
                <a16:creationId xmlns:a16="http://schemas.microsoft.com/office/drawing/2014/main" id="{AFEC7DAC-A485-4544-8EE8-4F3800E09BAB}"/>
              </a:ext>
            </a:extLst>
          </p:cNvPr>
          <p:cNvSpPr>
            <a:spLocks noGrp="1"/>
          </p:cNvSpPr>
          <p:nvPr/>
        </p:nvSpPr>
        <p:spPr>
          <a:xfrm>
            <a:off x="1619250" y="42862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경찰서 위치 데이터</a:t>
            </a:r>
          </a:p>
        </p:txBody>
      </p:sp>
      <p:sp>
        <p:nvSpPr>
          <p:cNvPr id="19" name="source-desc-2">
            <a:extLst>
              <a:ext uri="{FF2B5EF4-FFF2-40B4-BE49-F238E27FC236}">
                <a16:creationId xmlns:a16="http://schemas.microsoft.com/office/drawing/2014/main" id="{57F882C0-4F79-4134-ABED-5A5CCA70A543}"/>
              </a:ext>
            </a:extLst>
          </p:cNvPr>
          <p:cNvSpPr>
            <a:spLocks noGrp="1"/>
          </p:cNvSpPr>
          <p:nvPr/>
        </p:nvSpPr>
        <p:spPr>
          <a:xfrm>
            <a:off x="5810250" y="4286250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경찰청 전국 경찰관서 안내</a:t>
            </a:r>
          </a:p>
        </p:txBody>
      </p:sp>
      <p:sp>
        <p:nvSpPr>
          <p:cNvPr id="20" name="source-url-2">
            <a:extLst>
              <a:ext uri="{FF2B5EF4-FFF2-40B4-BE49-F238E27FC236}">
                <a16:creationId xmlns:a16="http://schemas.microsoft.com/office/drawing/2014/main" id="{40FF01B3-8E5F-49D9-8D52-DDB4657D9FC1}"/>
              </a:ext>
            </a:extLst>
          </p:cNvPr>
          <p:cNvSpPr>
            <a:spLocks noGrp="1"/>
          </p:cNvSpPr>
          <p:nvPr/>
        </p:nvSpPr>
        <p:spPr>
          <a:xfrm>
            <a:off x="5810250" y="46863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F704D"/>
                </a:solidFill>
              </a:defRPr>
            </a:pPr>
            <a:r>
              <a:rPr sz="900" b="0">
                <a:solidFill>
                  <a:srgbClr val="FF704D"/>
                </a:solidFill>
              </a:rPr>
              <a:t>https://www.police.go.kr/user/bbs/BD_selectBbsList.do?q_bbsCode=1038&amp;q_tab=5</a:t>
            </a:r>
          </a:p>
        </p:txBody>
      </p:sp>
      <p:sp>
        <p:nvSpPr>
          <p:cNvPr id="21" name="source-rule-2">
            <a:extLst>
              <a:ext uri="{FF2B5EF4-FFF2-40B4-BE49-F238E27FC236}">
                <a16:creationId xmlns:a16="http://schemas.microsoft.com/office/drawing/2014/main" id="{C0AE37B2-E151-4AFD-B7F7-B34A19626564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251585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22" name="source-num-3">
            <a:extLst>
              <a:ext uri="{FF2B5EF4-FFF2-40B4-BE49-F238E27FC236}">
                <a16:creationId xmlns:a16="http://schemas.microsoft.com/office/drawing/2014/main" id="{E9C50844-5383-49D0-90C4-A6E2B485175A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4322D"/>
                </a:solidFill>
              </a:defRPr>
            </a:pPr>
            <a:r>
              <a:rPr sz="2700" b="1">
                <a:solidFill>
                  <a:srgbClr val="24322D"/>
                </a:solidFill>
              </a:rPr>
              <a:t>04</a:t>
            </a:r>
          </a:p>
        </p:txBody>
      </p:sp>
      <p:sp>
        <p:nvSpPr>
          <p:cNvPr id="23" name="source-title-3">
            <a:extLst>
              <a:ext uri="{FF2B5EF4-FFF2-40B4-BE49-F238E27FC236}">
                <a16:creationId xmlns:a16="http://schemas.microsoft.com/office/drawing/2014/main" id="{9C78FF0F-51D6-4C03-A002-CDF9BF4B3054}"/>
              </a:ext>
            </a:extLst>
          </p:cNvPr>
          <p:cNvSpPr>
            <a:spLocks noGrp="1"/>
          </p:cNvSpPr>
          <p:nvPr/>
        </p:nvSpPr>
        <p:spPr>
          <a:xfrm>
            <a:off x="1619250" y="55245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기사 데이터</a:t>
            </a:r>
          </a:p>
        </p:txBody>
      </p:sp>
      <p:sp>
        <p:nvSpPr>
          <p:cNvPr id="24" name="source-desc-3">
            <a:extLst>
              <a:ext uri="{FF2B5EF4-FFF2-40B4-BE49-F238E27FC236}">
                <a16:creationId xmlns:a16="http://schemas.microsoft.com/office/drawing/2014/main" id="{41D366DF-4E71-4A62-BF00-4FDF7956949D}"/>
              </a:ext>
            </a:extLst>
          </p:cNvPr>
          <p:cNvSpPr>
            <a:spLocks noGrp="1"/>
          </p:cNvSpPr>
          <p:nvPr/>
        </p:nvSpPr>
        <p:spPr>
          <a:xfrm>
            <a:off x="5810250" y="5524500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네이버 검색 API 이용 수집 · JSON 파일 내 출처 기입</a:t>
            </a:r>
          </a:p>
        </p:txBody>
      </p:sp>
      <p:sp>
        <p:nvSpPr>
          <p:cNvPr id="25" name="source-url-3">
            <a:extLst>
              <a:ext uri="{FF2B5EF4-FFF2-40B4-BE49-F238E27FC236}">
                <a16:creationId xmlns:a16="http://schemas.microsoft.com/office/drawing/2014/main" id="{9DBA9E96-697E-409D-9A11-EBCC72238F38}"/>
              </a:ext>
            </a:extLst>
          </p:cNvPr>
          <p:cNvSpPr>
            <a:spLocks noGrp="1"/>
          </p:cNvSpPr>
          <p:nvPr/>
        </p:nvSpPr>
        <p:spPr>
          <a:xfrm>
            <a:off x="5810250" y="59245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24322D"/>
                </a:solidFill>
              </a:defRPr>
            </a:pPr>
            <a:r>
              <a:rPr sz="900" b="0">
                <a:solidFill>
                  <a:srgbClr val="24322D"/>
                </a:solidFill>
              </a:rPr>
              <a:t>Naver Search API</a:t>
            </a:r>
          </a:p>
        </p:txBody>
      </p:sp>
      <p:sp>
        <p:nvSpPr>
          <p:cNvPr id="26" name="source-rule-3">
            <a:extLst>
              <a:ext uri="{FF2B5EF4-FFF2-40B4-BE49-F238E27FC236}">
                <a16:creationId xmlns:a16="http://schemas.microsoft.com/office/drawing/2014/main" id="{3FD9F2C0-CF8A-4A8C-8BF3-BF14553EDDF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251585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2755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-15">
            <a:extLst>
              <a:ext uri="{FF2B5EF4-FFF2-40B4-BE49-F238E27FC236}">
                <a16:creationId xmlns:a16="http://schemas.microsoft.com/office/drawing/2014/main" id="{75FD357A-5601-40E1-AF7F-7B0D55C62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4EFE7"/>
          </a:solidFill>
          <a:ln w="0">
            <a:solidFill>
              <a:srgbClr val="F4EFE7"/>
            </a:solidFill>
            <a:prstDash val="solid"/>
          </a:ln>
        </p:spPr>
      </p:sp>
      <p:sp>
        <p:nvSpPr>
          <p:cNvPr id="2" name="close-brand">
            <a:extLst>
              <a:ext uri="{FF2B5EF4-FFF2-40B4-BE49-F238E27FC236}">
                <a16:creationId xmlns:a16="http://schemas.microsoft.com/office/drawing/2014/main" id="{D51A6DCF-10EB-4208-8A50-E8CF70232888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A878"/>
                </a:solidFill>
              </a:defRPr>
            </a:pPr>
            <a:r>
              <a:rPr sz="1200" b="1" dirty="0">
                <a:solidFill>
                  <a:srgbClr val="00A878"/>
                </a:solidFill>
              </a:rPr>
              <a:t>LOCALHUB</a:t>
            </a:r>
          </a:p>
        </p:txBody>
      </p:sp>
      <p:sp>
        <p:nvSpPr>
          <p:cNvPr id="3" name="close-rule">
            <a:extLst>
              <a:ext uri="{FF2B5EF4-FFF2-40B4-BE49-F238E27FC236}">
                <a16:creationId xmlns:a16="http://schemas.microsoft.com/office/drawing/2014/main" id="{ADB97AE5-4AE7-4647-AF67-B6466DC10842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2382500" cy="9525"/>
          </a:xfrm>
          <a:prstGeom prst="rect">
            <a:avLst/>
          </a:prstGeom>
          <a:solidFill>
            <a:srgbClr val="D2DDD8"/>
          </a:solidFill>
          <a:ln w="0">
            <a:solidFill>
              <a:srgbClr val="D2DDD8"/>
            </a:solidFill>
            <a:prstDash val="solid"/>
          </a:ln>
        </p:spPr>
      </p:sp>
      <p:sp>
        <p:nvSpPr>
          <p:cNvPr id="4" name="close-thanks">
            <a:extLst>
              <a:ext uri="{FF2B5EF4-FFF2-40B4-BE49-F238E27FC236}">
                <a16:creationId xmlns:a16="http://schemas.microsoft.com/office/drawing/2014/main" id="{808ACA1A-4A99-4D62-9F5D-C30728056EAD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9048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450" b="1">
                <a:solidFill>
                  <a:srgbClr val="17231F"/>
                </a:solidFill>
              </a:defRPr>
            </a:pPr>
            <a:r>
              <a:rPr sz="6450" b="1" dirty="0" err="1">
                <a:solidFill>
                  <a:srgbClr val="17231F"/>
                </a:solidFill>
              </a:rPr>
              <a:t>감사합니다</a:t>
            </a:r>
            <a:r>
              <a:rPr sz="6450" b="1" dirty="0">
                <a:solidFill>
                  <a:srgbClr val="17231F"/>
                </a:solidFill>
              </a:rPr>
              <a:t>.</a:t>
            </a:r>
          </a:p>
        </p:txBody>
      </p:sp>
      <p:sp>
        <p:nvSpPr>
          <p:cNvPr id="5" name="close-message">
            <a:extLst>
              <a:ext uri="{FF2B5EF4-FFF2-40B4-BE49-F238E27FC236}">
                <a16:creationId xmlns:a16="http://schemas.microsoft.com/office/drawing/2014/main" id="{78EC3DD8-84D9-4DF7-A083-BA37D913A4A2}"/>
              </a:ext>
            </a:extLst>
          </p:cNvPr>
          <p:cNvSpPr>
            <a:spLocks noGrp="1"/>
          </p:cNvSpPr>
          <p:nvPr/>
        </p:nvSpPr>
        <p:spPr>
          <a:xfrm>
            <a:off x="723900" y="3857625"/>
            <a:ext cx="990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62706B"/>
                </a:solidFill>
              </a:defRPr>
            </a:pPr>
            <a:r>
              <a:rPr sz="1950" b="0">
                <a:solidFill>
                  <a:srgbClr val="62706B"/>
                </a:solidFill>
              </a:rPr>
              <a:t>공공데이터로 보고, 안전경로로 안내하고, 주민과 함께 보완합니다.</a:t>
            </a:r>
          </a:p>
        </p:txBody>
      </p:sp>
      <p:sp>
        <p:nvSpPr>
          <p:cNvPr id="6" name="close-accent">
            <a:extLst>
              <a:ext uri="{FF2B5EF4-FFF2-40B4-BE49-F238E27FC236}">
                <a16:creationId xmlns:a16="http://schemas.microsoft.com/office/drawing/2014/main" id="{82E10035-6387-408A-B860-23ABD792198C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3143250" cy="66675"/>
          </a:xfrm>
          <a:prstGeom prst="rect">
            <a:avLst/>
          </a:prstGeom>
          <a:solidFill>
            <a:srgbClr val="FF704D"/>
          </a:solidFill>
          <a:ln w="0">
            <a:solidFill>
              <a:srgbClr val="FF704D"/>
            </a:solidFill>
            <a:prstDash val="solid"/>
          </a:ln>
        </p:spPr>
      </p:sp>
      <p:sp>
        <p:nvSpPr>
          <p:cNvPr id="7" name="close-url">
            <a:hlinkClick r:id="rId3"/>
            <a:extLst>
              <a:ext uri="{FF2B5EF4-FFF2-40B4-BE49-F238E27FC236}">
                <a16:creationId xmlns:a16="http://schemas.microsoft.com/office/drawing/2014/main" id="{C23F658B-EC99-4BC2-B0AB-54150C37C662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A878"/>
                </a:solidFill>
              </a:defRPr>
            </a:pPr>
            <a:r>
              <a:rPr sz="1350" b="1" dirty="0">
                <a:solidFill>
                  <a:srgbClr val="00A878"/>
                </a:solidFill>
              </a:rPr>
              <a:t>jovial-phoenix-52d898.netlify.app</a:t>
            </a:r>
          </a:p>
        </p:txBody>
      </p:sp>
      <p:sp>
        <p:nvSpPr>
          <p:cNvPr id="8" name="close-team">
            <a:extLst>
              <a:ext uri="{FF2B5EF4-FFF2-40B4-BE49-F238E27FC236}">
                <a16:creationId xmlns:a16="http://schemas.microsoft.com/office/drawing/2014/main" id="{9D580EB2-2E58-4D8B-AA96-AB52C491E127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광주 2반  ·  정용철 / 김지명 / 전준혁</a:t>
            </a:r>
          </a:p>
        </p:txBody>
      </p:sp>
      <p:sp>
        <p:nvSpPr>
          <p:cNvPr id="9" name="close-number">
            <a:extLst>
              <a:ext uri="{FF2B5EF4-FFF2-40B4-BE49-F238E27FC236}">
                <a16:creationId xmlns:a16="http://schemas.microsoft.com/office/drawing/2014/main" id="{54E3EDEF-C5C8-4F5F-8EC7-93B94FAC2C2C}"/>
              </a:ext>
            </a:extLst>
          </p:cNvPr>
          <p:cNvSpPr>
            <a:spLocks noGrp="1"/>
          </p:cNvSpPr>
          <p:nvPr/>
        </p:nvSpPr>
        <p:spPr>
          <a:xfrm>
            <a:off x="11811000" y="6238875"/>
            <a:ext cx="1238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4800" b="1">
                <a:solidFill>
                  <a:srgbClr val="DCEFE6"/>
                </a:solidFill>
              </a:defRPr>
            </a:pPr>
            <a:r>
              <a:rPr sz="4800" b="1">
                <a:solidFill>
                  <a:srgbClr val="DCEFE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742537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1194</Words>
  <Application>Microsoft Office PowerPoint</Application>
  <DocSecurity>0</DocSecurity>
  <PresentationFormat>사용자 지정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SSAFY</cp:lastModifiedBy>
  <cp:revision>1</cp:revision>
  <dcterms:created xsi:type="dcterms:W3CDTF">2026-07-15T07:09:51Z</dcterms:created>
  <dcterms:modified xsi:type="dcterms:W3CDTF">2026-07-15T07:18:22Z</dcterms:modified>
</cp:coreProperties>
</file>