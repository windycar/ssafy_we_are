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3716000" cy="771525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38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jovial-phoenix-52d898.netlify.app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ccent-bar">
            <a:extLst>
              <a:ext uri="{FF2B5EF4-FFF2-40B4-BE49-F238E27FC236}">
                <a16:creationId xmlns:a16="http://schemas.microsoft.com/office/drawing/2014/main" id="{776394BB-9629-4689-87F6-4A7A8154425C}"/>
              </a:ext>
            </a:extLst>
          </p:cNvPr>
          <p:cNvSpPr>
            <a:spLocks noGrp="1"/>
          </p:cNvSpPr>
          <p:nvPr/>
        </p:nvSpPr>
        <p:spPr>
          <a:xfrm>
            <a:off x="685800" y="1285875"/>
            <a:ext cx="114300" cy="3667125"/>
          </a:xfrm>
          <a:prstGeom prst="rect">
            <a:avLst/>
          </a:prstGeom>
          <a:solidFill>
            <a:srgbClr val="D96835"/>
          </a:solidFill>
          <a:ln w="0">
            <a:solidFill>
              <a:srgbClr val="D96835"/>
            </a:solidFill>
            <a:prstDash val="solid"/>
          </a:ln>
        </p:spPr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EE3DFA31-ED27-4070-BD99-BABAEF6880A6}"/>
              </a:ext>
            </a:extLst>
          </p:cNvPr>
          <p:cNvSpPr>
            <a:spLocks noGrp="1"/>
          </p:cNvSpPr>
          <p:nvPr/>
        </p:nvSpPr>
        <p:spPr>
          <a:xfrm>
            <a:off x="1123950" y="12573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2796F"/>
                </a:solidFill>
              </a:defRPr>
            </a:pPr>
            <a:r>
              <a:rPr sz="1275" b="1">
                <a:solidFill>
                  <a:srgbClr val="52796F"/>
                </a:solidFill>
              </a:rPr>
              <a:t>LOCALHUB · BX/CX/DX PROJECT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4D2C835-71CB-467F-A698-D1CEA5131969}"/>
              </a:ext>
            </a:extLst>
          </p:cNvPr>
          <p:cNvSpPr>
            <a:spLocks noGrp="1"/>
          </p:cNvSpPr>
          <p:nvPr/>
        </p:nvSpPr>
        <p:spPr>
          <a:xfrm>
            <a:off x="1095375" y="1809750"/>
            <a:ext cx="781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400" b="1">
                <a:solidFill>
                  <a:srgbClr val="171C22"/>
                </a:solidFill>
              </a:defRPr>
            </a:pPr>
            <a:r>
              <a:rPr sz="5400" b="1">
                <a:solidFill>
                  <a:srgbClr val="171C22"/>
                </a:solidFill>
              </a:rPr>
              <a:t>밤길의 불안을</a:t>
            </a:r>
          </a:p>
          <a:p>
            <a:pPr algn="l">
              <a:defRPr sz="5400" b="1">
                <a:solidFill>
                  <a:srgbClr val="171C22"/>
                </a:solidFill>
              </a:defRPr>
            </a:pPr>
            <a:r>
              <a:rPr sz="5400" b="1">
                <a:solidFill>
                  <a:srgbClr val="171C22"/>
                </a:solidFill>
              </a:rPr>
              <a:t>데이터로 읽다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4A75AE07-8399-4ACA-B124-418265CC9178}"/>
              </a:ext>
            </a:extLst>
          </p:cNvPr>
          <p:cNvSpPr>
            <a:spLocks noGrp="1"/>
          </p:cNvSpPr>
          <p:nvPr/>
        </p:nvSpPr>
        <p:spPr>
          <a:xfrm>
            <a:off x="1143000" y="4114800"/>
            <a:ext cx="695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18324A"/>
                </a:solidFill>
              </a:defRPr>
            </a:pPr>
            <a:r>
              <a:rPr lang="ko-KR" altLang="en-US" sz="2100" b="0">
                <a:solidFill>
                  <a:srgbClr val="18324A"/>
                </a:solidFill>
              </a:rPr>
              <a:t>워드클라우드에서 안전귀가 서비스까지</a:t>
            </a:r>
            <a:endParaRPr lang="ko-KR" altLang="en-US" sz="2100" b="0" dirty="0">
              <a:solidFill>
                <a:srgbClr val="18324A"/>
              </a:solidFill>
            </a:endParaRP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194E8A6D-FBA6-44FD-AF2E-F468BB4EC782}"/>
              </a:ext>
            </a:extLst>
          </p:cNvPr>
          <p:cNvSpPr>
            <a:spLocks noGrp="1"/>
          </p:cNvSpPr>
          <p:nvPr/>
        </p:nvSpPr>
        <p:spPr>
          <a:xfrm>
            <a:off x="1143000" y="46482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87078"/>
                </a:solidFill>
              </a:defRPr>
            </a:pPr>
            <a:r>
              <a:rPr sz="1350" b="0" dirty="0" err="1">
                <a:solidFill>
                  <a:srgbClr val="687078"/>
                </a:solidFill>
              </a:rPr>
              <a:t>네이버</a:t>
            </a:r>
            <a:r>
              <a:rPr sz="1350" b="0" dirty="0">
                <a:solidFill>
                  <a:srgbClr val="687078"/>
                </a:solidFill>
              </a:rPr>
              <a:t> </a:t>
            </a:r>
            <a:r>
              <a:rPr sz="1350" b="0" dirty="0" err="1">
                <a:solidFill>
                  <a:srgbClr val="687078"/>
                </a:solidFill>
              </a:rPr>
              <a:t>뉴스·블로그</a:t>
            </a:r>
            <a:r>
              <a:rPr sz="1350" b="0" dirty="0">
                <a:solidFill>
                  <a:srgbClr val="687078"/>
                </a:solidFill>
              </a:rPr>
              <a:t> 2,257건 </a:t>
            </a:r>
            <a:r>
              <a:rPr sz="1350" b="0" dirty="0" err="1">
                <a:solidFill>
                  <a:srgbClr val="687078"/>
                </a:solidFill>
              </a:rPr>
              <a:t>분석</a:t>
            </a:r>
            <a:endParaRPr sz="1350" b="0" dirty="0">
              <a:solidFill>
                <a:srgbClr val="687078"/>
              </a:solidFill>
            </a:endParaRPr>
          </a:p>
        </p:txBody>
      </p:sp>
      <p:sp>
        <p:nvSpPr>
          <p:cNvPr id="6" name="decor-shadow">
            <a:extLst>
              <a:ext uri="{FF2B5EF4-FFF2-40B4-BE49-F238E27FC236}">
                <a16:creationId xmlns:a16="http://schemas.microsoft.com/office/drawing/2014/main" id="{99A29BCB-8528-47AD-9CBB-3599976BEC2B}"/>
              </a:ext>
            </a:extLst>
          </p:cNvPr>
          <p:cNvSpPr>
            <a:spLocks noGrp="1"/>
          </p:cNvSpPr>
          <p:nvPr/>
        </p:nvSpPr>
        <p:spPr>
          <a:xfrm>
            <a:off x="9572625" y="1333500"/>
            <a:ext cx="2952750" cy="4381500"/>
          </a:xfrm>
          <a:prstGeom prst="roundRect">
            <a:avLst>
              <a:gd name="adj" fmla="val 5161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7" name="decor-main">
            <a:extLst>
              <a:ext uri="{FF2B5EF4-FFF2-40B4-BE49-F238E27FC236}">
                <a16:creationId xmlns:a16="http://schemas.microsoft.com/office/drawing/2014/main" id="{5B3F894B-D4F6-41C9-883D-CED896C80450}"/>
              </a:ext>
            </a:extLst>
          </p:cNvPr>
          <p:cNvSpPr>
            <a:spLocks noGrp="1"/>
          </p:cNvSpPr>
          <p:nvPr/>
        </p:nvSpPr>
        <p:spPr>
          <a:xfrm>
            <a:off x="9372600" y="1133475"/>
            <a:ext cx="2952750" cy="43815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8" name="decor-1">
            <a:extLst>
              <a:ext uri="{FF2B5EF4-FFF2-40B4-BE49-F238E27FC236}">
                <a16:creationId xmlns:a16="http://schemas.microsoft.com/office/drawing/2014/main" id="{F9458998-164C-47B0-B48D-8A754A42D39E}"/>
              </a:ext>
            </a:extLst>
          </p:cNvPr>
          <p:cNvSpPr>
            <a:spLocks noGrp="1"/>
          </p:cNvSpPr>
          <p:nvPr/>
        </p:nvSpPr>
        <p:spPr>
          <a:xfrm>
            <a:off x="9791700" y="163830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18324A"/>
                </a:solidFill>
              </a:defRPr>
            </a:pPr>
            <a:r>
              <a:rPr sz="2850" b="1">
                <a:solidFill>
                  <a:srgbClr val="18324A"/>
                </a:solidFill>
              </a:rPr>
              <a:t>DATA</a:t>
            </a:r>
          </a:p>
        </p:txBody>
      </p:sp>
      <p:sp>
        <p:nvSpPr>
          <p:cNvPr id="9" name="decor-arrow-1">
            <a:extLst>
              <a:ext uri="{FF2B5EF4-FFF2-40B4-BE49-F238E27FC236}">
                <a16:creationId xmlns:a16="http://schemas.microsoft.com/office/drawing/2014/main" id="{8646912F-9C72-4959-81B1-3FFCAB97264F}"/>
              </a:ext>
            </a:extLst>
          </p:cNvPr>
          <p:cNvSpPr>
            <a:spLocks noGrp="1"/>
          </p:cNvSpPr>
          <p:nvPr/>
        </p:nvSpPr>
        <p:spPr>
          <a:xfrm>
            <a:off x="10287000" y="21621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D96835"/>
                </a:solidFill>
              </a:defRPr>
            </a:pPr>
            <a:r>
              <a:rPr sz="2100" b="0">
                <a:solidFill>
                  <a:srgbClr val="D96835"/>
                </a:solidFill>
              </a:rPr>
              <a:t>↓</a:t>
            </a:r>
          </a:p>
        </p:txBody>
      </p:sp>
      <p:sp>
        <p:nvSpPr>
          <p:cNvPr id="10" name="decor-2">
            <a:extLst>
              <a:ext uri="{FF2B5EF4-FFF2-40B4-BE49-F238E27FC236}">
                <a16:creationId xmlns:a16="http://schemas.microsoft.com/office/drawing/2014/main" id="{47C444EE-5AD5-4356-8B8C-0B361B33B152}"/>
              </a:ext>
            </a:extLst>
          </p:cNvPr>
          <p:cNvSpPr>
            <a:spLocks noGrp="1"/>
          </p:cNvSpPr>
          <p:nvPr/>
        </p:nvSpPr>
        <p:spPr>
          <a:xfrm>
            <a:off x="9715500" y="259080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0" b="1">
                <a:solidFill>
                  <a:srgbClr val="52796F"/>
                </a:solidFill>
              </a:defRPr>
            </a:pPr>
            <a:r>
              <a:rPr sz="2700" b="1">
                <a:solidFill>
                  <a:srgbClr val="52796F"/>
                </a:solidFill>
              </a:rPr>
              <a:t>INSIGHT</a:t>
            </a:r>
          </a:p>
        </p:txBody>
      </p:sp>
      <p:sp>
        <p:nvSpPr>
          <p:cNvPr id="11" name="decor-arrow-2">
            <a:extLst>
              <a:ext uri="{FF2B5EF4-FFF2-40B4-BE49-F238E27FC236}">
                <a16:creationId xmlns:a16="http://schemas.microsoft.com/office/drawing/2014/main" id="{C83D53CE-3C3D-4BA4-8594-EBA4368D0053}"/>
              </a:ext>
            </a:extLst>
          </p:cNvPr>
          <p:cNvSpPr>
            <a:spLocks noGrp="1"/>
          </p:cNvSpPr>
          <p:nvPr/>
        </p:nvSpPr>
        <p:spPr>
          <a:xfrm>
            <a:off x="10287000" y="31146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D96835"/>
                </a:solidFill>
              </a:defRPr>
            </a:pPr>
            <a:r>
              <a:rPr sz="2100" b="0">
                <a:solidFill>
                  <a:srgbClr val="D96835"/>
                </a:solidFill>
              </a:rPr>
              <a:t>↓</a:t>
            </a:r>
          </a:p>
        </p:txBody>
      </p:sp>
      <p:sp>
        <p:nvSpPr>
          <p:cNvPr id="12" name="decor-3">
            <a:extLst>
              <a:ext uri="{FF2B5EF4-FFF2-40B4-BE49-F238E27FC236}">
                <a16:creationId xmlns:a16="http://schemas.microsoft.com/office/drawing/2014/main" id="{15BE446F-2A77-408C-9FC6-51A32849534C}"/>
              </a:ext>
            </a:extLst>
          </p:cNvPr>
          <p:cNvSpPr>
            <a:spLocks noGrp="1"/>
          </p:cNvSpPr>
          <p:nvPr/>
        </p:nvSpPr>
        <p:spPr>
          <a:xfrm>
            <a:off x="9667875" y="3543300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171C22"/>
                </a:solidFill>
              </a:defRPr>
            </a:pPr>
            <a:r>
              <a:rPr sz="2400" b="1">
                <a:solidFill>
                  <a:srgbClr val="171C22"/>
                </a:solidFill>
              </a:rPr>
              <a:t>PERSONA</a:t>
            </a:r>
          </a:p>
        </p:txBody>
      </p:sp>
      <p:sp>
        <p:nvSpPr>
          <p:cNvPr id="13" name="decor-arrow-3">
            <a:extLst>
              <a:ext uri="{FF2B5EF4-FFF2-40B4-BE49-F238E27FC236}">
                <a16:creationId xmlns:a16="http://schemas.microsoft.com/office/drawing/2014/main" id="{4BAA6F1C-8DE2-4EB4-AB00-34C4510D6BF7}"/>
              </a:ext>
            </a:extLst>
          </p:cNvPr>
          <p:cNvSpPr>
            <a:spLocks noGrp="1"/>
          </p:cNvSpPr>
          <p:nvPr/>
        </p:nvSpPr>
        <p:spPr>
          <a:xfrm>
            <a:off x="10287000" y="40671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D96835"/>
                </a:solidFill>
              </a:defRPr>
            </a:pPr>
            <a:r>
              <a:rPr sz="2100" b="0">
                <a:solidFill>
                  <a:srgbClr val="D96835"/>
                </a:solidFill>
              </a:rPr>
              <a:t>↓</a:t>
            </a:r>
          </a:p>
        </p:txBody>
      </p:sp>
      <p:sp>
        <p:nvSpPr>
          <p:cNvPr id="14" name="decor-4">
            <a:extLst>
              <a:ext uri="{FF2B5EF4-FFF2-40B4-BE49-F238E27FC236}">
                <a16:creationId xmlns:a16="http://schemas.microsoft.com/office/drawing/2014/main" id="{FED53925-C9AE-4F6E-AD53-D5DD300D5E37}"/>
              </a:ext>
            </a:extLst>
          </p:cNvPr>
          <p:cNvSpPr>
            <a:spLocks noGrp="1"/>
          </p:cNvSpPr>
          <p:nvPr/>
        </p:nvSpPr>
        <p:spPr>
          <a:xfrm>
            <a:off x="9791700" y="455295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D96835"/>
                </a:solidFill>
              </a:defRPr>
            </a:pPr>
            <a:r>
              <a:rPr sz="2850" b="1">
                <a:solidFill>
                  <a:srgbClr val="D96835"/>
                </a:solidFill>
              </a:rPr>
              <a:t>DX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0B6BEEE1-EA13-48FD-80A6-F3BA9F1F05A1}"/>
              </a:ext>
            </a:extLst>
          </p:cNvPr>
          <p:cNvSpPr>
            <a:spLocks noGrp="1"/>
          </p:cNvSpPr>
          <p:nvPr/>
        </p:nvSpPr>
        <p:spPr>
          <a:xfrm>
            <a:off x="1095375" y="5715000"/>
            <a:ext cx="46706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18324A"/>
                </a:solidFill>
              </a:defRPr>
            </a:pPr>
            <a:r>
              <a:rPr lang="ko-KR" altLang="en-US" sz="2100" dirty="0">
                <a:solidFill>
                  <a:srgbClr val="18324A"/>
                </a:solidFill>
              </a:rPr>
              <a:t>정용철 </a:t>
            </a:r>
            <a:r>
              <a:rPr lang="en-US" altLang="ko-KR" sz="2100" dirty="0">
                <a:solidFill>
                  <a:srgbClr val="18324A"/>
                </a:solidFill>
              </a:rPr>
              <a:t>/ </a:t>
            </a:r>
            <a:r>
              <a:rPr lang="ko-KR" altLang="en-US" sz="2100" dirty="0" err="1">
                <a:solidFill>
                  <a:srgbClr val="18324A"/>
                </a:solidFill>
              </a:rPr>
              <a:t>김지명</a:t>
            </a:r>
            <a:r>
              <a:rPr lang="ko-KR" altLang="en-US" sz="2100" dirty="0">
                <a:solidFill>
                  <a:srgbClr val="18324A"/>
                </a:solidFill>
              </a:rPr>
              <a:t> </a:t>
            </a:r>
            <a:r>
              <a:rPr lang="en-US" altLang="ko-KR" sz="2100" dirty="0">
                <a:solidFill>
                  <a:srgbClr val="18324A"/>
                </a:solidFill>
              </a:rPr>
              <a:t>/ </a:t>
            </a:r>
            <a:r>
              <a:rPr lang="ko-KR" altLang="en-US" sz="2100" dirty="0" err="1">
                <a:solidFill>
                  <a:srgbClr val="18324A"/>
                </a:solidFill>
              </a:rPr>
              <a:t>전준혁</a:t>
            </a:r>
            <a:endParaRPr lang="en-US" altLang="ko-KR" sz="2100" b="0" dirty="0">
              <a:solidFill>
                <a:srgbClr val="18324A"/>
              </a:solidFill>
            </a:endParaRPr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F7F1A81E-6833-426E-BA04-A8D528BBBB71}"/>
              </a:ext>
            </a:extLst>
          </p:cNvPr>
          <p:cNvSpPr>
            <a:spLocks noGrp="1"/>
          </p:cNvSpPr>
          <p:nvPr/>
        </p:nvSpPr>
        <p:spPr>
          <a:xfrm>
            <a:off x="1095374" y="5267325"/>
            <a:ext cx="46706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18324A"/>
                </a:solidFill>
              </a:defRPr>
            </a:pPr>
            <a:r>
              <a:rPr lang="ko-KR" altLang="en-US" sz="2100" dirty="0">
                <a:solidFill>
                  <a:srgbClr val="18324A"/>
                </a:solidFill>
              </a:rPr>
              <a:t>광주 </a:t>
            </a:r>
            <a:r>
              <a:rPr lang="en-US" altLang="ko-KR" sz="2100" dirty="0">
                <a:solidFill>
                  <a:srgbClr val="18324A"/>
                </a:solidFill>
              </a:rPr>
              <a:t>2</a:t>
            </a:r>
            <a:r>
              <a:rPr lang="ko-KR" altLang="en-US" sz="2100" dirty="0">
                <a:solidFill>
                  <a:srgbClr val="18324A"/>
                </a:solidFill>
              </a:rPr>
              <a:t>반</a:t>
            </a:r>
            <a:endParaRPr lang="en-US" altLang="ko-KR" sz="2100" dirty="0">
              <a:solidFill>
                <a:srgbClr val="1832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580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ection">
            <a:extLst>
              <a:ext uri="{FF2B5EF4-FFF2-40B4-BE49-F238E27FC236}">
                <a16:creationId xmlns:a16="http://schemas.microsoft.com/office/drawing/2014/main" id="{6A8EF499-3D0D-492C-99FF-7931A5F74196}"/>
              </a:ext>
            </a:extLst>
          </p:cNvPr>
          <p:cNvSpPr>
            <a:spLocks noGrp="1"/>
          </p:cNvSpPr>
          <p:nvPr/>
        </p:nvSpPr>
        <p:spPr>
          <a:xfrm>
            <a:off x="523875" y="419100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2796F"/>
                </a:solidFill>
              </a:defRPr>
            </a:pPr>
            <a:r>
              <a:rPr sz="2100" b="1">
                <a:solidFill>
                  <a:srgbClr val="52796F"/>
                </a:solidFill>
              </a:rPr>
              <a:t>FLOW</a:t>
            </a:r>
          </a:p>
        </p:txBody>
      </p:sp>
      <p:sp>
        <p:nvSpPr>
          <p:cNvPr id="2" name="header-rule">
            <a:extLst>
              <a:ext uri="{FF2B5EF4-FFF2-40B4-BE49-F238E27FC236}">
                <a16:creationId xmlns:a16="http://schemas.microsoft.com/office/drawing/2014/main" id="{84862B56-2C72-4C80-94ED-5FD88EBAAA21}"/>
              </a:ext>
            </a:extLst>
          </p:cNvPr>
          <p:cNvSpPr>
            <a:spLocks noGrp="1"/>
          </p:cNvSpPr>
          <p:nvPr/>
        </p:nvSpPr>
        <p:spPr>
          <a:xfrm>
            <a:off x="3143250" y="628650"/>
            <a:ext cx="4000500" cy="19050"/>
          </a:xfrm>
          <a:prstGeom prst="rect">
            <a:avLst/>
          </a:prstGeom>
          <a:solidFill>
            <a:srgbClr val="565B60"/>
          </a:solidFill>
          <a:ln w="0">
            <a:solidFill>
              <a:srgbClr val="565B60"/>
            </a:solidFill>
            <a:prstDash val="solid"/>
          </a:ln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6291361-51CC-497F-96BF-530BAD7772A9}"/>
              </a:ext>
            </a:extLst>
          </p:cNvPr>
          <p:cNvSpPr>
            <a:spLocks noGrp="1"/>
          </p:cNvSpPr>
          <p:nvPr/>
        </p:nvSpPr>
        <p:spPr>
          <a:xfrm>
            <a:off x="7334250" y="342900"/>
            <a:ext cx="5857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550" b="1">
                <a:solidFill>
                  <a:srgbClr val="171C22"/>
                </a:solidFill>
              </a:defRPr>
            </a:pPr>
            <a:r>
              <a:rPr sz="2550" b="1">
                <a:solidFill>
                  <a:srgbClr val="171C22"/>
                </a:solidFill>
              </a:rPr>
              <a:t>텍스트를 실제 서비스로 연결하는 네 단계</a:t>
            </a:r>
          </a:p>
        </p:txBody>
      </p:sp>
      <p:sp>
        <p:nvSpPr>
          <p:cNvPr id="4" name="flow-card-0-shadow">
            <a:extLst>
              <a:ext uri="{FF2B5EF4-FFF2-40B4-BE49-F238E27FC236}">
                <a16:creationId xmlns:a16="http://schemas.microsoft.com/office/drawing/2014/main" id="{DE03E9C0-53F0-4ECE-811C-152E4BE9E2D5}"/>
              </a:ext>
            </a:extLst>
          </p:cNvPr>
          <p:cNvSpPr>
            <a:spLocks noGrp="1"/>
          </p:cNvSpPr>
          <p:nvPr/>
        </p:nvSpPr>
        <p:spPr>
          <a:xfrm>
            <a:off x="561975" y="1857375"/>
            <a:ext cx="2714625" cy="4000500"/>
          </a:xfrm>
          <a:prstGeom prst="roundRect">
            <a:avLst>
              <a:gd name="adj" fmla="val 5614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5" name="flow-card-0">
            <a:extLst>
              <a:ext uri="{FF2B5EF4-FFF2-40B4-BE49-F238E27FC236}">
                <a16:creationId xmlns:a16="http://schemas.microsoft.com/office/drawing/2014/main" id="{42CC6445-9603-41C7-B6B9-E8EC54D37960}"/>
              </a:ext>
            </a:extLst>
          </p:cNvPr>
          <p:cNvSpPr>
            <a:spLocks noGrp="1"/>
          </p:cNvSpPr>
          <p:nvPr/>
        </p:nvSpPr>
        <p:spPr>
          <a:xfrm>
            <a:off x="476250" y="1762125"/>
            <a:ext cx="2714625" cy="400050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6" name="flow-label-0">
            <a:extLst>
              <a:ext uri="{FF2B5EF4-FFF2-40B4-BE49-F238E27FC236}">
                <a16:creationId xmlns:a16="http://schemas.microsoft.com/office/drawing/2014/main" id="{870722B1-1DBF-409A-9016-6DDE4FEA70EA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01 · DATA</a:t>
            </a:r>
          </a:p>
        </p:txBody>
      </p:sp>
      <p:sp>
        <p:nvSpPr>
          <p:cNvPr id="7" name="flow-big-0">
            <a:extLst>
              <a:ext uri="{FF2B5EF4-FFF2-40B4-BE49-F238E27FC236}">
                <a16:creationId xmlns:a16="http://schemas.microsoft.com/office/drawing/2014/main" id="{37A809C0-5528-4378-963B-321AE613E291}"/>
              </a:ext>
            </a:extLst>
          </p:cNvPr>
          <p:cNvSpPr>
            <a:spLocks noGrp="1"/>
          </p:cNvSpPr>
          <p:nvPr/>
        </p:nvSpPr>
        <p:spPr>
          <a:xfrm>
            <a:off x="666750" y="2952750"/>
            <a:ext cx="23336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225" b="1">
                <a:solidFill>
                  <a:srgbClr val="171C22"/>
                </a:solidFill>
              </a:defRPr>
            </a:pPr>
            <a:r>
              <a:rPr sz="3225" b="1">
                <a:solidFill>
                  <a:srgbClr val="171C22"/>
                </a:solidFill>
              </a:rPr>
              <a:t>2,257건</a:t>
            </a:r>
          </a:p>
        </p:txBody>
      </p:sp>
      <p:sp>
        <p:nvSpPr>
          <p:cNvPr id="8" name="flow-sub-0">
            <a:extLst>
              <a:ext uri="{FF2B5EF4-FFF2-40B4-BE49-F238E27FC236}">
                <a16:creationId xmlns:a16="http://schemas.microsoft.com/office/drawing/2014/main" id="{E133237A-703E-45A0-8E0B-73986612A888}"/>
              </a:ext>
            </a:extLst>
          </p:cNvPr>
          <p:cNvSpPr>
            <a:spLocks noGrp="1"/>
          </p:cNvSpPr>
          <p:nvPr/>
        </p:nvSpPr>
        <p:spPr>
          <a:xfrm>
            <a:off x="714375" y="41910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뉴스·블로그 수집</a:t>
            </a:r>
          </a:p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중복 제거</a:t>
            </a:r>
          </a:p>
        </p:txBody>
      </p:sp>
      <p:sp>
        <p:nvSpPr>
          <p:cNvPr id="9" name="flow-arrow-0">
            <a:extLst>
              <a:ext uri="{FF2B5EF4-FFF2-40B4-BE49-F238E27FC236}">
                <a16:creationId xmlns:a16="http://schemas.microsoft.com/office/drawing/2014/main" id="{7232F500-3E6E-4192-8155-E16681B17FC5}"/>
              </a:ext>
            </a:extLst>
          </p:cNvPr>
          <p:cNvSpPr>
            <a:spLocks noGrp="1"/>
          </p:cNvSpPr>
          <p:nvPr/>
        </p:nvSpPr>
        <p:spPr>
          <a:xfrm>
            <a:off x="3200400" y="3286125"/>
            <a:ext cx="514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D96835"/>
                </a:solidFill>
              </a:defRPr>
            </a:pPr>
            <a:r>
              <a:rPr sz="2550" b="1">
                <a:solidFill>
                  <a:srgbClr val="D96835"/>
                </a:solidFill>
              </a:rPr>
              <a:t>→</a:t>
            </a:r>
          </a:p>
        </p:txBody>
      </p:sp>
      <p:sp>
        <p:nvSpPr>
          <p:cNvPr id="10" name="flow-card-1-shadow">
            <a:extLst>
              <a:ext uri="{FF2B5EF4-FFF2-40B4-BE49-F238E27FC236}">
                <a16:creationId xmlns:a16="http://schemas.microsoft.com/office/drawing/2014/main" id="{FB926C78-FC83-4D4D-92EE-78CCDB6B011A}"/>
              </a:ext>
            </a:extLst>
          </p:cNvPr>
          <p:cNvSpPr>
            <a:spLocks noGrp="1"/>
          </p:cNvSpPr>
          <p:nvPr/>
        </p:nvSpPr>
        <p:spPr>
          <a:xfrm>
            <a:off x="3800475" y="1857375"/>
            <a:ext cx="2714625" cy="4000500"/>
          </a:xfrm>
          <a:prstGeom prst="roundRect">
            <a:avLst>
              <a:gd name="adj" fmla="val 5614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1" name="flow-card-1">
            <a:extLst>
              <a:ext uri="{FF2B5EF4-FFF2-40B4-BE49-F238E27FC236}">
                <a16:creationId xmlns:a16="http://schemas.microsoft.com/office/drawing/2014/main" id="{8F97951A-A5A2-41F0-8135-C2295652FCE5}"/>
              </a:ext>
            </a:extLst>
          </p:cNvPr>
          <p:cNvSpPr>
            <a:spLocks noGrp="1"/>
          </p:cNvSpPr>
          <p:nvPr/>
        </p:nvSpPr>
        <p:spPr>
          <a:xfrm>
            <a:off x="3714750" y="1762125"/>
            <a:ext cx="2714625" cy="400050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2" name="flow-label-1">
            <a:extLst>
              <a:ext uri="{FF2B5EF4-FFF2-40B4-BE49-F238E27FC236}">
                <a16:creationId xmlns:a16="http://schemas.microsoft.com/office/drawing/2014/main" id="{EDC428E6-4110-463B-96D7-E8D0870C7037}"/>
              </a:ext>
            </a:extLst>
          </p:cNvPr>
          <p:cNvSpPr>
            <a:spLocks noGrp="1"/>
          </p:cNvSpPr>
          <p:nvPr/>
        </p:nvSpPr>
        <p:spPr>
          <a:xfrm>
            <a:off x="3952875" y="2143125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D96835"/>
                </a:solidFill>
              </a:defRPr>
            </a:pPr>
            <a:r>
              <a:rPr sz="1275" b="1">
                <a:solidFill>
                  <a:srgbClr val="D96835"/>
                </a:solidFill>
              </a:rPr>
              <a:t>02 · INSIGHT</a:t>
            </a:r>
          </a:p>
        </p:txBody>
      </p:sp>
      <p:sp>
        <p:nvSpPr>
          <p:cNvPr id="13" name="flow-big-1">
            <a:extLst>
              <a:ext uri="{FF2B5EF4-FFF2-40B4-BE49-F238E27FC236}">
                <a16:creationId xmlns:a16="http://schemas.microsoft.com/office/drawing/2014/main" id="{568F9ADD-A0BC-4460-A113-89D414DFA66D}"/>
              </a:ext>
            </a:extLst>
          </p:cNvPr>
          <p:cNvSpPr>
            <a:spLocks noGrp="1"/>
          </p:cNvSpPr>
          <p:nvPr/>
        </p:nvSpPr>
        <p:spPr>
          <a:xfrm>
            <a:off x="3905250" y="2952750"/>
            <a:ext cx="23336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225" b="1">
                <a:solidFill>
                  <a:srgbClr val="171C22"/>
                </a:solidFill>
              </a:defRPr>
            </a:pPr>
            <a:r>
              <a:rPr sz="3225" b="1">
                <a:solidFill>
                  <a:srgbClr val="171C22"/>
                </a:solidFill>
              </a:rPr>
              <a:t>상위 50개</a:t>
            </a:r>
          </a:p>
        </p:txBody>
      </p:sp>
      <p:sp>
        <p:nvSpPr>
          <p:cNvPr id="14" name="flow-sub-1">
            <a:extLst>
              <a:ext uri="{FF2B5EF4-FFF2-40B4-BE49-F238E27FC236}">
                <a16:creationId xmlns:a16="http://schemas.microsoft.com/office/drawing/2014/main" id="{BDAC16BC-FEDD-48FA-A512-D4D352F8F4B1}"/>
              </a:ext>
            </a:extLst>
          </p:cNvPr>
          <p:cNvSpPr>
            <a:spLocks noGrp="1"/>
          </p:cNvSpPr>
          <p:nvPr/>
        </p:nvSpPr>
        <p:spPr>
          <a:xfrm>
            <a:off x="3952875" y="41910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불용어 처리</a:t>
            </a:r>
          </a:p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워드클라우드</a:t>
            </a:r>
          </a:p>
        </p:txBody>
      </p:sp>
      <p:sp>
        <p:nvSpPr>
          <p:cNvPr id="15" name="flow-arrow-1">
            <a:extLst>
              <a:ext uri="{FF2B5EF4-FFF2-40B4-BE49-F238E27FC236}">
                <a16:creationId xmlns:a16="http://schemas.microsoft.com/office/drawing/2014/main" id="{6B34C072-EEE1-4D37-90CD-B64FCF011CC1}"/>
              </a:ext>
            </a:extLst>
          </p:cNvPr>
          <p:cNvSpPr>
            <a:spLocks noGrp="1"/>
          </p:cNvSpPr>
          <p:nvPr/>
        </p:nvSpPr>
        <p:spPr>
          <a:xfrm>
            <a:off x="6438900" y="3286125"/>
            <a:ext cx="514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D96835"/>
                </a:solidFill>
              </a:defRPr>
            </a:pPr>
            <a:r>
              <a:rPr sz="2550" b="1">
                <a:solidFill>
                  <a:srgbClr val="D96835"/>
                </a:solidFill>
              </a:rPr>
              <a:t>→</a:t>
            </a:r>
          </a:p>
        </p:txBody>
      </p:sp>
      <p:sp>
        <p:nvSpPr>
          <p:cNvPr id="16" name="flow-card-2-shadow">
            <a:extLst>
              <a:ext uri="{FF2B5EF4-FFF2-40B4-BE49-F238E27FC236}">
                <a16:creationId xmlns:a16="http://schemas.microsoft.com/office/drawing/2014/main" id="{F571E24D-744C-4310-84B6-AFAD9D10830C}"/>
              </a:ext>
            </a:extLst>
          </p:cNvPr>
          <p:cNvSpPr>
            <a:spLocks noGrp="1"/>
          </p:cNvSpPr>
          <p:nvPr/>
        </p:nvSpPr>
        <p:spPr>
          <a:xfrm>
            <a:off x="7038975" y="1857375"/>
            <a:ext cx="2714625" cy="4000500"/>
          </a:xfrm>
          <a:prstGeom prst="roundRect">
            <a:avLst>
              <a:gd name="adj" fmla="val 5614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7" name="flow-card-2">
            <a:extLst>
              <a:ext uri="{FF2B5EF4-FFF2-40B4-BE49-F238E27FC236}">
                <a16:creationId xmlns:a16="http://schemas.microsoft.com/office/drawing/2014/main" id="{4B92F184-C69E-4AD4-A1AD-66EE7CAB13EE}"/>
              </a:ext>
            </a:extLst>
          </p:cNvPr>
          <p:cNvSpPr>
            <a:spLocks noGrp="1"/>
          </p:cNvSpPr>
          <p:nvPr/>
        </p:nvSpPr>
        <p:spPr>
          <a:xfrm>
            <a:off x="6953250" y="1762125"/>
            <a:ext cx="2714625" cy="400050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8" name="flow-label-2">
            <a:extLst>
              <a:ext uri="{FF2B5EF4-FFF2-40B4-BE49-F238E27FC236}">
                <a16:creationId xmlns:a16="http://schemas.microsoft.com/office/drawing/2014/main" id="{06BFAB7A-24CC-4536-90A2-AF8D348225F2}"/>
              </a:ext>
            </a:extLst>
          </p:cNvPr>
          <p:cNvSpPr>
            <a:spLocks noGrp="1"/>
          </p:cNvSpPr>
          <p:nvPr/>
        </p:nvSpPr>
        <p:spPr>
          <a:xfrm>
            <a:off x="7191375" y="2143125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2796F"/>
                </a:solidFill>
              </a:defRPr>
            </a:pPr>
            <a:r>
              <a:rPr sz="1275" b="1">
                <a:solidFill>
                  <a:srgbClr val="52796F"/>
                </a:solidFill>
              </a:rPr>
              <a:t>03 · PERSONA</a:t>
            </a:r>
          </a:p>
        </p:txBody>
      </p:sp>
      <p:sp>
        <p:nvSpPr>
          <p:cNvPr id="19" name="flow-big-2">
            <a:extLst>
              <a:ext uri="{FF2B5EF4-FFF2-40B4-BE49-F238E27FC236}">
                <a16:creationId xmlns:a16="http://schemas.microsoft.com/office/drawing/2014/main" id="{F0162ADE-F01C-4829-82C5-3DBE98C2F100}"/>
              </a:ext>
            </a:extLst>
          </p:cNvPr>
          <p:cNvSpPr>
            <a:spLocks noGrp="1"/>
          </p:cNvSpPr>
          <p:nvPr/>
        </p:nvSpPr>
        <p:spPr>
          <a:xfrm>
            <a:off x="7143750" y="2952750"/>
            <a:ext cx="23336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225" b="1">
                <a:solidFill>
                  <a:srgbClr val="171C22"/>
                </a:solidFill>
              </a:defRPr>
            </a:pPr>
            <a:r>
              <a:rPr sz="3225" b="1">
                <a:solidFill>
                  <a:srgbClr val="171C22"/>
                </a:solidFill>
              </a:rPr>
              <a:t>김지안</a:t>
            </a:r>
          </a:p>
        </p:txBody>
      </p:sp>
      <p:sp>
        <p:nvSpPr>
          <p:cNvPr id="20" name="flow-sub-2">
            <a:extLst>
              <a:ext uri="{FF2B5EF4-FFF2-40B4-BE49-F238E27FC236}">
                <a16:creationId xmlns:a16="http://schemas.microsoft.com/office/drawing/2014/main" id="{445E27E0-C5F7-4EFD-8010-BCCDC445D88A}"/>
              </a:ext>
            </a:extLst>
          </p:cNvPr>
          <p:cNvSpPr>
            <a:spLocks noGrp="1"/>
          </p:cNvSpPr>
          <p:nvPr/>
        </p:nvSpPr>
        <p:spPr>
          <a:xfrm>
            <a:off x="7191375" y="41910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페인포인트 정의</a:t>
            </a:r>
          </a:p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가상 페르소나 설정</a:t>
            </a:r>
          </a:p>
        </p:txBody>
      </p:sp>
      <p:sp>
        <p:nvSpPr>
          <p:cNvPr id="21" name="flow-arrow-2">
            <a:extLst>
              <a:ext uri="{FF2B5EF4-FFF2-40B4-BE49-F238E27FC236}">
                <a16:creationId xmlns:a16="http://schemas.microsoft.com/office/drawing/2014/main" id="{334C4179-E72C-4FA2-B1AF-18F853699A40}"/>
              </a:ext>
            </a:extLst>
          </p:cNvPr>
          <p:cNvSpPr>
            <a:spLocks noGrp="1"/>
          </p:cNvSpPr>
          <p:nvPr/>
        </p:nvSpPr>
        <p:spPr>
          <a:xfrm>
            <a:off x="9677400" y="3286125"/>
            <a:ext cx="514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D96835"/>
                </a:solidFill>
              </a:defRPr>
            </a:pPr>
            <a:r>
              <a:rPr sz="2550" b="1">
                <a:solidFill>
                  <a:srgbClr val="D96835"/>
                </a:solidFill>
              </a:rPr>
              <a:t>→</a:t>
            </a:r>
          </a:p>
        </p:txBody>
      </p:sp>
      <p:sp>
        <p:nvSpPr>
          <p:cNvPr id="22" name="flow-card-3-shadow">
            <a:extLst>
              <a:ext uri="{FF2B5EF4-FFF2-40B4-BE49-F238E27FC236}">
                <a16:creationId xmlns:a16="http://schemas.microsoft.com/office/drawing/2014/main" id="{22DCC7A0-56C6-4B2A-A73B-B7B75A372D2D}"/>
              </a:ext>
            </a:extLst>
          </p:cNvPr>
          <p:cNvSpPr>
            <a:spLocks noGrp="1"/>
          </p:cNvSpPr>
          <p:nvPr/>
        </p:nvSpPr>
        <p:spPr>
          <a:xfrm>
            <a:off x="10277475" y="1857375"/>
            <a:ext cx="2714625" cy="4000500"/>
          </a:xfrm>
          <a:prstGeom prst="roundRect">
            <a:avLst>
              <a:gd name="adj" fmla="val 5614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23" name="flow-card-3">
            <a:extLst>
              <a:ext uri="{FF2B5EF4-FFF2-40B4-BE49-F238E27FC236}">
                <a16:creationId xmlns:a16="http://schemas.microsoft.com/office/drawing/2014/main" id="{5D39D87A-CC73-455D-B835-BE14F67E39B5}"/>
              </a:ext>
            </a:extLst>
          </p:cNvPr>
          <p:cNvSpPr>
            <a:spLocks noGrp="1"/>
          </p:cNvSpPr>
          <p:nvPr/>
        </p:nvSpPr>
        <p:spPr>
          <a:xfrm>
            <a:off x="10191750" y="1762125"/>
            <a:ext cx="2714625" cy="400050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24" name="flow-label-3">
            <a:extLst>
              <a:ext uri="{FF2B5EF4-FFF2-40B4-BE49-F238E27FC236}">
                <a16:creationId xmlns:a16="http://schemas.microsoft.com/office/drawing/2014/main" id="{44413D68-2919-464D-B199-8F0D29252612}"/>
              </a:ext>
            </a:extLst>
          </p:cNvPr>
          <p:cNvSpPr>
            <a:spLocks noGrp="1"/>
          </p:cNvSpPr>
          <p:nvPr/>
        </p:nvSpPr>
        <p:spPr>
          <a:xfrm>
            <a:off x="10429875" y="2143125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D96835"/>
                </a:solidFill>
              </a:defRPr>
            </a:pPr>
            <a:r>
              <a:rPr sz="1275" b="1">
                <a:solidFill>
                  <a:srgbClr val="D96835"/>
                </a:solidFill>
              </a:rPr>
              <a:t>04 · DX</a:t>
            </a:r>
          </a:p>
        </p:txBody>
      </p:sp>
      <p:sp>
        <p:nvSpPr>
          <p:cNvPr id="25" name="flow-big-3">
            <a:extLst>
              <a:ext uri="{FF2B5EF4-FFF2-40B4-BE49-F238E27FC236}">
                <a16:creationId xmlns:a16="http://schemas.microsoft.com/office/drawing/2014/main" id="{CAE9C08A-FFC5-4255-A951-7C08FC1BE40C}"/>
              </a:ext>
            </a:extLst>
          </p:cNvPr>
          <p:cNvSpPr>
            <a:spLocks noGrp="1"/>
          </p:cNvSpPr>
          <p:nvPr/>
        </p:nvSpPr>
        <p:spPr>
          <a:xfrm>
            <a:off x="10382250" y="2952750"/>
            <a:ext cx="23336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0" b="1">
                <a:solidFill>
                  <a:srgbClr val="171C22"/>
                </a:solidFill>
              </a:defRPr>
            </a:pPr>
            <a:r>
              <a:rPr sz="2700" b="1">
                <a:solidFill>
                  <a:srgbClr val="171C22"/>
                </a:solidFill>
              </a:rPr>
              <a:t>LocalHub</a:t>
            </a:r>
          </a:p>
        </p:txBody>
      </p:sp>
      <p:sp>
        <p:nvSpPr>
          <p:cNvPr id="26" name="flow-sub-3">
            <a:extLst>
              <a:ext uri="{FF2B5EF4-FFF2-40B4-BE49-F238E27FC236}">
                <a16:creationId xmlns:a16="http://schemas.microsoft.com/office/drawing/2014/main" id="{8C1A0244-88E3-455B-904D-28C83D4409F5}"/>
              </a:ext>
            </a:extLst>
          </p:cNvPr>
          <p:cNvSpPr>
            <a:spLocks noGrp="1"/>
          </p:cNvSpPr>
          <p:nvPr/>
        </p:nvSpPr>
        <p:spPr>
          <a:xfrm>
            <a:off x="10429875" y="41910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공공데이터 기반</a:t>
            </a:r>
          </a:p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안전귀가 서비스</a:t>
            </a:r>
          </a:p>
        </p:txBody>
      </p:sp>
      <p:sp>
        <p:nvSpPr>
          <p:cNvPr id="27" name="flow-takeaway">
            <a:extLst>
              <a:ext uri="{FF2B5EF4-FFF2-40B4-BE49-F238E27FC236}">
                <a16:creationId xmlns:a16="http://schemas.microsoft.com/office/drawing/2014/main" id="{E76C804E-65DA-482D-8583-002912AFE3ED}"/>
              </a:ext>
            </a:extLst>
          </p:cNvPr>
          <p:cNvSpPr>
            <a:spLocks noGrp="1"/>
          </p:cNvSpPr>
          <p:nvPr/>
        </p:nvSpPr>
        <p:spPr>
          <a:xfrm>
            <a:off x="1714500" y="636270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8324A"/>
                </a:solidFill>
              </a:defRPr>
            </a:pPr>
            <a:r>
              <a:rPr sz="1800" b="1">
                <a:solidFill>
                  <a:srgbClr val="18324A"/>
                </a:solidFill>
              </a:rPr>
              <a:t>반복되는 언어에서 고객 문제를 찾고, 그 문제를 해결하는 기능으로 연결했습니다.</a:t>
            </a:r>
          </a:p>
        </p:txBody>
      </p:sp>
    </p:spTree>
    <p:extLst>
      <p:ext uri="{BB962C8B-B14F-4D97-AF65-F5344CB8AC3E}">
        <p14:creationId xmlns:p14="http://schemas.microsoft.com/office/powerpoint/2010/main" val="1287991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ection">
            <a:extLst>
              <a:ext uri="{FF2B5EF4-FFF2-40B4-BE49-F238E27FC236}">
                <a16:creationId xmlns:a16="http://schemas.microsoft.com/office/drawing/2014/main" id="{68FDDEED-7CE7-4D00-BE1B-B45FC66D2F4A}"/>
              </a:ext>
            </a:extLst>
          </p:cNvPr>
          <p:cNvSpPr>
            <a:spLocks noGrp="1"/>
          </p:cNvSpPr>
          <p:nvPr/>
        </p:nvSpPr>
        <p:spPr>
          <a:xfrm>
            <a:off x="523875" y="419100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2796F"/>
                </a:solidFill>
              </a:defRPr>
            </a:pPr>
            <a:r>
              <a:rPr sz="2100" b="1">
                <a:solidFill>
                  <a:srgbClr val="52796F"/>
                </a:solidFill>
              </a:rPr>
              <a:t>BX.데이터 수집</a:t>
            </a:r>
          </a:p>
        </p:txBody>
      </p:sp>
      <p:sp>
        <p:nvSpPr>
          <p:cNvPr id="2" name="header-rule">
            <a:extLst>
              <a:ext uri="{FF2B5EF4-FFF2-40B4-BE49-F238E27FC236}">
                <a16:creationId xmlns:a16="http://schemas.microsoft.com/office/drawing/2014/main" id="{361D282D-CB9A-4F1F-B256-4BF2AB520FB4}"/>
              </a:ext>
            </a:extLst>
          </p:cNvPr>
          <p:cNvSpPr>
            <a:spLocks noGrp="1"/>
          </p:cNvSpPr>
          <p:nvPr/>
        </p:nvSpPr>
        <p:spPr>
          <a:xfrm>
            <a:off x="3143250" y="628650"/>
            <a:ext cx="4000500" cy="19050"/>
          </a:xfrm>
          <a:prstGeom prst="rect">
            <a:avLst/>
          </a:prstGeom>
          <a:solidFill>
            <a:srgbClr val="565B60"/>
          </a:solidFill>
          <a:ln w="0">
            <a:solidFill>
              <a:srgbClr val="565B60"/>
            </a:solidFill>
            <a:prstDash val="solid"/>
          </a:ln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F26B553F-8B4C-43AC-949C-3E49CAA8D971}"/>
              </a:ext>
            </a:extLst>
          </p:cNvPr>
          <p:cNvSpPr>
            <a:spLocks noGrp="1"/>
          </p:cNvSpPr>
          <p:nvPr/>
        </p:nvSpPr>
        <p:spPr>
          <a:xfrm>
            <a:off x="7334250" y="342900"/>
            <a:ext cx="5857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550" b="1">
                <a:solidFill>
                  <a:srgbClr val="171C22"/>
                </a:solidFill>
              </a:defRPr>
            </a:pPr>
            <a:r>
              <a:rPr sz="2550" b="1">
                <a:solidFill>
                  <a:srgbClr val="171C22"/>
                </a:solidFill>
              </a:rPr>
              <a:t>밤길의 언어 2,257건을 모았습니다</a:t>
            </a:r>
          </a:p>
        </p:txBody>
      </p:sp>
      <p:sp>
        <p:nvSpPr>
          <p:cNvPr id="4" name="total-card-shadow">
            <a:extLst>
              <a:ext uri="{FF2B5EF4-FFF2-40B4-BE49-F238E27FC236}">
                <a16:creationId xmlns:a16="http://schemas.microsoft.com/office/drawing/2014/main" id="{219D6C49-8AA3-4104-9263-9AA9D1D4185F}"/>
              </a:ext>
            </a:extLst>
          </p:cNvPr>
          <p:cNvSpPr>
            <a:spLocks noGrp="1"/>
          </p:cNvSpPr>
          <p:nvPr/>
        </p:nvSpPr>
        <p:spPr>
          <a:xfrm>
            <a:off x="800100" y="1571625"/>
            <a:ext cx="4095750" cy="3810000"/>
          </a:xfrm>
          <a:prstGeom prst="roundRect">
            <a:avLst>
              <a:gd name="adj" fmla="val 4000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5" name="total-card">
            <a:extLst>
              <a:ext uri="{FF2B5EF4-FFF2-40B4-BE49-F238E27FC236}">
                <a16:creationId xmlns:a16="http://schemas.microsoft.com/office/drawing/2014/main" id="{16E0A661-42FD-4A6F-8056-D9D0568FAE73}"/>
              </a:ext>
            </a:extLst>
          </p:cNvPr>
          <p:cNvSpPr>
            <a:spLocks noGrp="1"/>
          </p:cNvSpPr>
          <p:nvPr/>
        </p:nvSpPr>
        <p:spPr>
          <a:xfrm>
            <a:off x="714375" y="1476375"/>
            <a:ext cx="409575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6" name="total-label">
            <a:extLst>
              <a:ext uri="{FF2B5EF4-FFF2-40B4-BE49-F238E27FC236}">
                <a16:creationId xmlns:a16="http://schemas.microsoft.com/office/drawing/2014/main" id="{BC0E952E-9D25-42C1-9F0E-1C41C7AB9FA9}"/>
              </a:ext>
            </a:extLst>
          </p:cNvPr>
          <p:cNvSpPr>
            <a:spLocks noGrp="1"/>
          </p:cNvSpPr>
          <p:nvPr/>
        </p:nvSpPr>
        <p:spPr>
          <a:xfrm>
            <a:off x="1143000" y="1952625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중복 제거 후 분석 문서</a:t>
            </a:r>
          </a:p>
        </p:txBody>
      </p:sp>
      <p:sp>
        <p:nvSpPr>
          <p:cNvPr id="7" name="total-number">
            <a:extLst>
              <a:ext uri="{FF2B5EF4-FFF2-40B4-BE49-F238E27FC236}">
                <a16:creationId xmlns:a16="http://schemas.microsoft.com/office/drawing/2014/main" id="{9AA056D9-2B79-4893-B9BD-DA4DBA24A868}"/>
              </a:ext>
            </a:extLst>
          </p:cNvPr>
          <p:cNvSpPr>
            <a:spLocks noGrp="1"/>
          </p:cNvSpPr>
          <p:nvPr/>
        </p:nvSpPr>
        <p:spPr>
          <a:xfrm>
            <a:off x="1095375" y="2571750"/>
            <a:ext cx="333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550" b="1">
                <a:solidFill>
                  <a:srgbClr val="18324A"/>
                </a:solidFill>
              </a:defRPr>
            </a:pPr>
            <a:r>
              <a:rPr sz="5550" b="1">
                <a:solidFill>
                  <a:srgbClr val="18324A"/>
                </a:solidFill>
              </a:rPr>
              <a:t>2,257</a:t>
            </a:r>
          </a:p>
        </p:txBody>
      </p:sp>
      <p:sp>
        <p:nvSpPr>
          <p:cNvPr id="8" name="total-unit">
            <a:extLst>
              <a:ext uri="{FF2B5EF4-FFF2-40B4-BE49-F238E27FC236}">
                <a16:creationId xmlns:a16="http://schemas.microsoft.com/office/drawing/2014/main" id="{F3589A4A-1331-43A3-ADF6-E8CD68B83F7C}"/>
              </a:ext>
            </a:extLst>
          </p:cNvPr>
          <p:cNvSpPr>
            <a:spLocks noGrp="1"/>
          </p:cNvSpPr>
          <p:nvPr/>
        </p:nvSpPr>
        <p:spPr>
          <a:xfrm>
            <a:off x="2095500" y="3638550"/>
            <a:ext cx="133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D96835"/>
                </a:solidFill>
              </a:defRPr>
            </a:pPr>
            <a:r>
              <a:rPr sz="1800" b="1">
                <a:solidFill>
                  <a:srgbClr val="D96835"/>
                </a:solidFill>
              </a:rPr>
              <a:t>건</a:t>
            </a:r>
          </a:p>
        </p:txBody>
      </p:sp>
      <p:sp>
        <p:nvSpPr>
          <p:cNvPr id="9" name="source-split">
            <a:extLst>
              <a:ext uri="{FF2B5EF4-FFF2-40B4-BE49-F238E27FC236}">
                <a16:creationId xmlns:a16="http://schemas.microsoft.com/office/drawing/2014/main" id="{77F296B6-0224-4AB2-9D44-63CAAB41E753}"/>
              </a:ext>
            </a:extLst>
          </p:cNvPr>
          <p:cNvSpPr>
            <a:spLocks noGrp="1"/>
          </p:cNvSpPr>
          <p:nvPr/>
        </p:nvSpPr>
        <p:spPr>
          <a:xfrm>
            <a:off x="1143000" y="4429125"/>
            <a:ext cx="323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52796F"/>
                </a:solidFill>
              </a:defRPr>
            </a:pPr>
            <a:r>
              <a:rPr sz="1650" b="1">
                <a:solidFill>
                  <a:srgbClr val="52796F"/>
                </a:solidFill>
              </a:rPr>
              <a:t>뉴스 1,100  ·  블로그 1,157</a:t>
            </a:r>
          </a:p>
        </p:txBody>
      </p:sp>
      <p:sp>
        <p:nvSpPr>
          <p:cNvPr id="10" name="queries-title">
            <a:extLst>
              <a:ext uri="{FF2B5EF4-FFF2-40B4-BE49-F238E27FC236}">
                <a16:creationId xmlns:a16="http://schemas.microsoft.com/office/drawing/2014/main" id="{43ED75AF-2A73-4E54-A1A8-899DC91B9EA5}"/>
              </a:ext>
            </a:extLst>
          </p:cNvPr>
          <p:cNvSpPr>
            <a:spLocks noGrp="1"/>
          </p:cNvSpPr>
          <p:nvPr/>
        </p:nvSpPr>
        <p:spPr>
          <a:xfrm>
            <a:off x="5381625" y="1476375"/>
            <a:ext cx="752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1C22"/>
                </a:solidFill>
              </a:defRPr>
            </a:pPr>
            <a:r>
              <a:rPr sz="2025" b="1">
                <a:solidFill>
                  <a:srgbClr val="171C22"/>
                </a:solidFill>
              </a:rPr>
              <a:t>12개 검색어로 안전시설·이동환경·귀가 경험을 탐색</a:t>
            </a:r>
          </a:p>
        </p:txBody>
      </p:sp>
      <p:sp>
        <p:nvSpPr>
          <p:cNvPr id="11" name="chip-야간 귀가 안전-565-230">
            <a:extLst>
              <a:ext uri="{FF2B5EF4-FFF2-40B4-BE49-F238E27FC236}">
                <a16:creationId xmlns:a16="http://schemas.microsoft.com/office/drawing/2014/main" id="{C300D591-8157-433C-9BA6-A2DA9DC83928}"/>
              </a:ext>
            </a:extLst>
          </p:cNvPr>
          <p:cNvSpPr>
            <a:spLocks noGrp="1"/>
          </p:cNvSpPr>
          <p:nvPr/>
        </p:nvSpPr>
        <p:spPr>
          <a:xfrm>
            <a:off x="5381625" y="2190750"/>
            <a:ext cx="2238375" cy="361950"/>
          </a:xfrm>
          <a:prstGeom prst="roundRect">
            <a:avLst>
              <a:gd name="adj" fmla="val 31579"/>
            </a:avLst>
          </a:prstGeom>
          <a:solidFill>
            <a:srgbClr val="EAF0F3"/>
          </a:solidFill>
          <a:ln w="13335">
            <a:solidFill>
              <a:srgbClr val="B8C3C4"/>
            </a:solidFill>
            <a:prstDash val="solid"/>
          </a:ln>
        </p:spPr>
      </p:sp>
      <p:sp>
        <p:nvSpPr>
          <p:cNvPr id="12" name="chip-text-야간 귀가 안전-565-230">
            <a:extLst>
              <a:ext uri="{FF2B5EF4-FFF2-40B4-BE49-F238E27FC236}">
                <a16:creationId xmlns:a16="http://schemas.microsoft.com/office/drawing/2014/main" id="{5EF890CA-35E0-43EA-80A2-6D5B25BFB945}"/>
              </a:ext>
            </a:extLst>
          </p:cNvPr>
          <p:cNvSpPr>
            <a:spLocks noGrp="1"/>
          </p:cNvSpPr>
          <p:nvPr/>
        </p:nvSpPr>
        <p:spPr>
          <a:xfrm>
            <a:off x="5457825" y="2266950"/>
            <a:ext cx="2085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8324A"/>
                </a:solidFill>
              </a:defRPr>
            </a:pPr>
            <a:r>
              <a:rPr sz="1200" b="1">
                <a:solidFill>
                  <a:srgbClr val="18324A"/>
                </a:solidFill>
              </a:rPr>
              <a:t>야간 귀가 안전</a:t>
            </a:r>
          </a:p>
        </p:txBody>
      </p:sp>
      <p:sp>
        <p:nvSpPr>
          <p:cNvPr id="13" name="chip-밤길 안전-825-230">
            <a:extLst>
              <a:ext uri="{FF2B5EF4-FFF2-40B4-BE49-F238E27FC236}">
                <a16:creationId xmlns:a16="http://schemas.microsoft.com/office/drawing/2014/main" id="{E8ECFA81-103E-49D3-9F56-3146A3B9FBE3}"/>
              </a:ext>
            </a:extLst>
          </p:cNvPr>
          <p:cNvSpPr>
            <a:spLocks noGrp="1"/>
          </p:cNvSpPr>
          <p:nvPr/>
        </p:nvSpPr>
        <p:spPr>
          <a:xfrm>
            <a:off x="7858125" y="2190750"/>
            <a:ext cx="2238375" cy="361950"/>
          </a:xfrm>
          <a:prstGeom prst="roundRect">
            <a:avLst>
              <a:gd name="adj" fmla="val 31579"/>
            </a:avLst>
          </a:prstGeom>
          <a:solidFill>
            <a:srgbClr val="EAF0F3"/>
          </a:solidFill>
          <a:ln w="13335">
            <a:solidFill>
              <a:srgbClr val="B8C3C4"/>
            </a:solidFill>
            <a:prstDash val="solid"/>
          </a:ln>
        </p:spPr>
      </p:sp>
      <p:sp>
        <p:nvSpPr>
          <p:cNvPr id="14" name="chip-text-밤길 안전-825-230">
            <a:extLst>
              <a:ext uri="{FF2B5EF4-FFF2-40B4-BE49-F238E27FC236}">
                <a16:creationId xmlns:a16="http://schemas.microsoft.com/office/drawing/2014/main" id="{16B4B37D-7224-4F60-94B1-A1DD24BA5532}"/>
              </a:ext>
            </a:extLst>
          </p:cNvPr>
          <p:cNvSpPr>
            <a:spLocks noGrp="1"/>
          </p:cNvSpPr>
          <p:nvPr/>
        </p:nvSpPr>
        <p:spPr>
          <a:xfrm>
            <a:off x="7934325" y="2266950"/>
            <a:ext cx="2085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8324A"/>
                </a:solidFill>
              </a:defRPr>
            </a:pPr>
            <a:r>
              <a:rPr sz="1200" b="1">
                <a:solidFill>
                  <a:srgbClr val="18324A"/>
                </a:solidFill>
              </a:rPr>
              <a:t>밤길 안전</a:t>
            </a:r>
          </a:p>
        </p:txBody>
      </p:sp>
      <p:sp>
        <p:nvSpPr>
          <p:cNvPr id="15" name="chip-여성 안심귀가-1085-230">
            <a:extLst>
              <a:ext uri="{FF2B5EF4-FFF2-40B4-BE49-F238E27FC236}">
                <a16:creationId xmlns:a16="http://schemas.microsoft.com/office/drawing/2014/main" id="{D5A1D27A-0F6A-4576-B961-730D6B07BD9C}"/>
              </a:ext>
            </a:extLst>
          </p:cNvPr>
          <p:cNvSpPr>
            <a:spLocks noGrp="1"/>
          </p:cNvSpPr>
          <p:nvPr/>
        </p:nvSpPr>
        <p:spPr>
          <a:xfrm>
            <a:off x="10334625" y="2190750"/>
            <a:ext cx="2238375" cy="361950"/>
          </a:xfrm>
          <a:prstGeom prst="roundRect">
            <a:avLst>
              <a:gd name="adj" fmla="val 31579"/>
            </a:avLst>
          </a:prstGeom>
          <a:solidFill>
            <a:srgbClr val="EAF0F3"/>
          </a:solidFill>
          <a:ln w="13335">
            <a:solidFill>
              <a:srgbClr val="B8C3C4"/>
            </a:solidFill>
            <a:prstDash val="solid"/>
          </a:ln>
        </p:spPr>
      </p:sp>
      <p:sp>
        <p:nvSpPr>
          <p:cNvPr id="16" name="chip-text-여성 안심귀가-1085-230">
            <a:extLst>
              <a:ext uri="{FF2B5EF4-FFF2-40B4-BE49-F238E27FC236}">
                <a16:creationId xmlns:a16="http://schemas.microsoft.com/office/drawing/2014/main" id="{0DBB52E6-FB27-475D-BAC6-D83BC967458E}"/>
              </a:ext>
            </a:extLst>
          </p:cNvPr>
          <p:cNvSpPr>
            <a:spLocks noGrp="1"/>
          </p:cNvSpPr>
          <p:nvPr/>
        </p:nvSpPr>
        <p:spPr>
          <a:xfrm>
            <a:off x="10410825" y="2266950"/>
            <a:ext cx="2085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8324A"/>
                </a:solidFill>
              </a:defRPr>
            </a:pPr>
            <a:r>
              <a:rPr sz="1200" b="1">
                <a:solidFill>
                  <a:srgbClr val="18324A"/>
                </a:solidFill>
              </a:rPr>
              <a:t>여성 안심귀가</a:t>
            </a:r>
          </a:p>
        </p:txBody>
      </p:sp>
      <p:sp>
        <p:nvSpPr>
          <p:cNvPr id="17" name="chip-골목길 안전-565-302">
            <a:extLst>
              <a:ext uri="{FF2B5EF4-FFF2-40B4-BE49-F238E27FC236}">
                <a16:creationId xmlns:a16="http://schemas.microsoft.com/office/drawing/2014/main" id="{79A1DC05-B947-4E2B-AF9D-7D7B78E0D201}"/>
              </a:ext>
            </a:extLst>
          </p:cNvPr>
          <p:cNvSpPr>
            <a:spLocks noGrp="1"/>
          </p:cNvSpPr>
          <p:nvPr/>
        </p:nvSpPr>
        <p:spPr>
          <a:xfrm>
            <a:off x="5381625" y="2876550"/>
            <a:ext cx="2238375" cy="361950"/>
          </a:xfrm>
          <a:prstGeom prst="roundRect">
            <a:avLst>
              <a:gd name="adj" fmla="val 31579"/>
            </a:avLst>
          </a:prstGeom>
          <a:solidFill>
            <a:srgbClr val="EAF0F3"/>
          </a:solidFill>
          <a:ln w="13335">
            <a:solidFill>
              <a:srgbClr val="B8C3C4"/>
            </a:solidFill>
            <a:prstDash val="solid"/>
          </a:ln>
        </p:spPr>
      </p:sp>
      <p:sp>
        <p:nvSpPr>
          <p:cNvPr id="18" name="chip-text-골목길 안전-565-302">
            <a:extLst>
              <a:ext uri="{FF2B5EF4-FFF2-40B4-BE49-F238E27FC236}">
                <a16:creationId xmlns:a16="http://schemas.microsoft.com/office/drawing/2014/main" id="{9B7AB7AE-1ABB-44F8-85E6-25AF18A0BA7B}"/>
              </a:ext>
            </a:extLst>
          </p:cNvPr>
          <p:cNvSpPr>
            <a:spLocks noGrp="1"/>
          </p:cNvSpPr>
          <p:nvPr/>
        </p:nvSpPr>
        <p:spPr>
          <a:xfrm>
            <a:off x="5457825" y="2952750"/>
            <a:ext cx="2085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8324A"/>
                </a:solidFill>
              </a:defRPr>
            </a:pPr>
            <a:r>
              <a:rPr sz="1200" b="1">
                <a:solidFill>
                  <a:srgbClr val="18324A"/>
                </a:solidFill>
              </a:rPr>
              <a:t>골목길 안전</a:t>
            </a:r>
          </a:p>
        </p:txBody>
      </p:sp>
      <p:sp>
        <p:nvSpPr>
          <p:cNvPr id="19" name="chip-CCTV 사각지대-825-302">
            <a:extLst>
              <a:ext uri="{FF2B5EF4-FFF2-40B4-BE49-F238E27FC236}">
                <a16:creationId xmlns:a16="http://schemas.microsoft.com/office/drawing/2014/main" id="{832314B2-8624-4F9F-A970-4155479F8476}"/>
              </a:ext>
            </a:extLst>
          </p:cNvPr>
          <p:cNvSpPr>
            <a:spLocks noGrp="1"/>
          </p:cNvSpPr>
          <p:nvPr/>
        </p:nvSpPr>
        <p:spPr>
          <a:xfrm>
            <a:off x="7858125" y="2876550"/>
            <a:ext cx="2238375" cy="361950"/>
          </a:xfrm>
          <a:prstGeom prst="roundRect">
            <a:avLst>
              <a:gd name="adj" fmla="val 31579"/>
            </a:avLst>
          </a:prstGeom>
          <a:solidFill>
            <a:srgbClr val="EAF0F3"/>
          </a:solidFill>
          <a:ln w="13335">
            <a:solidFill>
              <a:srgbClr val="B8C3C4"/>
            </a:solidFill>
            <a:prstDash val="solid"/>
          </a:ln>
        </p:spPr>
      </p:sp>
      <p:sp>
        <p:nvSpPr>
          <p:cNvPr id="20" name="chip-text-CCTV 사각지대-825-302">
            <a:extLst>
              <a:ext uri="{FF2B5EF4-FFF2-40B4-BE49-F238E27FC236}">
                <a16:creationId xmlns:a16="http://schemas.microsoft.com/office/drawing/2014/main" id="{48252861-C441-4DC6-A503-31C29CC79BFD}"/>
              </a:ext>
            </a:extLst>
          </p:cNvPr>
          <p:cNvSpPr>
            <a:spLocks noGrp="1"/>
          </p:cNvSpPr>
          <p:nvPr/>
        </p:nvSpPr>
        <p:spPr>
          <a:xfrm>
            <a:off x="7934325" y="2952750"/>
            <a:ext cx="2085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8324A"/>
                </a:solidFill>
              </a:defRPr>
            </a:pPr>
            <a:r>
              <a:rPr sz="1200" b="1">
                <a:solidFill>
                  <a:srgbClr val="18324A"/>
                </a:solidFill>
              </a:rPr>
              <a:t>CCTV 사각지대</a:t>
            </a:r>
          </a:p>
        </p:txBody>
      </p:sp>
      <p:sp>
        <p:nvSpPr>
          <p:cNvPr id="21" name="chip-가로등 어두운 골목-1085-302">
            <a:extLst>
              <a:ext uri="{FF2B5EF4-FFF2-40B4-BE49-F238E27FC236}">
                <a16:creationId xmlns:a16="http://schemas.microsoft.com/office/drawing/2014/main" id="{73977D85-ED02-4C4C-80FF-8C6BB5A9ACDC}"/>
              </a:ext>
            </a:extLst>
          </p:cNvPr>
          <p:cNvSpPr>
            <a:spLocks noGrp="1"/>
          </p:cNvSpPr>
          <p:nvPr/>
        </p:nvSpPr>
        <p:spPr>
          <a:xfrm>
            <a:off x="10334625" y="2876550"/>
            <a:ext cx="2238375" cy="361950"/>
          </a:xfrm>
          <a:prstGeom prst="roundRect">
            <a:avLst>
              <a:gd name="adj" fmla="val 31579"/>
            </a:avLst>
          </a:prstGeom>
          <a:solidFill>
            <a:srgbClr val="EAF0F3"/>
          </a:solidFill>
          <a:ln w="13335">
            <a:solidFill>
              <a:srgbClr val="B8C3C4"/>
            </a:solidFill>
            <a:prstDash val="solid"/>
          </a:ln>
        </p:spPr>
      </p:sp>
      <p:sp>
        <p:nvSpPr>
          <p:cNvPr id="22" name="chip-text-가로등 어두운 골목-1085-302">
            <a:extLst>
              <a:ext uri="{FF2B5EF4-FFF2-40B4-BE49-F238E27FC236}">
                <a16:creationId xmlns:a16="http://schemas.microsoft.com/office/drawing/2014/main" id="{2BC3E0E5-E2A1-40FC-9658-F6DE56B893FF}"/>
              </a:ext>
            </a:extLst>
          </p:cNvPr>
          <p:cNvSpPr>
            <a:spLocks noGrp="1"/>
          </p:cNvSpPr>
          <p:nvPr/>
        </p:nvSpPr>
        <p:spPr>
          <a:xfrm>
            <a:off x="10410825" y="2952750"/>
            <a:ext cx="2085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8324A"/>
                </a:solidFill>
              </a:defRPr>
            </a:pPr>
            <a:r>
              <a:rPr sz="1200" b="1">
                <a:solidFill>
                  <a:srgbClr val="18324A"/>
                </a:solidFill>
              </a:rPr>
              <a:t>가로등 어두운 골목</a:t>
            </a:r>
          </a:p>
        </p:txBody>
      </p:sp>
      <p:sp>
        <p:nvSpPr>
          <p:cNvPr id="23" name="chip-안전한 귀가 경로-565-374">
            <a:extLst>
              <a:ext uri="{FF2B5EF4-FFF2-40B4-BE49-F238E27FC236}">
                <a16:creationId xmlns:a16="http://schemas.microsoft.com/office/drawing/2014/main" id="{72825ADD-0221-4B81-9A65-0CC337276C75}"/>
              </a:ext>
            </a:extLst>
          </p:cNvPr>
          <p:cNvSpPr>
            <a:spLocks noGrp="1"/>
          </p:cNvSpPr>
          <p:nvPr/>
        </p:nvSpPr>
        <p:spPr>
          <a:xfrm>
            <a:off x="5381625" y="3562350"/>
            <a:ext cx="2238375" cy="361950"/>
          </a:xfrm>
          <a:prstGeom prst="roundRect">
            <a:avLst>
              <a:gd name="adj" fmla="val 31579"/>
            </a:avLst>
          </a:prstGeom>
          <a:solidFill>
            <a:srgbClr val="EDF2EA"/>
          </a:solidFill>
          <a:ln w="13335">
            <a:solidFill>
              <a:srgbClr val="B8C3C4"/>
            </a:solidFill>
            <a:prstDash val="solid"/>
          </a:ln>
        </p:spPr>
      </p:sp>
      <p:sp>
        <p:nvSpPr>
          <p:cNvPr id="24" name="chip-text-안전한 귀가 경로-565-374">
            <a:extLst>
              <a:ext uri="{FF2B5EF4-FFF2-40B4-BE49-F238E27FC236}">
                <a16:creationId xmlns:a16="http://schemas.microsoft.com/office/drawing/2014/main" id="{AAEFDE3A-36F3-4C67-BB13-410A0CF33CF2}"/>
              </a:ext>
            </a:extLst>
          </p:cNvPr>
          <p:cNvSpPr>
            <a:spLocks noGrp="1"/>
          </p:cNvSpPr>
          <p:nvPr/>
        </p:nvSpPr>
        <p:spPr>
          <a:xfrm>
            <a:off x="5457825" y="3638550"/>
            <a:ext cx="2085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2796F"/>
                </a:solidFill>
              </a:defRPr>
            </a:pPr>
            <a:r>
              <a:rPr sz="1200" b="1">
                <a:solidFill>
                  <a:srgbClr val="52796F"/>
                </a:solidFill>
              </a:rPr>
              <a:t>안전한 귀가 경로</a:t>
            </a:r>
          </a:p>
        </p:txBody>
      </p:sp>
      <p:sp>
        <p:nvSpPr>
          <p:cNvPr id="25" name="chip-보행자 야간 안전-825-374">
            <a:extLst>
              <a:ext uri="{FF2B5EF4-FFF2-40B4-BE49-F238E27FC236}">
                <a16:creationId xmlns:a16="http://schemas.microsoft.com/office/drawing/2014/main" id="{AA0BD490-241F-4BD1-9757-85CDEB5B4FE9}"/>
              </a:ext>
            </a:extLst>
          </p:cNvPr>
          <p:cNvSpPr>
            <a:spLocks noGrp="1"/>
          </p:cNvSpPr>
          <p:nvPr/>
        </p:nvSpPr>
        <p:spPr>
          <a:xfrm>
            <a:off x="7858125" y="3562350"/>
            <a:ext cx="2238375" cy="361950"/>
          </a:xfrm>
          <a:prstGeom prst="roundRect">
            <a:avLst>
              <a:gd name="adj" fmla="val 31579"/>
            </a:avLst>
          </a:prstGeom>
          <a:solidFill>
            <a:srgbClr val="EDF2EA"/>
          </a:solidFill>
          <a:ln w="13335">
            <a:solidFill>
              <a:srgbClr val="B8C3C4"/>
            </a:solidFill>
            <a:prstDash val="solid"/>
          </a:ln>
        </p:spPr>
      </p:sp>
      <p:sp>
        <p:nvSpPr>
          <p:cNvPr id="26" name="chip-text-보행자 야간 안전-825-374">
            <a:extLst>
              <a:ext uri="{FF2B5EF4-FFF2-40B4-BE49-F238E27FC236}">
                <a16:creationId xmlns:a16="http://schemas.microsoft.com/office/drawing/2014/main" id="{56D0AFCC-BFB4-4780-95E2-C1678B5977A4}"/>
              </a:ext>
            </a:extLst>
          </p:cNvPr>
          <p:cNvSpPr>
            <a:spLocks noGrp="1"/>
          </p:cNvSpPr>
          <p:nvPr/>
        </p:nvSpPr>
        <p:spPr>
          <a:xfrm>
            <a:off x="7934325" y="3638550"/>
            <a:ext cx="2085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2796F"/>
                </a:solidFill>
              </a:defRPr>
            </a:pPr>
            <a:r>
              <a:rPr sz="1200" b="1">
                <a:solidFill>
                  <a:srgbClr val="52796F"/>
                </a:solidFill>
              </a:rPr>
              <a:t>보행자 야간 안전</a:t>
            </a:r>
          </a:p>
        </p:txBody>
      </p:sp>
      <p:sp>
        <p:nvSpPr>
          <p:cNvPr id="27" name="chip-치안 취약지역-1085-374">
            <a:extLst>
              <a:ext uri="{FF2B5EF4-FFF2-40B4-BE49-F238E27FC236}">
                <a16:creationId xmlns:a16="http://schemas.microsoft.com/office/drawing/2014/main" id="{699D4E17-1138-41E6-B284-480039839493}"/>
              </a:ext>
            </a:extLst>
          </p:cNvPr>
          <p:cNvSpPr>
            <a:spLocks noGrp="1"/>
          </p:cNvSpPr>
          <p:nvPr/>
        </p:nvSpPr>
        <p:spPr>
          <a:xfrm>
            <a:off x="10334625" y="3562350"/>
            <a:ext cx="2238375" cy="361950"/>
          </a:xfrm>
          <a:prstGeom prst="roundRect">
            <a:avLst>
              <a:gd name="adj" fmla="val 31579"/>
            </a:avLst>
          </a:prstGeom>
          <a:solidFill>
            <a:srgbClr val="EDF2EA"/>
          </a:solidFill>
          <a:ln w="13335">
            <a:solidFill>
              <a:srgbClr val="B8C3C4"/>
            </a:solidFill>
            <a:prstDash val="solid"/>
          </a:ln>
        </p:spPr>
      </p:sp>
      <p:sp>
        <p:nvSpPr>
          <p:cNvPr id="28" name="chip-text-치안 취약지역-1085-374">
            <a:extLst>
              <a:ext uri="{FF2B5EF4-FFF2-40B4-BE49-F238E27FC236}">
                <a16:creationId xmlns:a16="http://schemas.microsoft.com/office/drawing/2014/main" id="{A24C0906-4F45-4788-BAC2-3EB13819B8D7}"/>
              </a:ext>
            </a:extLst>
          </p:cNvPr>
          <p:cNvSpPr>
            <a:spLocks noGrp="1"/>
          </p:cNvSpPr>
          <p:nvPr/>
        </p:nvSpPr>
        <p:spPr>
          <a:xfrm>
            <a:off x="10410825" y="3638550"/>
            <a:ext cx="2085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2796F"/>
                </a:solidFill>
              </a:defRPr>
            </a:pPr>
            <a:r>
              <a:rPr sz="1200" b="1">
                <a:solidFill>
                  <a:srgbClr val="52796F"/>
                </a:solidFill>
              </a:rPr>
              <a:t>치안 취약지역</a:t>
            </a:r>
          </a:p>
        </p:txBody>
      </p:sp>
      <p:sp>
        <p:nvSpPr>
          <p:cNvPr id="29" name="chip-1인 가구 귀가 안전-565-446">
            <a:extLst>
              <a:ext uri="{FF2B5EF4-FFF2-40B4-BE49-F238E27FC236}">
                <a16:creationId xmlns:a16="http://schemas.microsoft.com/office/drawing/2014/main" id="{9005B340-0D97-4D82-B7F0-AA8732C235F8}"/>
              </a:ext>
            </a:extLst>
          </p:cNvPr>
          <p:cNvSpPr>
            <a:spLocks noGrp="1"/>
          </p:cNvSpPr>
          <p:nvPr/>
        </p:nvSpPr>
        <p:spPr>
          <a:xfrm>
            <a:off x="5381625" y="4248150"/>
            <a:ext cx="2238375" cy="361950"/>
          </a:xfrm>
          <a:prstGeom prst="roundRect">
            <a:avLst>
              <a:gd name="adj" fmla="val 31579"/>
            </a:avLst>
          </a:prstGeom>
          <a:solidFill>
            <a:srgbClr val="EDF2EA"/>
          </a:solidFill>
          <a:ln w="13335">
            <a:solidFill>
              <a:srgbClr val="B8C3C4"/>
            </a:solidFill>
            <a:prstDash val="solid"/>
          </a:ln>
        </p:spPr>
      </p:sp>
      <p:sp>
        <p:nvSpPr>
          <p:cNvPr id="30" name="chip-text-1인 가구 귀가 안전-565-446">
            <a:extLst>
              <a:ext uri="{FF2B5EF4-FFF2-40B4-BE49-F238E27FC236}">
                <a16:creationId xmlns:a16="http://schemas.microsoft.com/office/drawing/2014/main" id="{852815C0-0208-418E-A6AA-1129FE69C116}"/>
              </a:ext>
            </a:extLst>
          </p:cNvPr>
          <p:cNvSpPr>
            <a:spLocks noGrp="1"/>
          </p:cNvSpPr>
          <p:nvPr/>
        </p:nvSpPr>
        <p:spPr>
          <a:xfrm>
            <a:off x="5457825" y="4324350"/>
            <a:ext cx="2085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2796F"/>
                </a:solidFill>
              </a:defRPr>
            </a:pPr>
            <a:r>
              <a:rPr sz="1200" b="1">
                <a:solidFill>
                  <a:srgbClr val="52796F"/>
                </a:solidFill>
              </a:rPr>
              <a:t>1인 가구 귀가 안전</a:t>
            </a:r>
          </a:p>
        </p:txBody>
      </p:sp>
      <p:sp>
        <p:nvSpPr>
          <p:cNvPr id="31" name="chip-안심귀가 서비스-825-446">
            <a:extLst>
              <a:ext uri="{FF2B5EF4-FFF2-40B4-BE49-F238E27FC236}">
                <a16:creationId xmlns:a16="http://schemas.microsoft.com/office/drawing/2014/main" id="{7E900F33-60AB-4D29-855A-44C4348D56AC}"/>
              </a:ext>
            </a:extLst>
          </p:cNvPr>
          <p:cNvSpPr>
            <a:spLocks noGrp="1"/>
          </p:cNvSpPr>
          <p:nvPr/>
        </p:nvSpPr>
        <p:spPr>
          <a:xfrm>
            <a:off x="7858125" y="4248150"/>
            <a:ext cx="2238375" cy="361950"/>
          </a:xfrm>
          <a:prstGeom prst="roundRect">
            <a:avLst>
              <a:gd name="adj" fmla="val 31579"/>
            </a:avLst>
          </a:prstGeom>
          <a:solidFill>
            <a:srgbClr val="EDF2EA"/>
          </a:solidFill>
          <a:ln w="13335">
            <a:solidFill>
              <a:srgbClr val="B8C3C4"/>
            </a:solidFill>
            <a:prstDash val="solid"/>
          </a:ln>
        </p:spPr>
      </p:sp>
      <p:sp>
        <p:nvSpPr>
          <p:cNvPr id="32" name="chip-text-안심귀가 서비스-825-446">
            <a:extLst>
              <a:ext uri="{FF2B5EF4-FFF2-40B4-BE49-F238E27FC236}">
                <a16:creationId xmlns:a16="http://schemas.microsoft.com/office/drawing/2014/main" id="{CA065D67-7B75-4AE8-B9AF-09DDDE0A8FA8}"/>
              </a:ext>
            </a:extLst>
          </p:cNvPr>
          <p:cNvSpPr>
            <a:spLocks noGrp="1"/>
          </p:cNvSpPr>
          <p:nvPr/>
        </p:nvSpPr>
        <p:spPr>
          <a:xfrm>
            <a:off x="7934325" y="4324350"/>
            <a:ext cx="2085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2796F"/>
                </a:solidFill>
              </a:defRPr>
            </a:pPr>
            <a:r>
              <a:rPr sz="1200" b="1">
                <a:solidFill>
                  <a:srgbClr val="52796F"/>
                </a:solidFill>
              </a:rPr>
              <a:t>안심귀가 서비스</a:t>
            </a:r>
          </a:p>
        </p:txBody>
      </p:sp>
      <p:sp>
        <p:nvSpPr>
          <p:cNvPr id="33" name="chip-범죄예방 환경설계-1085-446">
            <a:extLst>
              <a:ext uri="{FF2B5EF4-FFF2-40B4-BE49-F238E27FC236}">
                <a16:creationId xmlns:a16="http://schemas.microsoft.com/office/drawing/2014/main" id="{B83897E4-94AA-40A5-AE60-DD9EC5E260D3}"/>
              </a:ext>
            </a:extLst>
          </p:cNvPr>
          <p:cNvSpPr>
            <a:spLocks noGrp="1"/>
          </p:cNvSpPr>
          <p:nvPr/>
        </p:nvSpPr>
        <p:spPr>
          <a:xfrm>
            <a:off x="10334625" y="4248150"/>
            <a:ext cx="2238375" cy="361950"/>
          </a:xfrm>
          <a:prstGeom prst="roundRect">
            <a:avLst>
              <a:gd name="adj" fmla="val 31579"/>
            </a:avLst>
          </a:prstGeom>
          <a:solidFill>
            <a:srgbClr val="EDF2EA"/>
          </a:solidFill>
          <a:ln w="13335">
            <a:solidFill>
              <a:srgbClr val="B8C3C4"/>
            </a:solidFill>
            <a:prstDash val="solid"/>
          </a:ln>
        </p:spPr>
      </p:sp>
      <p:sp>
        <p:nvSpPr>
          <p:cNvPr id="34" name="chip-text-범죄예방 환경설계-1085-446">
            <a:extLst>
              <a:ext uri="{FF2B5EF4-FFF2-40B4-BE49-F238E27FC236}">
                <a16:creationId xmlns:a16="http://schemas.microsoft.com/office/drawing/2014/main" id="{4718F39B-1A87-4AFD-B3AD-959676B15C9C}"/>
              </a:ext>
            </a:extLst>
          </p:cNvPr>
          <p:cNvSpPr>
            <a:spLocks noGrp="1"/>
          </p:cNvSpPr>
          <p:nvPr/>
        </p:nvSpPr>
        <p:spPr>
          <a:xfrm>
            <a:off x="10410825" y="4324350"/>
            <a:ext cx="2085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2796F"/>
                </a:solidFill>
              </a:defRPr>
            </a:pPr>
            <a:r>
              <a:rPr sz="1200" b="1">
                <a:solidFill>
                  <a:srgbClr val="52796F"/>
                </a:solidFill>
              </a:rPr>
              <a:t>범죄예방 환경설계</a:t>
            </a:r>
          </a:p>
        </p:txBody>
      </p:sp>
      <p:sp>
        <p:nvSpPr>
          <p:cNvPr id="35" name="method-note">
            <a:extLst>
              <a:ext uri="{FF2B5EF4-FFF2-40B4-BE49-F238E27FC236}">
                <a16:creationId xmlns:a16="http://schemas.microsoft.com/office/drawing/2014/main" id="{33F03B58-F358-4345-94D8-02D6ACB7855A}"/>
              </a:ext>
            </a:extLst>
          </p:cNvPr>
          <p:cNvSpPr>
            <a:spLocks noGrp="1"/>
          </p:cNvSpPr>
          <p:nvPr/>
        </p:nvSpPr>
        <p:spPr>
          <a:xfrm>
            <a:off x="5381625" y="5238750"/>
            <a:ext cx="7191375" cy="876300"/>
          </a:xfrm>
          <a:prstGeom prst="roundRect">
            <a:avLst>
              <a:gd name="adj" fmla="val 13043"/>
            </a:avLst>
          </a:prstGeom>
          <a:solidFill>
            <a:srgbClr val="FFF5EC"/>
          </a:solidFill>
          <a:ln w="13335">
            <a:solidFill>
              <a:srgbClr val="D7A17E"/>
            </a:solidFill>
            <a:prstDash val="solid"/>
          </a:ln>
        </p:spPr>
      </p:sp>
      <p:sp>
        <p:nvSpPr>
          <p:cNvPr id="36" name="method-note-text">
            <a:extLst>
              <a:ext uri="{FF2B5EF4-FFF2-40B4-BE49-F238E27FC236}">
                <a16:creationId xmlns:a16="http://schemas.microsoft.com/office/drawing/2014/main" id="{84F5C36D-E58B-499D-BFD7-8872E5C3A681}"/>
              </a:ext>
            </a:extLst>
          </p:cNvPr>
          <p:cNvSpPr>
            <a:spLocks noGrp="1"/>
          </p:cNvSpPr>
          <p:nvPr/>
        </p:nvSpPr>
        <p:spPr>
          <a:xfrm>
            <a:off x="5667375" y="5457825"/>
            <a:ext cx="6619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795138"/>
                </a:solidFill>
              </a:defRPr>
            </a:pPr>
            <a:r>
              <a:rPr sz="1350" b="0">
                <a:solidFill>
                  <a:srgbClr val="795138"/>
                </a:solidFill>
              </a:rPr>
              <a:t>검색 API의 제목·요약문을 수집했습니다.</a:t>
            </a:r>
          </a:p>
          <a:p>
            <a:pPr algn="ctr">
              <a:defRPr sz="1350" b="0">
                <a:solidFill>
                  <a:srgbClr val="795138"/>
                </a:solidFill>
              </a:defRPr>
            </a:pPr>
            <a:r>
              <a:rPr sz="1350" b="0">
                <a:solidFill>
                  <a:srgbClr val="795138"/>
                </a:solidFill>
              </a:rPr>
              <a:t>검색어 기반 탐색 분석이므로 전체 국민 여론으로 일반화하지 않습니다.</a:t>
            </a:r>
          </a:p>
        </p:txBody>
      </p:sp>
      <p:sp>
        <p:nvSpPr>
          <p:cNvPr id="37" name="source">
            <a:extLst>
              <a:ext uri="{FF2B5EF4-FFF2-40B4-BE49-F238E27FC236}">
                <a16:creationId xmlns:a16="http://schemas.microsoft.com/office/drawing/2014/main" id="{2DB67817-BB8B-4E7E-857A-D336BB9BCCD4}"/>
              </a:ext>
            </a:extLst>
          </p:cNvPr>
          <p:cNvSpPr>
            <a:spLocks noGrp="1"/>
          </p:cNvSpPr>
          <p:nvPr/>
        </p:nvSpPr>
        <p:spPr>
          <a:xfrm>
            <a:off x="590550" y="7334250"/>
            <a:ext cx="12525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Source: 네이버 뉴스·블로그 검색 API | 수집일 2026-07-14 | 12개 검색어, 중복 제거 후 2,257건</a:t>
            </a:r>
          </a:p>
        </p:txBody>
      </p:sp>
    </p:spTree>
    <p:extLst>
      <p:ext uri="{BB962C8B-B14F-4D97-AF65-F5344CB8AC3E}">
        <p14:creationId xmlns:p14="http://schemas.microsoft.com/office/powerpoint/2010/main" val="260629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ection">
            <a:extLst>
              <a:ext uri="{FF2B5EF4-FFF2-40B4-BE49-F238E27FC236}">
                <a16:creationId xmlns:a16="http://schemas.microsoft.com/office/drawing/2014/main" id="{CFB6C7E4-1C20-4FEB-BE71-3844DF075A89}"/>
              </a:ext>
            </a:extLst>
          </p:cNvPr>
          <p:cNvSpPr>
            <a:spLocks noGrp="1"/>
          </p:cNvSpPr>
          <p:nvPr/>
        </p:nvSpPr>
        <p:spPr>
          <a:xfrm>
            <a:off x="523875" y="419100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2796F"/>
                </a:solidFill>
              </a:defRPr>
            </a:pPr>
            <a:r>
              <a:rPr sz="2100" b="1">
                <a:solidFill>
                  <a:srgbClr val="52796F"/>
                </a:solidFill>
              </a:rPr>
              <a:t>BX.데이터 정제</a:t>
            </a:r>
          </a:p>
        </p:txBody>
      </p:sp>
      <p:sp>
        <p:nvSpPr>
          <p:cNvPr id="2" name="header-rule">
            <a:extLst>
              <a:ext uri="{FF2B5EF4-FFF2-40B4-BE49-F238E27FC236}">
                <a16:creationId xmlns:a16="http://schemas.microsoft.com/office/drawing/2014/main" id="{390E2697-828A-477A-8F2B-3C7A914C2AF1}"/>
              </a:ext>
            </a:extLst>
          </p:cNvPr>
          <p:cNvSpPr>
            <a:spLocks noGrp="1"/>
          </p:cNvSpPr>
          <p:nvPr/>
        </p:nvSpPr>
        <p:spPr>
          <a:xfrm>
            <a:off x="3143250" y="628650"/>
            <a:ext cx="4000500" cy="19050"/>
          </a:xfrm>
          <a:prstGeom prst="rect">
            <a:avLst/>
          </a:prstGeom>
          <a:solidFill>
            <a:srgbClr val="565B60"/>
          </a:solidFill>
          <a:ln w="0">
            <a:solidFill>
              <a:srgbClr val="565B60"/>
            </a:solidFill>
            <a:prstDash val="solid"/>
          </a:ln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B87D2218-B773-48BF-9377-2258D2E4558B}"/>
              </a:ext>
            </a:extLst>
          </p:cNvPr>
          <p:cNvSpPr>
            <a:spLocks noGrp="1"/>
          </p:cNvSpPr>
          <p:nvPr/>
        </p:nvSpPr>
        <p:spPr>
          <a:xfrm>
            <a:off x="7334250" y="342900"/>
            <a:ext cx="5857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550" b="1">
                <a:solidFill>
                  <a:srgbClr val="171C22"/>
                </a:solidFill>
              </a:defRPr>
            </a:pPr>
            <a:r>
              <a:rPr sz="2550" b="1">
                <a:solidFill>
                  <a:srgbClr val="171C22"/>
                </a:solidFill>
              </a:rPr>
              <a:t>고객 경험을 설명하는 단어만 남겼습니다</a:t>
            </a:r>
          </a:p>
        </p:txBody>
      </p:sp>
      <p:sp>
        <p:nvSpPr>
          <p:cNvPr id="4" name="step-arrow-0">
            <a:extLst>
              <a:ext uri="{FF2B5EF4-FFF2-40B4-BE49-F238E27FC236}">
                <a16:creationId xmlns:a16="http://schemas.microsoft.com/office/drawing/2014/main" id="{C59B515E-0A27-4F78-A4D8-9AB2DE06AFE3}"/>
              </a:ext>
            </a:extLst>
          </p:cNvPr>
          <p:cNvSpPr>
            <a:spLocks noGrp="1"/>
          </p:cNvSpPr>
          <p:nvPr/>
        </p:nvSpPr>
        <p:spPr>
          <a:xfrm>
            <a:off x="3381375" y="3257550"/>
            <a:ext cx="523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D96835"/>
                </a:solidFill>
              </a:defRPr>
            </a:pPr>
            <a:r>
              <a:rPr sz="2850" b="1">
                <a:solidFill>
                  <a:srgbClr val="D96835"/>
                </a:solidFill>
              </a:rPr>
              <a:t>→</a:t>
            </a:r>
          </a:p>
        </p:txBody>
      </p:sp>
      <p:sp>
        <p:nvSpPr>
          <p:cNvPr id="5" name="step-card-0-shadow">
            <a:extLst>
              <a:ext uri="{FF2B5EF4-FFF2-40B4-BE49-F238E27FC236}">
                <a16:creationId xmlns:a16="http://schemas.microsoft.com/office/drawing/2014/main" id="{84653DD7-0111-4994-98B2-9F1D31838E5D}"/>
              </a:ext>
            </a:extLst>
          </p:cNvPr>
          <p:cNvSpPr>
            <a:spLocks noGrp="1"/>
          </p:cNvSpPr>
          <p:nvPr/>
        </p:nvSpPr>
        <p:spPr>
          <a:xfrm>
            <a:off x="800100" y="2047875"/>
            <a:ext cx="2667000" cy="3190875"/>
          </a:xfrm>
          <a:prstGeom prst="roundRect">
            <a:avLst>
              <a:gd name="adj" fmla="val 5714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6" name="step-card-0">
            <a:extLst>
              <a:ext uri="{FF2B5EF4-FFF2-40B4-BE49-F238E27FC236}">
                <a16:creationId xmlns:a16="http://schemas.microsoft.com/office/drawing/2014/main" id="{4A9FC1EF-F7E6-4ABA-BCD8-AD045D467101}"/>
              </a:ext>
            </a:extLst>
          </p:cNvPr>
          <p:cNvSpPr>
            <a:spLocks noGrp="1"/>
          </p:cNvSpPr>
          <p:nvPr/>
        </p:nvSpPr>
        <p:spPr>
          <a:xfrm>
            <a:off x="714375" y="1952625"/>
            <a:ext cx="2667000" cy="319087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7" name="step-num-0">
            <a:extLst>
              <a:ext uri="{FF2B5EF4-FFF2-40B4-BE49-F238E27FC236}">
                <a16:creationId xmlns:a16="http://schemas.microsoft.com/office/drawing/2014/main" id="{FD60A80C-84A6-47E2-8D90-C02004282B9F}"/>
              </a:ext>
            </a:extLst>
          </p:cNvPr>
          <p:cNvSpPr>
            <a:spLocks noGrp="1"/>
          </p:cNvSpPr>
          <p:nvPr/>
        </p:nvSpPr>
        <p:spPr>
          <a:xfrm>
            <a:off x="952500" y="2238375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D96835"/>
                </a:solidFill>
              </a:defRPr>
            </a:pPr>
            <a:r>
              <a:rPr sz="2100" b="1">
                <a:solidFill>
                  <a:srgbClr val="D96835"/>
                </a:solidFill>
              </a:rPr>
              <a:t>01</a:t>
            </a:r>
          </a:p>
        </p:txBody>
      </p:sp>
      <p:sp>
        <p:nvSpPr>
          <p:cNvPr id="8" name="step-title-0">
            <a:extLst>
              <a:ext uri="{FF2B5EF4-FFF2-40B4-BE49-F238E27FC236}">
                <a16:creationId xmlns:a16="http://schemas.microsoft.com/office/drawing/2014/main" id="{08EB9545-D175-46FF-8B38-2130699E0BC4}"/>
              </a:ext>
            </a:extLst>
          </p:cNvPr>
          <p:cNvSpPr>
            <a:spLocks noGrp="1"/>
          </p:cNvSpPr>
          <p:nvPr/>
        </p:nvSpPr>
        <p:spPr>
          <a:xfrm>
            <a:off x="1047750" y="29718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8324A"/>
                </a:solidFill>
              </a:defRPr>
            </a:pPr>
            <a:r>
              <a:rPr sz="1875" b="1">
                <a:solidFill>
                  <a:srgbClr val="18324A"/>
                </a:solidFill>
              </a:rPr>
              <a:t>텍스트 정리</a:t>
            </a:r>
          </a:p>
        </p:txBody>
      </p:sp>
      <p:sp>
        <p:nvSpPr>
          <p:cNvPr id="9" name="step-desc-0">
            <a:extLst>
              <a:ext uri="{FF2B5EF4-FFF2-40B4-BE49-F238E27FC236}">
                <a16:creationId xmlns:a16="http://schemas.microsoft.com/office/drawing/2014/main" id="{C214673F-2433-4B13-90FA-F036864DE7C5}"/>
              </a:ext>
            </a:extLst>
          </p:cNvPr>
          <p:cNvSpPr>
            <a:spLocks noGrp="1"/>
          </p:cNvSpPr>
          <p:nvPr/>
        </p:nvSpPr>
        <p:spPr>
          <a:xfrm>
            <a:off x="981075" y="3810000"/>
            <a:ext cx="2133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687078"/>
                </a:solidFill>
              </a:defRPr>
            </a:pPr>
            <a:r>
              <a:rPr sz="1275" b="0">
                <a:solidFill>
                  <a:srgbClr val="687078"/>
                </a:solidFill>
              </a:rPr>
              <a:t>HTML 태그·특수문자 제거</a:t>
            </a:r>
          </a:p>
          <a:p>
            <a:pPr algn="ctr">
              <a:defRPr sz="1275" b="0">
                <a:solidFill>
                  <a:srgbClr val="687078"/>
                </a:solidFill>
              </a:defRPr>
            </a:pPr>
            <a:r>
              <a:rPr sz="1275" b="0">
                <a:solidFill>
                  <a:srgbClr val="687078"/>
                </a:solidFill>
              </a:rPr>
              <a:t>제목과 요약문 결합</a:t>
            </a:r>
          </a:p>
        </p:txBody>
      </p:sp>
      <p:sp>
        <p:nvSpPr>
          <p:cNvPr id="10" name="step-arrow-1">
            <a:extLst>
              <a:ext uri="{FF2B5EF4-FFF2-40B4-BE49-F238E27FC236}">
                <a16:creationId xmlns:a16="http://schemas.microsoft.com/office/drawing/2014/main" id="{50A102FF-9A31-4B81-82AF-015B77DE2896}"/>
              </a:ext>
            </a:extLst>
          </p:cNvPr>
          <p:cNvSpPr>
            <a:spLocks noGrp="1"/>
          </p:cNvSpPr>
          <p:nvPr/>
        </p:nvSpPr>
        <p:spPr>
          <a:xfrm>
            <a:off x="6572250" y="3257550"/>
            <a:ext cx="523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D96835"/>
                </a:solidFill>
              </a:defRPr>
            </a:pPr>
            <a:r>
              <a:rPr sz="2850" b="1">
                <a:solidFill>
                  <a:srgbClr val="D96835"/>
                </a:solidFill>
              </a:rPr>
              <a:t>→</a:t>
            </a:r>
          </a:p>
        </p:txBody>
      </p:sp>
      <p:sp>
        <p:nvSpPr>
          <p:cNvPr id="11" name="step-card-1-shadow">
            <a:extLst>
              <a:ext uri="{FF2B5EF4-FFF2-40B4-BE49-F238E27FC236}">
                <a16:creationId xmlns:a16="http://schemas.microsoft.com/office/drawing/2014/main" id="{20CC9F4A-2A1E-48FD-A50D-26D1E46BCE65}"/>
              </a:ext>
            </a:extLst>
          </p:cNvPr>
          <p:cNvSpPr>
            <a:spLocks noGrp="1"/>
          </p:cNvSpPr>
          <p:nvPr/>
        </p:nvSpPr>
        <p:spPr>
          <a:xfrm>
            <a:off x="3990975" y="2047875"/>
            <a:ext cx="2667000" cy="3190875"/>
          </a:xfrm>
          <a:prstGeom prst="roundRect">
            <a:avLst>
              <a:gd name="adj" fmla="val 5714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2" name="step-card-1">
            <a:extLst>
              <a:ext uri="{FF2B5EF4-FFF2-40B4-BE49-F238E27FC236}">
                <a16:creationId xmlns:a16="http://schemas.microsoft.com/office/drawing/2014/main" id="{92B8C72D-6CFA-4292-898F-9A562A3E4F6A}"/>
              </a:ext>
            </a:extLst>
          </p:cNvPr>
          <p:cNvSpPr>
            <a:spLocks noGrp="1"/>
          </p:cNvSpPr>
          <p:nvPr/>
        </p:nvSpPr>
        <p:spPr>
          <a:xfrm>
            <a:off x="3905250" y="1952625"/>
            <a:ext cx="2667000" cy="319087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3" name="step-num-1">
            <a:extLst>
              <a:ext uri="{FF2B5EF4-FFF2-40B4-BE49-F238E27FC236}">
                <a16:creationId xmlns:a16="http://schemas.microsoft.com/office/drawing/2014/main" id="{C4A6FF52-86BE-4F97-9B9E-D66B3EB67172}"/>
              </a:ext>
            </a:extLst>
          </p:cNvPr>
          <p:cNvSpPr>
            <a:spLocks noGrp="1"/>
          </p:cNvSpPr>
          <p:nvPr/>
        </p:nvSpPr>
        <p:spPr>
          <a:xfrm>
            <a:off x="4143375" y="2238375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D96835"/>
                </a:solidFill>
              </a:defRPr>
            </a:pPr>
            <a:r>
              <a:rPr sz="2100" b="1">
                <a:solidFill>
                  <a:srgbClr val="D96835"/>
                </a:solidFill>
              </a:rPr>
              <a:t>02</a:t>
            </a:r>
          </a:p>
        </p:txBody>
      </p:sp>
      <p:sp>
        <p:nvSpPr>
          <p:cNvPr id="14" name="step-title-1">
            <a:extLst>
              <a:ext uri="{FF2B5EF4-FFF2-40B4-BE49-F238E27FC236}">
                <a16:creationId xmlns:a16="http://schemas.microsoft.com/office/drawing/2014/main" id="{8D4155FC-77C2-4C1A-8DE0-1AE160AE17E6}"/>
              </a:ext>
            </a:extLst>
          </p:cNvPr>
          <p:cNvSpPr>
            <a:spLocks noGrp="1"/>
          </p:cNvSpPr>
          <p:nvPr/>
        </p:nvSpPr>
        <p:spPr>
          <a:xfrm>
            <a:off x="4238625" y="29718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8324A"/>
                </a:solidFill>
              </a:defRPr>
            </a:pPr>
            <a:r>
              <a:rPr sz="1875" b="1">
                <a:solidFill>
                  <a:srgbClr val="18324A"/>
                </a:solidFill>
              </a:rPr>
              <a:t>중복 제거</a:t>
            </a:r>
          </a:p>
        </p:txBody>
      </p:sp>
      <p:sp>
        <p:nvSpPr>
          <p:cNvPr id="15" name="step-desc-1">
            <a:extLst>
              <a:ext uri="{FF2B5EF4-FFF2-40B4-BE49-F238E27FC236}">
                <a16:creationId xmlns:a16="http://schemas.microsoft.com/office/drawing/2014/main" id="{44341BA6-FB01-40CF-B900-5B3B9E09F062}"/>
              </a:ext>
            </a:extLst>
          </p:cNvPr>
          <p:cNvSpPr>
            <a:spLocks noGrp="1"/>
          </p:cNvSpPr>
          <p:nvPr/>
        </p:nvSpPr>
        <p:spPr>
          <a:xfrm>
            <a:off x="4171950" y="3810000"/>
            <a:ext cx="2133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687078"/>
                </a:solidFill>
              </a:defRPr>
            </a:pPr>
            <a:r>
              <a:rPr sz="1275" b="0">
                <a:solidFill>
                  <a:srgbClr val="687078"/>
                </a:solidFill>
              </a:rPr>
              <a:t>동일 제목·링크 제거</a:t>
            </a:r>
          </a:p>
          <a:p>
            <a:pPr algn="ctr">
              <a:defRPr sz="1275" b="0">
                <a:solidFill>
                  <a:srgbClr val="687078"/>
                </a:solidFill>
              </a:defRPr>
            </a:pPr>
            <a:r>
              <a:rPr sz="1275" b="0">
                <a:solidFill>
                  <a:srgbClr val="687078"/>
                </a:solidFill>
              </a:rPr>
              <a:t>2,257건 확정</a:t>
            </a:r>
          </a:p>
        </p:txBody>
      </p:sp>
      <p:sp>
        <p:nvSpPr>
          <p:cNvPr id="16" name="step-arrow-2">
            <a:extLst>
              <a:ext uri="{FF2B5EF4-FFF2-40B4-BE49-F238E27FC236}">
                <a16:creationId xmlns:a16="http://schemas.microsoft.com/office/drawing/2014/main" id="{E3CF0F07-4CF6-4D68-A318-A5B40020C0CC}"/>
              </a:ext>
            </a:extLst>
          </p:cNvPr>
          <p:cNvSpPr>
            <a:spLocks noGrp="1"/>
          </p:cNvSpPr>
          <p:nvPr/>
        </p:nvSpPr>
        <p:spPr>
          <a:xfrm>
            <a:off x="9763125" y="3257550"/>
            <a:ext cx="523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D96835"/>
                </a:solidFill>
              </a:defRPr>
            </a:pPr>
            <a:r>
              <a:rPr sz="2850" b="1">
                <a:solidFill>
                  <a:srgbClr val="D96835"/>
                </a:solidFill>
              </a:rPr>
              <a:t>→</a:t>
            </a:r>
          </a:p>
        </p:txBody>
      </p:sp>
      <p:sp>
        <p:nvSpPr>
          <p:cNvPr id="17" name="step-card-2-shadow">
            <a:extLst>
              <a:ext uri="{FF2B5EF4-FFF2-40B4-BE49-F238E27FC236}">
                <a16:creationId xmlns:a16="http://schemas.microsoft.com/office/drawing/2014/main" id="{D19E0613-0C5F-437B-895D-63CE3C71B158}"/>
              </a:ext>
            </a:extLst>
          </p:cNvPr>
          <p:cNvSpPr>
            <a:spLocks noGrp="1"/>
          </p:cNvSpPr>
          <p:nvPr/>
        </p:nvSpPr>
        <p:spPr>
          <a:xfrm>
            <a:off x="7181850" y="2047875"/>
            <a:ext cx="2667000" cy="3190875"/>
          </a:xfrm>
          <a:prstGeom prst="roundRect">
            <a:avLst>
              <a:gd name="adj" fmla="val 5714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8" name="step-card-2">
            <a:extLst>
              <a:ext uri="{FF2B5EF4-FFF2-40B4-BE49-F238E27FC236}">
                <a16:creationId xmlns:a16="http://schemas.microsoft.com/office/drawing/2014/main" id="{77510764-96B8-475D-88AE-7653E9C91E73}"/>
              </a:ext>
            </a:extLst>
          </p:cNvPr>
          <p:cNvSpPr>
            <a:spLocks noGrp="1"/>
          </p:cNvSpPr>
          <p:nvPr/>
        </p:nvSpPr>
        <p:spPr>
          <a:xfrm>
            <a:off x="7096125" y="1952625"/>
            <a:ext cx="2667000" cy="319087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9" name="step-num-2">
            <a:extLst>
              <a:ext uri="{FF2B5EF4-FFF2-40B4-BE49-F238E27FC236}">
                <a16:creationId xmlns:a16="http://schemas.microsoft.com/office/drawing/2014/main" id="{0F20DE87-F197-46B4-9AFB-3A2DE3B31325}"/>
              </a:ext>
            </a:extLst>
          </p:cNvPr>
          <p:cNvSpPr>
            <a:spLocks noGrp="1"/>
          </p:cNvSpPr>
          <p:nvPr/>
        </p:nvSpPr>
        <p:spPr>
          <a:xfrm>
            <a:off x="7334250" y="2238375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D96835"/>
                </a:solidFill>
              </a:defRPr>
            </a:pPr>
            <a:r>
              <a:rPr sz="2100" b="1">
                <a:solidFill>
                  <a:srgbClr val="D96835"/>
                </a:solidFill>
              </a:rPr>
              <a:t>03</a:t>
            </a:r>
          </a:p>
        </p:txBody>
      </p:sp>
      <p:sp>
        <p:nvSpPr>
          <p:cNvPr id="20" name="step-title-2">
            <a:extLst>
              <a:ext uri="{FF2B5EF4-FFF2-40B4-BE49-F238E27FC236}">
                <a16:creationId xmlns:a16="http://schemas.microsoft.com/office/drawing/2014/main" id="{C281ACDE-A75D-4E97-B46A-B2247387EA7A}"/>
              </a:ext>
            </a:extLst>
          </p:cNvPr>
          <p:cNvSpPr>
            <a:spLocks noGrp="1"/>
          </p:cNvSpPr>
          <p:nvPr/>
        </p:nvSpPr>
        <p:spPr>
          <a:xfrm>
            <a:off x="7429500" y="29718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8324A"/>
                </a:solidFill>
              </a:defRPr>
            </a:pPr>
            <a:r>
              <a:rPr sz="1875" b="1">
                <a:solidFill>
                  <a:srgbClr val="18324A"/>
                </a:solidFill>
              </a:rPr>
              <a:t>불용어 처리</a:t>
            </a:r>
          </a:p>
        </p:txBody>
      </p:sp>
      <p:sp>
        <p:nvSpPr>
          <p:cNvPr id="21" name="step-desc-2">
            <a:extLst>
              <a:ext uri="{FF2B5EF4-FFF2-40B4-BE49-F238E27FC236}">
                <a16:creationId xmlns:a16="http://schemas.microsoft.com/office/drawing/2014/main" id="{B7C6BF1D-C048-4090-88F7-924DC08E7E60}"/>
              </a:ext>
            </a:extLst>
          </p:cNvPr>
          <p:cNvSpPr>
            <a:spLocks noGrp="1"/>
          </p:cNvSpPr>
          <p:nvPr/>
        </p:nvSpPr>
        <p:spPr>
          <a:xfrm>
            <a:off x="7362825" y="3810000"/>
            <a:ext cx="2133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687078"/>
                </a:solidFill>
              </a:defRPr>
            </a:pPr>
            <a:r>
              <a:rPr sz="1275" b="0">
                <a:solidFill>
                  <a:srgbClr val="687078"/>
                </a:solidFill>
              </a:rPr>
              <a:t>조사·접속사·일반어 제거</a:t>
            </a:r>
          </a:p>
          <a:p>
            <a:pPr algn="ctr">
              <a:defRPr sz="1275" b="0">
                <a:solidFill>
                  <a:srgbClr val="687078"/>
                </a:solidFill>
              </a:defRPr>
            </a:pPr>
            <a:r>
              <a:rPr sz="1275" b="0">
                <a:solidFill>
                  <a:srgbClr val="687078"/>
                </a:solidFill>
              </a:rPr>
              <a:t>도메인 불용어 추가</a:t>
            </a:r>
          </a:p>
        </p:txBody>
      </p:sp>
      <p:sp>
        <p:nvSpPr>
          <p:cNvPr id="22" name="step-card-3-shadow">
            <a:extLst>
              <a:ext uri="{FF2B5EF4-FFF2-40B4-BE49-F238E27FC236}">
                <a16:creationId xmlns:a16="http://schemas.microsoft.com/office/drawing/2014/main" id="{FD752B89-180E-4A8C-966D-2787E231A96D}"/>
              </a:ext>
            </a:extLst>
          </p:cNvPr>
          <p:cNvSpPr>
            <a:spLocks noGrp="1"/>
          </p:cNvSpPr>
          <p:nvPr/>
        </p:nvSpPr>
        <p:spPr>
          <a:xfrm>
            <a:off x="10372725" y="2047875"/>
            <a:ext cx="2667000" cy="3190875"/>
          </a:xfrm>
          <a:prstGeom prst="roundRect">
            <a:avLst>
              <a:gd name="adj" fmla="val 5714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23" name="step-card-3">
            <a:extLst>
              <a:ext uri="{FF2B5EF4-FFF2-40B4-BE49-F238E27FC236}">
                <a16:creationId xmlns:a16="http://schemas.microsoft.com/office/drawing/2014/main" id="{87A0270B-92B1-4B15-8F64-47C142104639}"/>
              </a:ext>
            </a:extLst>
          </p:cNvPr>
          <p:cNvSpPr>
            <a:spLocks noGrp="1"/>
          </p:cNvSpPr>
          <p:nvPr/>
        </p:nvSpPr>
        <p:spPr>
          <a:xfrm>
            <a:off x="10287000" y="1952625"/>
            <a:ext cx="2667000" cy="319087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24" name="step-num-3">
            <a:extLst>
              <a:ext uri="{FF2B5EF4-FFF2-40B4-BE49-F238E27FC236}">
                <a16:creationId xmlns:a16="http://schemas.microsoft.com/office/drawing/2014/main" id="{9D5215CD-FAEF-4C49-98C5-3F9660A1767B}"/>
              </a:ext>
            </a:extLst>
          </p:cNvPr>
          <p:cNvSpPr>
            <a:spLocks noGrp="1"/>
          </p:cNvSpPr>
          <p:nvPr/>
        </p:nvSpPr>
        <p:spPr>
          <a:xfrm>
            <a:off x="10525125" y="2238375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D96835"/>
                </a:solidFill>
              </a:defRPr>
            </a:pPr>
            <a:r>
              <a:rPr sz="2100" b="1">
                <a:solidFill>
                  <a:srgbClr val="D96835"/>
                </a:solidFill>
              </a:rPr>
              <a:t>04</a:t>
            </a:r>
          </a:p>
        </p:txBody>
      </p:sp>
      <p:sp>
        <p:nvSpPr>
          <p:cNvPr id="25" name="step-title-3">
            <a:extLst>
              <a:ext uri="{FF2B5EF4-FFF2-40B4-BE49-F238E27FC236}">
                <a16:creationId xmlns:a16="http://schemas.microsoft.com/office/drawing/2014/main" id="{4E65F115-06EB-4074-A26E-8F86B875AFD7}"/>
              </a:ext>
            </a:extLst>
          </p:cNvPr>
          <p:cNvSpPr>
            <a:spLocks noGrp="1"/>
          </p:cNvSpPr>
          <p:nvPr/>
        </p:nvSpPr>
        <p:spPr>
          <a:xfrm>
            <a:off x="10620375" y="29718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8324A"/>
                </a:solidFill>
              </a:defRPr>
            </a:pPr>
            <a:r>
              <a:rPr sz="1875" b="1">
                <a:solidFill>
                  <a:srgbClr val="18324A"/>
                </a:solidFill>
              </a:rPr>
              <a:t>빈도 분석</a:t>
            </a:r>
          </a:p>
        </p:txBody>
      </p:sp>
      <p:sp>
        <p:nvSpPr>
          <p:cNvPr id="26" name="step-desc-3">
            <a:extLst>
              <a:ext uri="{FF2B5EF4-FFF2-40B4-BE49-F238E27FC236}">
                <a16:creationId xmlns:a16="http://schemas.microsoft.com/office/drawing/2014/main" id="{053D0BED-3A1F-4060-A4BF-F71AB1F9D6EC}"/>
              </a:ext>
            </a:extLst>
          </p:cNvPr>
          <p:cNvSpPr>
            <a:spLocks noGrp="1"/>
          </p:cNvSpPr>
          <p:nvPr/>
        </p:nvSpPr>
        <p:spPr>
          <a:xfrm>
            <a:off x="10553700" y="3810000"/>
            <a:ext cx="2133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687078"/>
                </a:solidFill>
              </a:defRPr>
            </a:pPr>
            <a:r>
              <a:rPr sz="1275" b="0">
                <a:solidFill>
                  <a:srgbClr val="687078"/>
                </a:solidFill>
              </a:rPr>
              <a:t>의미 있는 핵심어 집계</a:t>
            </a:r>
          </a:p>
          <a:p>
            <a:pPr algn="ctr">
              <a:defRPr sz="1275" b="0">
                <a:solidFill>
                  <a:srgbClr val="687078"/>
                </a:solidFill>
              </a:defRPr>
            </a:pPr>
            <a:r>
              <a:rPr sz="1275" b="0">
                <a:solidFill>
                  <a:srgbClr val="687078"/>
                </a:solidFill>
              </a:rPr>
              <a:t>상위 50개 선정</a:t>
            </a:r>
          </a:p>
        </p:txBody>
      </p:sp>
      <p:sp>
        <p:nvSpPr>
          <p:cNvPr id="27" name="stopword-strip">
            <a:extLst>
              <a:ext uri="{FF2B5EF4-FFF2-40B4-BE49-F238E27FC236}">
                <a16:creationId xmlns:a16="http://schemas.microsoft.com/office/drawing/2014/main" id="{53B2AB32-6B9C-49A0-871E-5D022D50073F}"/>
              </a:ext>
            </a:extLst>
          </p:cNvPr>
          <p:cNvSpPr>
            <a:spLocks noGrp="1"/>
          </p:cNvSpPr>
          <p:nvPr/>
        </p:nvSpPr>
        <p:spPr>
          <a:xfrm>
            <a:off x="1762125" y="5810250"/>
            <a:ext cx="10191750" cy="723900"/>
          </a:xfrm>
          <a:prstGeom prst="roundRect">
            <a:avLst>
              <a:gd name="adj" fmla="val 15789"/>
            </a:avLst>
          </a:prstGeom>
          <a:solidFill>
            <a:srgbClr val="EAF0F3"/>
          </a:solidFill>
          <a:ln w="13335">
            <a:solidFill>
              <a:srgbClr val="B5C5CC"/>
            </a:solidFill>
            <a:prstDash val="solid"/>
          </a:ln>
        </p:spPr>
      </p:sp>
      <p:sp>
        <p:nvSpPr>
          <p:cNvPr id="28" name="stopword-label">
            <a:extLst>
              <a:ext uri="{FF2B5EF4-FFF2-40B4-BE49-F238E27FC236}">
                <a16:creationId xmlns:a16="http://schemas.microsoft.com/office/drawing/2014/main" id="{0FFC8998-27B5-4411-B952-A207788AA0C0}"/>
              </a:ext>
            </a:extLst>
          </p:cNvPr>
          <p:cNvSpPr>
            <a:spLocks noGrp="1"/>
          </p:cNvSpPr>
          <p:nvPr/>
        </p:nvSpPr>
        <p:spPr>
          <a:xfrm>
            <a:off x="2095500" y="60007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2796F"/>
                </a:solidFill>
              </a:defRPr>
            </a:pPr>
            <a:r>
              <a:rPr sz="1275" b="1">
                <a:solidFill>
                  <a:srgbClr val="52796F"/>
                </a:solidFill>
              </a:rPr>
              <a:t>제거 예시</a:t>
            </a:r>
          </a:p>
        </p:txBody>
      </p:sp>
      <p:sp>
        <p:nvSpPr>
          <p:cNvPr id="29" name="stopwords">
            <a:extLst>
              <a:ext uri="{FF2B5EF4-FFF2-40B4-BE49-F238E27FC236}">
                <a16:creationId xmlns:a16="http://schemas.microsoft.com/office/drawing/2014/main" id="{7BD63BEF-4DE3-43E0-B8C5-040823739224}"/>
              </a:ext>
            </a:extLst>
          </p:cNvPr>
          <p:cNvSpPr>
            <a:spLocks noGrp="1"/>
          </p:cNvSpPr>
          <p:nvPr/>
        </p:nvSpPr>
        <p:spPr>
          <a:xfrm>
            <a:off x="3429000" y="5972175"/>
            <a:ext cx="7953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8324A"/>
                </a:solidFill>
              </a:defRPr>
            </a:pPr>
            <a:r>
              <a:rPr sz="1500" b="0">
                <a:solidFill>
                  <a:srgbClr val="18324A"/>
                </a:solidFill>
              </a:rPr>
              <a:t>그리고  ·  대한  ·  관련  ·  제공  ·  기사  ·  블로그  ·  이번  ·  최근</a:t>
            </a:r>
          </a:p>
        </p:txBody>
      </p:sp>
      <p:sp>
        <p:nvSpPr>
          <p:cNvPr id="30" name="source">
            <a:extLst>
              <a:ext uri="{FF2B5EF4-FFF2-40B4-BE49-F238E27FC236}">
                <a16:creationId xmlns:a16="http://schemas.microsoft.com/office/drawing/2014/main" id="{31ED7CA0-C35B-4FD2-9F5E-6FB98D6CCACC}"/>
              </a:ext>
            </a:extLst>
          </p:cNvPr>
          <p:cNvSpPr>
            <a:spLocks noGrp="1"/>
          </p:cNvSpPr>
          <p:nvPr/>
        </p:nvSpPr>
        <p:spPr>
          <a:xfrm>
            <a:off x="590550" y="7334250"/>
            <a:ext cx="12525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분석 단위: 네이버 검색 API 제목·요약문 | 불용어: 일반어 + 야간 귀가 도메인 맞춤 목록</a:t>
            </a:r>
          </a:p>
        </p:txBody>
      </p:sp>
    </p:spTree>
    <p:extLst>
      <p:ext uri="{BB962C8B-B14F-4D97-AF65-F5344CB8AC3E}">
        <p14:creationId xmlns:p14="http://schemas.microsoft.com/office/powerpoint/2010/main" val="2121026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ection">
            <a:extLst>
              <a:ext uri="{FF2B5EF4-FFF2-40B4-BE49-F238E27FC236}">
                <a16:creationId xmlns:a16="http://schemas.microsoft.com/office/drawing/2014/main" id="{E2A73DE8-6ACD-4ED8-BBD0-6CF3AD4DB8BB}"/>
              </a:ext>
            </a:extLst>
          </p:cNvPr>
          <p:cNvSpPr>
            <a:spLocks noGrp="1"/>
          </p:cNvSpPr>
          <p:nvPr/>
        </p:nvSpPr>
        <p:spPr>
          <a:xfrm>
            <a:off x="523875" y="419100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D96835"/>
                </a:solidFill>
              </a:defRPr>
            </a:pPr>
            <a:r>
              <a:rPr sz="2100" b="1">
                <a:solidFill>
                  <a:srgbClr val="D96835"/>
                </a:solidFill>
              </a:rPr>
              <a:t>CX.핵심어 분석</a:t>
            </a:r>
          </a:p>
        </p:txBody>
      </p:sp>
      <p:sp>
        <p:nvSpPr>
          <p:cNvPr id="2" name="header-rule">
            <a:extLst>
              <a:ext uri="{FF2B5EF4-FFF2-40B4-BE49-F238E27FC236}">
                <a16:creationId xmlns:a16="http://schemas.microsoft.com/office/drawing/2014/main" id="{F5C3C101-C0CA-4DB4-BC82-93D49AC2482B}"/>
              </a:ext>
            </a:extLst>
          </p:cNvPr>
          <p:cNvSpPr>
            <a:spLocks noGrp="1"/>
          </p:cNvSpPr>
          <p:nvPr/>
        </p:nvSpPr>
        <p:spPr>
          <a:xfrm>
            <a:off x="3143250" y="628650"/>
            <a:ext cx="4000500" cy="19050"/>
          </a:xfrm>
          <a:prstGeom prst="rect">
            <a:avLst/>
          </a:prstGeom>
          <a:solidFill>
            <a:srgbClr val="565B60"/>
          </a:solidFill>
          <a:ln w="0">
            <a:solidFill>
              <a:srgbClr val="565B60"/>
            </a:solidFill>
            <a:prstDash val="solid"/>
          </a:ln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B54A04F0-5E30-40AB-8C00-C9BF22EA8D3C}"/>
              </a:ext>
            </a:extLst>
          </p:cNvPr>
          <p:cNvSpPr>
            <a:spLocks noGrp="1"/>
          </p:cNvSpPr>
          <p:nvPr/>
        </p:nvSpPr>
        <p:spPr>
          <a:xfrm>
            <a:off x="7334250" y="342900"/>
            <a:ext cx="5857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550" b="1">
                <a:solidFill>
                  <a:srgbClr val="171C22"/>
                </a:solidFill>
              </a:defRPr>
            </a:pPr>
            <a:r>
              <a:rPr sz="2550" b="1">
                <a:solidFill>
                  <a:srgbClr val="171C22"/>
                </a:solidFill>
              </a:rPr>
              <a:t>불안은 CCTV·가로등·사각지대로 구체화됐습니다</a:t>
            </a:r>
          </a:p>
        </p:txBody>
      </p:sp>
      <p:sp>
        <p:nvSpPr>
          <p:cNvPr id="4" name="wordcloud-card-shadow">
            <a:extLst>
              <a:ext uri="{FF2B5EF4-FFF2-40B4-BE49-F238E27FC236}">
                <a16:creationId xmlns:a16="http://schemas.microsoft.com/office/drawing/2014/main" id="{F35F33A2-845B-48C3-B17B-07202FFC6BF3}"/>
              </a:ext>
            </a:extLst>
          </p:cNvPr>
          <p:cNvSpPr>
            <a:spLocks noGrp="1"/>
          </p:cNvSpPr>
          <p:nvPr/>
        </p:nvSpPr>
        <p:spPr>
          <a:xfrm>
            <a:off x="704850" y="1352550"/>
            <a:ext cx="12477750" cy="5600700"/>
          </a:xfrm>
          <a:prstGeom prst="roundRect">
            <a:avLst>
              <a:gd name="adj" fmla="val 2721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5" name="wordcloud-card">
            <a:extLst>
              <a:ext uri="{FF2B5EF4-FFF2-40B4-BE49-F238E27FC236}">
                <a16:creationId xmlns:a16="http://schemas.microsoft.com/office/drawing/2014/main" id="{A5850E52-74AC-456C-B0E6-F011D86E38FA}"/>
              </a:ext>
            </a:extLst>
          </p:cNvPr>
          <p:cNvSpPr>
            <a:spLocks noGrp="1"/>
          </p:cNvSpPr>
          <p:nvPr/>
        </p:nvSpPr>
        <p:spPr>
          <a:xfrm>
            <a:off x="619125" y="1257300"/>
            <a:ext cx="12477750" cy="5600700"/>
          </a:xfrm>
          <a:prstGeom prst="roundRect">
            <a:avLst>
              <a:gd name="adj" fmla="val 2721"/>
            </a:avLst>
          </a:prstGeom>
          <a:solidFill>
            <a:srgbClr val="FBFAF7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6" name="cloud-guide">
            <a:extLst>
              <a:ext uri="{FF2B5EF4-FFF2-40B4-BE49-F238E27FC236}">
                <a16:creationId xmlns:a16="http://schemas.microsoft.com/office/drawing/2014/main" id="{C14EB35C-7184-42EB-B270-FF88D426C870}"/>
              </a:ext>
            </a:extLst>
          </p:cNvPr>
          <p:cNvSpPr>
            <a:spLocks noGrp="1"/>
          </p:cNvSpPr>
          <p:nvPr/>
        </p:nvSpPr>
        <p:spPr>
          <a:xfrm>
            <a:off x="8953500" y="1428750"/>
            <a:ext cx="3714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87078"/>
                </a:solidFill>
              </a:defRPr>
            </a:pPr>
            <a:r>
              <a:rPr sz="975" b="0">
                <a:solidFill>
                  <a:srgbClr val="687078"/>
                </a:solidFill>
              </a:rPr>
              <a:t>크기 = 언급 빈도 · 전처리 후 핵심어 상위 50개</a:t>
            </a:r>
          </a:p>
        </p:txBody>
      </p:sp>
      <p:sp>
        <p:nvSpPr>
          <p:cNvPr id="7" name="cloud-0-0">
            <a:extLst>
              <a:ext uri="{FF2B5EF4-FFF2-40B4-BE49-F238E27FC236}">
                <a16:creationId xmlns:a16="http://schemas.microsoft.com/office/drawing/2014/main" id="{CFA33594-C11A-4E73-9143-728476D70D2E}"/>
              </a:ext>
            </a:extLst>
          </p:cNvPr>
          <p:cNvSpPr>
            <a:spLocks noGrp="1"/>
          </p:cNvSpPr>
          <p:nvPr/>
        </p:nvSpPr>
        <p:spPr>
          <a:xfrm>
            <a:off x="4849417" y="1695450"/>
            <a:ext cx="741266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38" b="0">
                <a:solidFill>
                  <a:srgbClr val="18324A"/>
                </a:solidFill>
              </a:defRPr>
            </a:pPr>
            <a:r>
              <a:rPr sz="1938" b="0">
                <a:solidFill>
                  <a:srgbClr val="18324A"/>
                </a:solidFill>
              </a:rPr>
              <a:t>주민</a:t>
            </a:r>
          </a:p>
        </p:txBody>
      </p:sp>
      <p:sp>
        <p:nvSpPr>
          <p:cNvPr id="8" name="cloud-0-1">
            <a:extLst>
              <a:ext uri="{FF2B5EF4-FFF2-40B4-BE49-F238E27FC236}">
                <a16:creationId xmlns:a16="http://schemas.microsoft.com/office/drawing/2014/main" id="{6EED936A-9E72-4886-AC2F-17AD9563836D}"/>
              </a:ext>
            </a:extLst>
          </p:cNvPr>
          <p:cNvSpPr>
            <a:spLocks noGrp="1"/>
          </p:cNvSpPr>
          <p:nvPr/>
        </p:nvSpPr>
        <p:spPr>
          <a:xfrm>
            <a:off x="5733558" y="1695450"/>
            <a:ext cx="552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38" b="0">
                <a:solidFill>
                  <a:srgbClr val="52796F"/>
                </a:solidFill>
              </a:defRPr>
            </a:pPr>
            <a:r>
              <a:rPr sz="1838" b="0">
                <a:solidFill>
                  <a:srgbClr val="52796F"/>
                </a:solidFill>
              </a:rPr>
              <a:t>AI</a:t>
            </a:r>
          </a:p>
        </p:txBody>
      </p:sp>
      <p:sp>
        <p:nvSpPr>
          <p:cNvPr id="9" name="cloud-0-2">
            <a:extLst>
              <a:ext uri="{FF2B5EF4-FFF2-40B4-BE49-F238E27FC236}">
                <a16:creationId xmlns:a16="http://schemas.microsoft.com/office/drawing/2014/main" id="{74403473-2D60-4DAA-A804-4679A1EF3D37}"/>
              </a:ext>
            </a:extLst>
          </p:cNvPr>
          <p:cNvSpPr>
            <a:spLocks noGrp="1"/>
          </p:cNvSpPr>
          <p:nvPr/>
        </p:nvSpPr>
        <p:spPr>
          <a:xfrm>
            <a:off x="6428883" y="1695450"/>
            <a:ext cx="71776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53" b="0">
                <a:solidFill>
                  <a:srgbClr val="D96835"/>
                </a:solidFill>
              </a:defRPr>
            </a:pPr>
            <a:r>
              <a:rPr sz="1853" b="0">
                <a:solidFill>
                  <a:srgbClr val="D96835"/>
                </a:solidFill>
              </a:rPr>
              <a:t>순찰</a:t>
            </a:r>
          </a:p>
        </p:txBody>
      </p:sp>
      <p:sp>
        <p:nvSpPr>
          <p:cNvPr id="10" name="cloud-0-3">
            <a:extLst>
              <a:ext uri="{FF2B5EF4-FFF2-40B4-BE49-F238E27FC236}">
                <a16:creationId xmlns:a16="http://schemas.microsoft.com/office/drawing/2014/main" id="{3F532CF3-D4FA-4C08-9AE0-04924EF4E6BB}"/>
              </a:ext>
            </a:extLst>
          </p:cNvPr>
          <p:cNvSpPr>
            <a:spLocks noGrp="1"/>
          </p:cNvSpPr>
          <p:nvPr/>
        </p:nvSpPr>
        <p:spPr>
          <a:xfrm>
            <a:off x="7289523" y="1695450"/>
            <a:ext cx="71642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48" b="0">
                <a:solidFill>
                  <a:srgbClr val="815C3B"/>
                </a:solidFill>
              </a:defRPr>
            </a:pPr>
            <a:r>
              <a:rPr sz="1848" b="0">
                <a:solidFill>
                  <a:srgbClr val="815C3B"/>
                </a:solidFill>
              </a:rPr>
              <a:t>점검</a:t>
            </a:r>
          </a:p>
        </p:txBody>
      </p:sp>
      <p:sp>
        <p:nvSpPr>
          <p:cNvPr id="11" name="cloud-0-4">
            <a:extLst>
              <a:ext uri="{FF2B5EF4-FFF2-40B4-BE49-F238E27FC236}">
                <a16:creationId xmlns:a16="http://schemas.microsoft.com/office/drawing/2014/main" id="{0E529AC7-A494-4D33-BEFA-5E1DFAA959DD}"/>
              </a:ext>
            </a:extLst>
          </p:cNvPr>
          <p:cNvSpPr>
            <a:spLocks noGrp="1"/>
          </p:cNvSpPr>
          <p:nvPr/>
        </p:nvSpPr>
        <p:spPr>
          <a:xfrm>
            <a:off x="8148818" y="1695450"/>
            <a:ext cx="71776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53" b="0">
                <a:solidFill>
                  <a:srgbClr val="6B4A8C"/>
                </a:solidFill>
              </a:defRPr>
            </a:pPr>
            <a:r>
              <a:rPr sz="1853" b="0">
                <a:solidFill>
                  <a:srgbClr val="6B4A8C"/>
                </a:solidFill>
              </a:rPr>
              <a:t>주변</a:t>
            </a:r>
          </a:p>
        </p:txBody>
      </p:sp>
      <p:sp>
        <p:nvSpPr>
          <p:cNvPr id="12" name="cloud-1-0">
            <a:extLst>
              <a:ext uri="{FF2B5EF4-FFF2-40B4-BE49-F238E27FC236}">
                <a16:creationId xmlns:a16="http://schemas.microsoft.com/office/drawing/2014/main" id="{FD7F8F89-4313-4EE7-805D-44C4778FDB3F}"/>
              </a:ext>
            </a:extLst>
          </p:cNvPr>
          <p:cNvSpPr>
            <a:spLocks noGrp="1"/>
          </p:cNvSpPr>
          <p:nvPr/>
        </p:nvSpPr>
        <p:spPr>
          <a:xfrm>
            <a:off x="4470459" y="2171700"/>
            <a:ext cx="72044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62" b="0">
                <a:solidFill>
                  <a:srgbClr val="18324A"/>
                </a:solidFill>
              </a:defRPr>
            </a:pPr>
            <a:r>
              <a:rPr sz="1862" b="0">
                <a:solidFill>
                  <a:srgbClr val="18324A"/>
                </a:solidFill>
              </a:rPr>
              <a:t>생활</a:t>
            </a:r>
          </a:p>
        </p:txBody>
      </p:sp>
      <p:sp>
        <p:nvSpPr>
          <p:cNvPr id="13" name="cloud-1-1">
            <a:extLst>
              <a:ext uri="{FF2B5EF4-FFF2-40B4-BE49-F238E27FC236}">
                <a16:creationId xmlns:a16="http://schemas.microsoft.com/office/drawing/2014/main" id="{9D3D9ADC-9492-4DB9-A84A-6214ED3D2043}"/>
              </a:ext>
            </a:extLst>
          </p:cNvPr>
          <p:cNvSpPr>
            <a:spLocks noGrp="1"/>
          </p:cNvSpPr>
          <p:nvPr/>
        </p:nvSpPr>
        <p:spPr>
          <a:xfrm>
            <a:off x="5333774" y="2171700"/>
            <a:ext cx="72044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62" b="0">
                <a:solidFill>
                  <a:srgbClr val="52796F"/>
                </a:solidFill>
              </a:defRPr>
            </a:pPr>
            <a:r>
              <a:rPr sz="1862" b="0">
                <a:solidFill>
                  <a:srgbClr val="52796F"/>
                </a:solidFill>
              </a:rPr>
              <a:t>시간</a:t>
            </a:r>
          </a:p>
        </p:txBody>
      </p:sp>
      <p:sp>
        <p:nvSpPr>
          <p:cNvPr id="14" name="cloud-1-2">
            <a:extLst>
              <a:ext uri="{FF2B5EF4-FFF2-40B4-BE49-F238E27FC236}">
                <a16:creationId xmlns:a16="http://schemas.microsoft.com/office/drawing/2014/main" id="{CDF162DD-B538-4347-9368-2A58E727495D}"/>
              </a:ext>
            </a:extLst>
          </p:cNvPr>
          <p:cNvSpPr>
            <a:spLocks noGrp="1"/>
          </p:cNvSpPr>
          <p:nvPr/>
        </p:nvSpPr>
        <p:spPr>
          <a:xfrm>
            <a:off x="6197089" y="2171700"/>
            <a:ext cx="725741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82" b="0">
                <a:solidFill>
                  <a:srgbClr val="D96835"/>
                </a:solidFill>
              </a:defRPr>
            </a:pPr>
            <a:r>
              <a:rPr sz="1882" b="0">
                <a:solidFill>
                  <a:srgbClr val="D96835"/>
                </a:solidFill>
              </a:rPr>
              <a:t>택시</a:t>
            </a:r>
          </a:p>
        </p:txBody>
      </p:sp>
      <p:sp>
        <p:nvSpPr>
          <p:cNvPr id="15" name="cloud-1-3">
            <a:extLst>
              <a:ext uri="{FF2B5EF4-FFF2-40B4-BE49-F238E27FC236}">
                <a16:creationId xmlns:a16="http://schemas.microsoft.com/office/drawing/2014/main" id="{0A47C4B0-50EB-4E37-9A99-075D9E25E7EC}"/>
              </a:ext>
            </a:extLst>
          </p:cNvPr>
          <p:cNvSpPr>
            <a:spLocks noGrp="1"/>
          </p:cNvSpPr>
          <p:nvPr/>
        </p:nvSpPr>
        <p:spPr>
          <a:xfrm>
            <a:off x="7065705" y="2171700"/>
            <a:ext cx="74883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66" b="0">
                <a:solidFill>
                  <a:srgbClr val="815C3B"/>
                </a:solidFill>
              </a:defRPr>
            </a:pPr>
            <a:r>
              <a:rPr sz="1966" b="0">
                <a:solidFill>
                  <a:srgbClr val="815C3B"/>
                </a:solidFill>
              </a:rPr>
              <a:t>운영</a:t>
            </a:r>
          </a:p>
        </p:txBody>
      </p:sp>
      <p:sp>
        <p:nvSpPr>
          <p:cNvPr id="16" name="cloud-1-4">
            <a:extLst>
              <a:ext uri="{FF2B5EF4-FFF2-40B4-BE49-F238E27FC236}">
                <a16:creationId xmlns:a16="http://schemas.microsoft.com/office/drawing/2014/main" id="{4D6860DC-1FB3-4286-B6DF-33B9B7EFBF4A}"/>
              </a:ext>
            </a:extLst>
          </p:cNvPr>
          <p:cNvSpPr>
            <a:spLocks noGrp="1"/>
          </p:cNvSpPr>
          <p:nvPr/>
        </p:nvSpPr>
        <p:spPr>
          <a:xfrm>
            <a:off x="7957417" y="2171700"/>
            <a:ext cx="128812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66" b="0">
                <a:solidFill>
                  <a:srgbClr val="6B4A8C"/>
                </a:solidFill>
              </a:defRPr>
            </a:pPr>
            <a:r>
              <a:rPr sz="1966" b="0">
                <a:solidFill>
                  <a:srgbClr val="6B4A8C"/>
                </a:solidFill>
              </a:rPr>
              <a:t>대리운전</a:t>
            </a:r>
          </a:p>
        </p:txBody>
      </p:sp>
      <p:sp>
        <p:nvSpPr>
          <p:cNvPr id="17" name="cloud-2-0">
            <a:extLst>
              <a:ext uri="{FF2B5EF4-FFF2-40B4-BE49-F238E27FC236}">
                <a16:creationId xmlns:a16="http://schemas.microsoft.com/office/drawing/2014/main" id="{D032E5F6-2DDE-462E-80F2-E75FA6C50658}"/>
              </a:ext>
            </a:extLst>
          </p:cNvPr>
          <p:cNvSpPr>
            <a:spLocks noGrp="1"/>
          </p:cNvSpPr>
          <p:nvPr/>
        </p:nvSpPr>
        <p:spPr>
          <a:xfrm>
            <a:off x="3899684" y="2647950"/>
            <a:ext cx="132817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47" b="1">
                <a:solidFill>
                  <a:srgbClr val="18324A"/>
                </a:solidFill>
              </a:defRPr>
            </a:pPr>
            <a:r>
              <a:rPr sz="2447" b="1">
                <a:solidFill>
                  <a:srgbClr val="18324A"/>
                </a:solidFill>
              </a:rPr>
              <a:t>CPTED</a:t>
            </a:r>
          </a:p>
        </p:txBody>
      </p:sp>
      <p:sp>
        <p:nvSpPr>
          <p:cNvPr id="18" name="cloud-2-1">
            <a:extLst>
              <a:ext uri="{FF2B5EF4-FFF2-40B4-BE49-F238E27FC236}">
                <a16:creationId xmlns:a16="http://schemas.microsoft.com/office/drawing/2014/main" id="{70F01BA7-81E7-4764-BE9E-450B60D84700}"/>
              </a:ext>
            </a:extLst>
          </p:cNvPr>
          <p:cNvSpPr>
            <a:spLocks noGrp="1"/>
          </p:cNvSpPr>
          <p:nvPr/>
        </p:nvSpPr>
        <p:spPr>
          <a:xfrm>
            <a:off x="5370732" y="2647950"/>
            <a:ext cx="800108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53" b="0">
                <a:solidFill>
                  <a:srgbClr val="52796F"/>
                </a:solidFill>
              </a:defRPr>
            </a:pPr>
            <a:r>
              <a:rPr sz="2153" b="0">
                <a:solidFill>
                  <a:srgbClr val="52796F"/>
                </a:solidFill>
              </a:rPr>
              <a:t>이동</a:t>
            </a:r>
          </a:p>
        </p:txBody>
      </p:sp>
      <p:sp>
        <p:nvSpPr>
          <p:cNvPr id="19" name="cloud-2-2">
            <a:extLst>
              <a:ext uri="{FF2B5EF4-FFF2-40B4-BE49-F238E27FC236}">
                <a16:creationId xmlns:a16="http://schemas.microsoft.com/office/drawing/2014/main" id="{91E2DBE7-8193-480F-B10C-73AE1EC5FE85}"/>
              </a:ext>
            </a:extLst>
          </p:cNvPr>
          <p:cNvSpPr>
            <a:spLocks noGrp="1"/>
          </p:cNvSpPr>
          <p:nvPr/>
        </p:nvSpPr>
        <p:spPr>
          <a:xfrm>
            <a:off x="6313715" y="2647950"/>
            <a:ext cx="1510596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71" b="1">
                <a:solidFill>
                  <a:srgbClr val="D96835"/>
                </a:solidFill>
              </a:defRPr>
            </a:pPr>
            <a:r>
              <a:rPr sz="2371" b="1">
                <a:solidFill>
                  <a:srgbClr val="D96835"/>
                </a:solidFill>
              </a:rPr>
              <a:t>취약지역</a:t>
            </a:r>
          </a:p>
        </p:txBody>
      </p:sp>
      <p:sp>
        <p:nvSpPr>
          <p:cNvPr id="20" name="cloud-2-3">
            <a:extLst>
              <a:ext uri="{FF2B5EF4-FFF2-40B4-BE49-F238E27FC236}">
                <a16:creationId xmlns:a16="http://schemas.microsoft.com/office/drawing/2014/main" id="{0D01ACA6-2FB4-42FC-91E6-FB861036F091}"/>
              </a:ext>
            </a:extLst>
          </p:cNvPr>
          <p:cNvSpPr>
            <a:spLocks noGrp="1"/>
          </p:cNvSpPr>
          <p:nvPr/>
        </p:nvSpPr>
        <p:spPr>
          <a:xfrm>
            <a:off x="7967186" y="2647950"/>
            <a:ext cx="83993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98" b="0">
                <a:solidFill>
                  <a:srgbClr val="815C3B"/>
                </a:solidFill>
              </a:defRPr>
            </a:pPr>
            <a:r>
              <a:rPr sz="2298" b="0">
                <a:solidFill>
                  <a:srgbClr val="815C3B"/>
                </a:solidFill>
              </a:rPr>
              <a:t>환경</a:t>
            </a:r>
          </a:p>
        </p:txBody>
      </p:sp>
      <p:sp>
        <p:nvSpPr>
          <p:cNvPr id="21" name="cloud-2-4">
            <a:extLst>
              <a:ext uri="{FF2B5EF4-FFF2-40B4-BE49-F238E27FC236}">
                <a16:creationId xmlns:a16="http://schemas.microsoft.com/office/drawing/2014/main" id="{7D22ED41-6C59-4AA5-BB15-C9884CE4F3A2}"/>
              </a:ext>
            </a:extLst>
          </p:cNvPr>
          <p:cNvSpPr>
            <a:spLocks noGrp="1"/>
          </p:cNvSpPr>
          <p:nvPr/>
        </p:nvSpPr>
        <p:spPr>
          <a:xfrm>
            <a:off x="8949991" y="2647950"/>
            <a:ext cx="8663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94" b="1">
                <a:solidFill>
                  <a:srgbClr val="6B4A8C"/>
                </a:solidFill>
              </a:defRPr>
            </a:pPr>
            <a:r>
              <a:rPr sz="2394" b="1">
                <a:solidFill>
                  <a:srgbClr val="6B4A8C"/>
                </a:solidFill>
              </a:rPr>
              <a:t>경로</a:t>
            </a:r>
          </a:p>
        </p:txBody>
      </p:sp>
      <p:sp>
        <p:nvSpPr>
          <p:cNvPr id="22" name="cloud-3-0">
            <a:extLst>
              <a:ext uri="{FF2B5EF4-FFF2-40B4-BE49-F238E27FC236}">
                <a16:creationId xmlns:a16="http://schemas.microsoft.com/office/drawing/2014/main" id="{4FAA06FA-B65E-4F61-8E09-B2545E599F9B}"/>
              </a:ext>
            </a:extLst>
          </p:cNvPr>
          <p:cNvSpPr>
            <a:spLocks noGrp="1"/>
          </p:cNvSpPr>
          <p:nvPr/>
        </p:nvSpPr>
        <p:spPr>
          <a:xfrm>
            <a:off x="3978318" y="3124200"/>
            <a:ext cx="1417748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02" b="0">
                <a:solidFill>
                  <a:srgbClr val="18324A"/>
                </a:solidFill>
              </a:defRPr>
            </a:pPr>
            <a:r>
              <a:rPr sz="2202" b="0">
                <a:solidFill>
                  <a:srgbClr val="18324A"/>
                </a:solidFill>
              </a:rPr>
              <a:t>스카우트</a:t>
            </a:r>
          </a:p>
        </p:txBody>
      </p:sp>
      <p:sp>
        <p:nvSpPr>
          <p:cNvPr id="23" name="cloud-3-1">
            <a:extLst>
              <a:ext uri="{FF2B5EF4-FFF2-40B4-BE49-F238E27FC236}">
                <a16:creationId xmlns:a16="http://schemas.microsoft.com/office/drawing/2014/main" id="{27B9D007-EEFE-4981-A475-E33046432043}"/>
              </a:ext>
            </a:extLst>
          </p:cNvPr>
          <p:cNvSpPr>
            <a:spLocks noGrp="1"/>
          </p:cNvSpPr>
          <p:nvPr/>
        </p:nvSpPr>
        <p:spPr>
          <a:xfrm>
            <a:off x="5538941" y="3124200"/>
            <a:ext cx="80578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4" b="0">
                <a:solidFill>
                  <a:srgbClr val="52796F"/>
                </a:solidFill>
              </a:defRPr>
            </a:pPr>
            <a:r>
              <a:rPr sz="2174" b="0">
                <a:solidFill>
                  <a:srgbClr val="52796F"/>
                </a:solidFill>
              </a:rPr>
              <a:t>예방</a:t>
            </a:r>
          </a:p>
        </p:txBody>
      </p:sp>
      <p:sp>
        <p:nvSpPr>
          <p:cNvPr id="24" name="cloud-3-2">
            <a:extLst>
              <a:ext uri="{FF2B5EF4-FFF2-40B4-BE49-F238E27FC236}">
                <a16:creationId xmlns:a16="http://schemas.microsoft.com/office/drawing/2014/main" id="{D14A11AA-76BF-4292-A855-F0F6B4840F1B}"/>
              </a:ext>
            </a:extLst>
          </p:cNvPr>
          <p:cNvSpPr>
            <a:spLocks noGrp="1"/>
          </p:cNvSpPr>
          <p:nvPr/>
        </p:nvSpPr>
        <p:spPr>
          <a:xfrm>
            <a:off x="6487601" y="3124200"/>
            <a:ext cx="1390666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53" b="0">
                <a:solidFill>
                  <a:srgbClr val="D96835"/>
                </a:solidFill>
              </a:defRPr>
            </a:pPr>
            <a:r>
              <a:rPr sz="2153" b="0">
                <a:solidFill>
                  <a:srgbClr val="D96835"/>
                </a:solidFill>
              </a:rPr>
              <a:t>환경설계</a:t>
            </a:r>
          </a:p>
        </p:txBody>
      </p:sp>
      <p:sp>
        <p:nvSpPr>
          <p:cNvPr id="25" name="cloud-3-3">
            <a:extLst>
              <a:ext uri="{FF2B5EF4-FFF2-40B4-BE49-F238E27FC236}">
                <a16:creationId xmlns:a16="http://schemas.microsoft.com/office/drawing/2014/main" id="{AF93D9C8-A387-4979-B583-D4F1A86572F7}"/>
              </a:ext>
            </a:extLst>
          </p:cNvPr>
          <p:cNvSpPr>
            <a:spLocks noGrp="1"/>
          </p:cNvSpPr>
          <p:nvPr/>
        </p:nvSpPr>
        <p:spPr>
          <a:xfrm>
            <a:off x="8021142" y="3124200"/>
            <a:ext cx="79091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19" b="0">
                <a:solidFill>
                  <a:srgbClr val="815C3B"/>
                </a:solidFill>
              </a:defRPr>
            </a:pPr>
            <a:r>
              <a:rPr sz="2119" b="0">
                <a:solidFill>
                  <a:srgbClr val="815C3B"/>
                </a:solidFill>
              </a:rPr>
              <a:t>취약</a:t>
            </a:r>
          </a:p>
        </p:txBody>
      </p:sp>
      <p:sp>
        <p:nvSpPr>
          <p:cNvPr id="26" name="cloud-3-4">
            <a:extLst>
              <a:ext uri="{FF2B5EF4-FFF2-40B4-BE49-F238E27FC236}">
                <a16:creationId xmlns:a16="http://schemas.microsoft.com/office/drawing/2014/main" id="{242F1BF1-E7AC-4FBC-ACDB-4F763209D3A6}"/>
              </a:ext>
            </a:extLst>
          </p:cNvPr>
          <p:cNvSpPr>
            <a:spLocks noGrp="1"/>
          </p:cNvSpPr>
          <p:nvPr/>
        </p:nvSpPr>
        <p:spPr>
          <a:xfrm>
            <a:off x="8954931" y="3124200"/>
            <a:ext cx="782751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90" b="0">
                <a:solidFill>
                  <a:srgbClr val="6B4A8C"/>
                </a:solidFill>
              </a:defRPr>
            </a:pPr>
            <a:r>
              <a:rPr sz="2090" b="0">
                <a:solidFill>
                  <a:srgbClr val="6B4A8C"/>
                </a:solidFill>
              </a:rPr>
              <a:t>LED</a:t>
            </a:r>
          </a:p>
        </p:txBody>
      </p:sp>
      <p:sp>
        <p:nvSpPr>
          <p:cNvPr id="27" name="cloud-4-0">
            <a:extLst>
              <a:ext uri="{FF2B5EF4-FFF2-40B4-BE49-F238E27FC236}">
                <a16:creationId xmlns:a16="http://schemas.microsoft.com/office/drawing/2014/main" id="{A9A557F9-9594-4AB9-932D-B8F9D658A9D6}"/>
              </a:ext>
            </a:extLst>
          </p:cNvPr>
          <p:cNvSpPr>
            <a:spLocks noGrp="1"/>
          </p:cNvSpPr>
          <p:nvPr/>
        </p:nvSpPr>
        <p:spPr>
          <a:xfrm>
            <a:off x="3042730" y="3638550"/>
            <a:ext cx="185293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995" b="1">
                <a:solidFill>
                  <a:srgbClr val="18324A"/>
                </a:solidFill>
              </a:defRPr>
            </a:pPr>
            <a:r>
              <a:rPr sz="2995" b="1">
                <a:solidFill>
                  <a:srgbClr val="18324A"/>
                </a:solidFill>
              </a:rPr>
              <a:t>사각지대</a:t>
            </a:r>
          </a:p>
        </p:txBody>
      </p:sp>
      <p:sp>
        <p:nvSpPr>
          <p:cNvPr id="28" name="cloud-4-1">
            <a:extLst>
              <a:ext uri="{FF2B5EF4-FFF2-40B4-BE49-F238E27FC236}">
                <a16:creationId xmlns:a16="http://schemas.microsoft.com/office/drawing/2014/main" id="{FCBDD1F7-E8AE-46A6-BA62-EA68CE034BD2}"/>
              </a:ext>
            </a:extLst>
          </p:cNvPr>
          <p:cNvSpPr>
            <a:spLocks noGrp="1"/>
          </p:cNvSpPr>
          <p:nvPr/>
        </p:nvSpPr>
        <p:spPr>
          <a:xfrm>
            <a:off x="5038538" y="3638550"/>
            <a:ext cx="1526286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600" b="1">
                <a:solidFill>
                  <a:srgbClr val="52796F"/>
                </a:solidFill>
              </a:defRPr>
            </a:pPr>
            <a:r>
              <a:rPr sz="3600" b="1">
                <a:solidFill>
                  <a:srgbClr val="52796F"/>
                </a:solidFill>
              </a:rPr>
              <a:t>CCTV</a:t>
            </a:r>
          </a:p>
        </p:txBody>
      </p:sp>
      <p:sp>
        <p:nvSpPr>
          <p:cNvPr id="29" name="cloud-4-2">
            <a:extLst>
              <a:ext uri="{FF2B5EF4-FFF2-40B4-BE49-F238E27FC236}">
                <a16:creationId xmlns:a16="http://schemas.microsoft.com/office/drawing/2014/main" id="{8FF81F5A-652F-4C90-B061-CEB248F0FC24}"/>
              </a:ext>
            </a:extLst>
          </p:cNvPr>
          <p:cNvSpPr>
            <a:spLocks noGrp="1"/>
          </p:cNvSpPr>
          <p:nvPr/>
        </p:nvSpPr>
        <p:spPr>
          <a:xfrm>
            <a:off x="6707699" y="3638550"/>
            <a:ext cx="1153562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441" b="1">
                <a:solidFill>
                  <a:srgbClr val="D96835"/>
                </a:solidFill>
              </a:defRPr>
            </a:pPr>
            <a:r>
              <a:rPr sz="3441" b="1">
                <a:solidFill>
                  <a:srgbClr val="D96835"/>
                </a:solidFill>
              </a:rPr>
              <a:t>안심</a:t>
            </a:r>
          </a:p>
        </p:txBody>
      </p:sp>
      <p:sp>
        <p:nvSpPr>
          <p:cNvPr id="30" name="cloud-4-3">
            <a:extLst>
              <a:ext uri="{FF2B5EF4-FFF2-40B4-BE49-F238E27FC236}">
                <a16:creationId xmlns:a16="http://schemas.microsoft.com/office/drawing/2014/main" id="{BD0C5D9B-8EB8-43BB-A1A6-D681FA9D67B7}"/>
              </a:ext>
            </a:extLst>
          </p:cNvPr>
          <p:cNvSpPr>
            <a:spLocks noGrp="1"/>
          </p:cNvSpPr>
          <p:nvPr/>
        </p:nvSpPr>
        <p:spPr>
          <a:xfrm>
            <a:off x="8004136" y="3638550"/>
            <a:ext cx="106843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31" b="1">
                <a:solidFill>
                  <a:srgbClr val="815C3B"/>
                </a:solidFill>
              </a:defRPr>
            </a:pPr>
            <a:r>
              <a:rPr sz="3131" b="1">
                <a:solidFill>
                  <a:srgbClr val="815C3B"/>
                </a:solidFill>
              </a:rPr>
              <a:t>치안</a:t>
            </a:r>
          </a:p>
        </p:txBody>
      </p:sp>
      <p:sp>
        <p:nvSpPr>
          <p:cNvPr id="31" name="cloud-4-4">
            <a:extLst>
              <a:ext uri="{FF2B5EF4-FFF2-40B4-BE49-F238E27FC236}">
                <a16:creationId xmlns:a16="http://schemas.microsoft.com/office/drawing/2014/main" id="{C205D8EF-9F99-4D48-9163-4DB71A718F09}"/>
              </a:ext>
            </a:extLst>
          </p:cNvPr>
          <p:cNvSpPr>
            <a:spLocks noGrp="1"/>
          </p:cNvSpPr>
          <p:nvPr/>
        </p:nvSpPr>
        <p:spPr>
          <a:xfrm>
            <a:off x="9215446" y="3638550"/>
            <a:ext cx="145782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34" b="1">
                <a:solidFill>
                  <a:srgbClr val="6B4A8C"/>
                </a:solidFill>
              </a:defRPr>
            </a:pPr>
            <a:r>
              <a:rPr sz="3034" b="1">
                <a:solidFill>
                  <a:srgbClr val="6B4A8C"/>
                </a:solidFill>
              </a:rPr>
              <a:t>가로등</a:t>
            </a:r>
          </a:p>
        </p:txBody>
      </p:sp>
      <p:sp>
        <p:nvSpPr>
          <p:cNvPr id="32" name="cloud-5-0">
            <a:extLst>
              <a:ext uri="{FF2B5EF4-FFF2-40B4-BE49-F238E27FC236}">
                <a16:creationId xmlns:a16="http://schemas.microsoft.com/office/drawing/2014/main" id="{10980310-EE99-4F28-87E7-1021C77B7716}"/>
              </a:ext>
            </a:extLst>
          </p:cNvPr>
          <p:cNvSpPr>
            <a:spLocks noGrp="1"/>
          </p:cNvSpPr>
          <p:nvPr/>
        </p:nvSpPr>
        <p:spPr>
          <a:xfrm>
            <a:off x="3430074" y="4191000"/>
            <a:ext cx="1428869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963" b="1">
                <a:solidFill>
                  <a:srgbClr val="18324A"/>
                </a:solidFill>
              </a:defRPr>
            </a:pPr>
            <a:r>
              <a:rPr sz="2963" b="1">
                <a:solidFill>
                  <a:srgbClr val="18324A"/>
                </a:solidFill>
              </a:rPr>
              <a:t>골목길</a:t>
            </a:r>
          </a:p>
        </p:txBody>
      </p:sp>
      <p:sp>
        <p:nvSpPr>
          <p:cNvPr id="33" name="cloud-5-1">
            <a:extLst>
              <a:ext uri="{FF2B5EF4-FFF2-40B4-BE49-F238E27FC236}">
                <a16:creationId xmlns:a16="http://schemas.microsoft.com/office/drawing/2014/main" id="{9A4CE7DE-C3A6-4507-B7A1-8024CB41CC2D}"/>
              </a:ext>
            </a:extLst>
          </p:cNvPr>
          <p:cNvSpPr>
            <a:spLocks noGrp="1"/>
          </p:cNvSpPr>
          <p:nvPr/>
        </p:nvSpPr>
        <p:spPr>
          <a:xfrm>
            <a:off x="5001818" y="4191000"/>
            <a:ext cx="1036498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15" b="1">
                <a:solidFill>
                  <a:srgbClr val="52796F"/>
                </a:solidFill>
              </a:defRPr>
            </a:pPr>
            <a:r>
              <a:rPr sz="3015" b="1">
                <a:solidFill>
                  <a:srgbClr val="52796F"/>
                </a:solidFill>
              </a:rPr>
              <a:t>밤길</a:t>
            </a:r>
          </a:p>
        </p:txBody>
      </p:sp>
      <p:sp>
        <p:nvSpPr>
          <p:cNvPr id="34" name="cloud-5-2">
            <a:extLst>
              <a:ext uri="{FF2B5EF4-FFF2-40B4-BE49-F238E27FC236}">
                <a16:creationId xmlns:a16="http://schemas.microsoft.com/office/drawing/2014/main" id="{2A13D864-F131-469F-B50F-96B32A8BBC34}"/>
              </a:ext>
            </a:extLst>
          </p:cNvPr>
          <p:cNvSpPr>
            <a:spLocks noGrp="1"/>
          </p:cNvSpPr>
          <p:nvPr/>
        </p:nvSpPr>
        <p:spPr>
          <a:xfrm>
            <a:off x="6181191" y="4191000"/>
            <a:ext cx="1036498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15" b="1">
                <a:solidFill>
                  <a:srgbClr val="D96835"/>
                </a:solidFill>
              </a:defRPr>
            </a:pPr>
            <a:r>
              <a:rPr sz="3015" b="1">
                <a:solidFill>
                  <a:srgbClr val="D96835"/>
                </a:solidFill>
              </a:rPr>
              <a:t>범죄</a:t>
            </a:r>
          </a:p>
        </p:txBody>
      </p:sp>
      <p:sp>
        <p:nvSpPr>
          <p:cNvPr id="35" name="cloud-5-3">
            <a:extLst>
              <a:ext uri="{FF2B5EF4-FFF2-40B4-BE49-F238E27FC236}">
                <a16:creationId xmlns:a16="http://schemas.microsoft.com/office/drawing/2014/main" id="{C1039E2C-9C20-45A1-9F68-298A79FA9E01}"/>
              </a:ext>
            </a:extLst>
          </p:cNvPr>
          <p:cNvSpPr>
            <a:spLocks noGrp="1"/>
          </p:cNvSpPr>
          <p:nvPr/>
        </p:nvSpPr>
        <p:spPr>
          <a:xfrm>
            <a:off x="7360564" y="4191000"/>
            <a:ext cx="140751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911" b="1">
                <a:solidFill>
                  <a:srgbClr val="815C3B"/>
                </a:solidFill>
              </a:defRPr>
            </a:pPr>
            <a:r>
              <a:rPr sz="2911" b="1">
                <a:solidFill>
                  <a:srgbClr val="815C3B"/>
                </a:solidFill>
              </a:rPr>
              <a:t>보행자</a:t>
            </a:r>
          </a:p>
        </p:txBody>
      </p:sp>
      <p:sp>
        <p:nvSpPr>
          <p:cNvPr id="36" name="cloud-5-4">
            <a:extLst>
              <a:ext uri="{FF2B5EF4-FFF2-40B4-BE49-F238E27FC236}">
                <a16:creationId xmlns:a16="http://schemas.microsoft.com/office/drawing/2014/main" id="{892FD837-3074-455C-BDDC-24737C349F10}"/>
              </a:ext>
            </a:extLst>
          </p:cNvPr>
          <p:cNvSpPr>
            <a:spLocks noGrp="1"/>
          </p:cNvSpPr>
          <p:nvPr/>
        </p:nvSpPr>
        <p:spPr>
          <a:xfrm>
            <a:off x="8910952" y="4191000"/>
            <a:ext cx="137497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32" b="1">
                <a:solidFill>
                  <a:srgbClr val="6B4A8C"/>
                </a:solidFill>
              </a:defRPr>
            </a:pPr>
            <a:r>
              <a:rPr sz="2832" b="1">
                <a:solidFill>
                  <a:srgbClr val="6B4A8C"/>
                </a:solidFill>
              </a:rPr>
              <a:t>어두운</a:t>
            </a:r>
          </a:p>
        </p:txBody>
      </p:sp>
      <p:sp>
        <p:nvSpPr>
          <p:cNvPr id="37" name="cloud-6-0">
            <a:extLst>
              <a:ext uri="{FF2B5EF4-FFF2-40B4-BE49-F238E27FC236}">
                <a16:creationId xmlns:a16="http://schemas.microsoft.com/office/drawing/2014/main" id="{B0F517C5-C8E8-4896-9F49-392FBBA94C72}"/>
              </a:ext>
            </a:extLst>
          </p:cNvPr>
          <p:cNvSpPr>
            <a:spLocks noGrp="1"/>
          </p:cNvSpPr>
          <p:nvPr/>
        </p:nvSpPr>
        <p:spPr>
          <a:xfrm>
            <a:off x="2726010" y="4743450"/>
            <a:ext cx="1352921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79" b="1">
                <a:solidFill>
                  <a:srgbClr val="18324A"/>
                </a:solidFill>
              </a:defRPr>
            </a:pPr>
            <a:r>
              <a:rPr sz="2779" b="1">
                <a:solidFill>
                  <a:srgbClr val="18324A"/>
                </a:solidFill>
              </a:rPr>
              <a:t>안전한</a:t>
            </a:r>
          </a:p>
        </p:txBody>
      </p:sp>
      <p:sp>
        <p:nvSpPr>
          <p:cNvPr id="38" name="cloud-6-1">
            <a:extLst>
              <a:ext uri="{FF2B5EF4-FFF2-40B4-BE49-F238E27FC236}">
                <a16:creationId xmlns:a16="http://schemas.microsoft.com/office/drawing/2014/main" id="{D9159B29-3E82-4A9A-BC2D-0C209E218205}"/>
              </a:ext>
            </a:extLst>
          </p:cNvPr>
          <p:cNvSpPr>
            <a:spLocks noGrp="1"/>
          </p:cNvSpPr>
          <p:nvPr/>
        </p:nvSpPr>
        <p:spPr>
          <a:xfrm>
            <a:off x="4221805" y="4743450"/>
            <a:ext cx="1692932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4" b="1">
                <a:solidFill>
                  <a:srgbClr val="52796F"/>
                </a:solidFill>
              </a:defRPr>
            </a:pPr>
            <a:r>
              <a:rPr sz="2704" b="1">
                <a:solidFill>
                  <a:srgbClr val="52796F"/>
                </a:solidFill>
              </a:rPr>
              <a:t>안심귀가</a:t>
            </a:r>
          </a:p>
        </p:txBody>
      </p:sp>
      <p:sp>
        <p:nvSpPr>
          <p:cNvPr id="39" name="cloud-6-2">
            <a:extLst>
              <a:ext uri="{FF2B5EF4-FFF2-40B4-BE49-F238E27FC236}">
                <a16:creationId xmlns:a16="http://schemas.microsoft.com/office/drawing/2014/main" id="{55984AD1-3B0A-4773-AB03-E67517018864}"/>
              </a:ext>
            </a:extLst>
          </p:cNvPr>
          <p:cNvSpPr>
            <a:spLocks noGrp="1"/>
          </p:cNvSpPr>
          <p:nvPr/>
        </p:nvSpPr>
        <p:spPr>
          <a:xfrm>
            <a:off x="6057613" y="4743450"/>
            <a:ext cx="204720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680" b="1">
                <a:solidFill>
                  <a:srgbClr val="D96835"/>
                </a:solidFill>
              </a:defRPr>
            </a:pPr>
            <a:r>
              <a:rPr sz="2680" b="1">
                <a:solidFill>
                  <a:srgbClr val="D96835"/>
                </a:solidFill>
              </a:rPr>
              <a:t>1인 가구</a:t>
            </a:r>
          </a:p>
        </p:txBody>
      </p:sp>
      <p:sp>
        <p:nvSpPr>
          <p:cNvPr id="40" name="cloud-6-3">
            <a:extLst>
              <a:ext uri="{FF2B5EF4-FFF2-40B4-BE49-F238E27FC236}">
                <a16:creationId xmlns:a16="http://schemas.microsoft.com/office/drawing/2014/main" id="{57DBF545-F234-4A75-89AE-37189F59EB4C}"/>
              </a:ext>
            </a:extLst>
          </p:cNvPr>
          <p:cNvSpPr>
            <a:spLocks noGrp="1"/>
          </p:cNvSpPr>
          <p:nvPr/>
        </p:nvSpPr>
        <p:spPr>
          <a:xfrm>
            <a:off x="8247695" y="4743450"/>
            <a:ext cx="167206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666" b="1">
                <a:solidFill>
                  <a:srgbClr val="815C3B"/>
                </a:solidFill>
              </a:defRPr>
            </a:pPr>
            <a:r>
              <a:rPr sz="2666" b="1">
                <a:solidFill>
                  <a:srgbClr val="815C3B"/>
                </a:solidFill>
              </a:rPr>
              <a:t>범죄예방</a:t>
            </a:r>
          </a:p>
        </p:txBody>
      </p:sp>
      <p:sp>
        <p:nvSpPr>
          <p:cNvPr id="41" name="cloud-6-4">
            <a:extLst>
              <a:ext uri="{FF2B5EF4-FFF2-40B4-BE49-F238E27FC236}">
                <a16:creationId xmlns:a16="http://schemas.microsoft.com/office/drawing/2014/main" id="{906786EE-3D0F-458F-BB06-542624667CAF}"/>
              </a:ext>
            </a:extLst>
          </p:cNvPr>
          <p:cNvSpPr>
            <a:spLocks noGrp="1"/>
          </p:cNvSpPr>
          <p:nvPr/>
        </p:nvSpPr>
        <p:spPr>
          <a:xfrm>
            <a:off x="10062630" y="4743450"/>
            <a:ext cx="92736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617" b="1">
                <a:solidFill>
                  <a:srgbClr val="6B4A8C"/>
                </a:solidFill>
              </a:defRPr>
            </a:pPr>
            <a:r>
              <a:rPr sz="2617" b="1">
                <a:solidFill>
                  <a:srgbClr val="6B4A8C"/>
                </a:solidFill>
              </a:rPr>
              <a:t>설치</a:t>
            </a:r>
          </a:p>
        </p:txBody>
      </p:sp>
      <p:sp>
        <p:nvSpPr>
          <p:cNvPr id="42" name="cloud-7-0">
            <a:extLst>
              <a:ext uri="{FF2B5EF4-FFF2-40B4-BE49-F238E27FC236}">
                <a16:creationId xmlns:a16="http://schemas.microsoft.com/office/drawing/2014/main" id="{C4A1CE20-6DA7-4608-8008-721577B78A41}"/>
              </a:ext>
            </a:extLst>
          </p:cNvPr>
          <p:cNvSpPr>
            <a:spLocks noGrp="1"/>
          </p:cNvSpPr>
          <p:nvPr/>
        </p:nvSpPr>
        <p:spPr>
          <a:xfrm>
            <a:off x="4360890" y="5286375"/>
            <a:ext cx="1067589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85" b="0">
                <a:solidFill>
                  <a:srgbClr val="18324A"/>
                </a:solidFill>
              </a:defRPr>
            </a:pPr>
            <a:r>
              <a:rPr sz="2085" b="0">
                <a:solidFill>
                  <a:srgbClr val="18324A"/>
                </a:solidFill>
              </a:rPr>
              <a:t>귀갓길</a:t>
            </a:r>
          </a:p>
        </p:txBody>
      </p:sp>
      <p:sp>
        <p:nvSpPr>
          <p:cNvPr id="43" name="cloud-7-1">
            <a:extLst>
              <a:ext uri="{FF2B5EF4-FFF2-40B4-BE49-F238E27FC236}">
                <a16:creationId xmlns:a16="http://schemas.microsoft.com/office/drawing/2014/main" id="{8B000253-21E2-4BFF-858A-2FEC5220D8F0}"/>
              </a:ext>
            </a:extLst>
          </p:cNvPr>
          <p:cNvSpPr>
            <a:spLocks noGrp="1"/>
          </p:cNvSpPr>
          <p:nvPr/>
        </p:nvSpPr>
        <p:spPr>
          <a:xfrm>
            <a:off x="5571354" y="5286375"/>
            <a:ext cx="774471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59" b="0">
                <a:solidFill>
                  <a:srgbClr val="52796F"/>
                </a:solidFill>
              </a:defRPr>
            </a:pPr>
            <a:r>
              <a:rPr sz="2059" b="0">
                <a:solidFill>
                  <a:srgbClr val="52796F"/>
                </a:solidFill>
              </a:rPr>
              <a:t>강화</a:t>
            </a:r>
          </a:p>
        </p:txBody>
      </p:sp>
      <p:sp>
        <p:nvSpPr>
          <p:cNvPr id="44" name="cloud-7-2">
            <a:extLst>
              <a:ext uri="{FF2B5EF4-FFF2-40B4-BE49-F238E27FC236}">
                <a16:creationId xmlns:a16="http://schemas.microsoft.com/office/drawing/2014/main" id="{C20865AF-231D-4D9F-9F75-D1C7D6FA0FFD}"/>
              </a:ext>
            </a:extLst>
          </p:cNvPr>
          <p:cNvSpPr>
            <a:spLocks noGrp="1"/>
          </p:cNvSpPr>
          <p:nvPr/>
        </p:nvSpPr>
        <p:spPr>
          <a:xfrm>
            <a:off x="6488700" y="5286375"/>
            <a:ext cx="77088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46" b="0">
                <a:solidFill>
                  <a:srgbClr val="D96835"/>
                </a:solidFill>
              </a:defRPr>
            </a:pPr>
            <a:r>
              <a:rPr sz="2046" b="0">
                <a:solidFill>
                  <a:srgbClr val="D96835"/>
                </a:solidFill>
              </a:rPr>
              <a:t>현장</a:t>
            </a:r>
          </a:p>
        </p:txBody>
      </p:sp>
      <p:sp>
        <p:nvSpPr>
          <p:cNvPr id="45" name="cloud-7-3">
            <a:extLst>
              <a:ext uri="{FF2B5EF4-FFF2-40B4-BE49-F238E27FC236}">
                <a16:creationId xmlns:a16="http://schemas.microsoft.com/office/drawing/2014/main" id="{C1FAE864-EAC6-4660-85D1-BA33EBE36A00}"/>
              </a:ext>
            </a:extLst>
          </p:cNvPr>
          <p:cNvSpPr>
            <a:spLocks noGrp="1"/>
          </p:cNvSpPr>
          <p:nvPr/>
        </p:nvSpPr>
        <p:spPr>
          <a:xfrm>
            <a:off x="7402460" y="5286375"/>
            <a:ext cx="1046136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33" b="0">
                <a:solidFill>
                  <a:srgbClr val="815C3B"/>
                </a:solidFill>
              </a:defRPr>
            </a:pPr>
            <a:r>
              <a:rPr sz="2033" b="0">
                <a:solidFill>
                  <a:srgbClr val="815C3B"/>
                </a:solidFill>
              </a:rPr>
              <a:t>태양광</a:t>
            </a:r>
          </a:p>
        </p:txBody>
      </p:sp>
      <p:sp>
        <p:nvSpPr>
          <p:cNvPr id="46" name="cloud-7-4">
            <a:extLst>
              <a:ext uri="{FF2B5EF4-FFF2-40B4-BE49-F238E27FC236}">
                <a16:creationId xmlns:a16="http://schemas.microsoft.com/office/drawing/2014/main" id="{4C6816C0-7271-4171-B23C-90B2C256CF26}"/>
              </a:ext>
            </a:extLst>
          </p:cNvPr>
          <p:cNvSpPr>
            <a:spLocks noGrp="1"/>
          </p:cNvSpPr>
          <p:nvPr/>
        </p:nvSpPr>
        <p:spPr>
          <a:xfrm>
            <a:off x="8591471" y="5286375"/>
            <a:ext cx="763639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0" b="0">
                <a:solidFill>
                  <a:srgbClr val="6B4A8C"/>
                </a:solidFill>
              </a:defRPr>
            </a:pPr>
            <a:r>
              <a:rPr sz="2020" b="0">
                <a:solidFill>
                  <a:srgbClr val="6B4A8C"/>
                </a:solidFill>
              </a:rPr>
              <a:t>늦은</a:t>
            </a:r>
          </a:p>
        </p:txBody>
      </p:sp>
      <p:sp>
        <p:nvSpPr>
          <p:cNvPr id="47" name="cloud-8-0">
            <a:extLst>
              <a:ext uri="{FF2B5EF4-FFF2-40B4-BE49-F238E27FC236}">
                <a16:creationId xmlns:a16="http://schemas.microsoft.com/office/drawing/2014/main" id="{5C4209FB-CAF9-4B25-91B4-9453883A6AA2}"/>
              </a:ext>
            </a:extLst>
          </p:cNvPr>
          <p:cNvSpPr>
            <a:spLocks noGrp="1"/>
          </p:cNvSpPr>
          <p:nvPr/>
        </p:nvSpPr>
        <p:spPr>
          <a:xfrm>
            <a:off x="4588141" y="5810250"/>
            <a:ext cx="101471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7" b="0">
                <a:solidFill>
                  <a:srgbClr val="18324A"/>
                </a:solidFill>
              </a:defRPr>
            </a:pPr>
            <a:r>
              <a:rPr sz="1957" b="0">
                <a:solidFill>
                  <a:srgbClr val="18324A"/>
                </a:solidFill>
              </a:rPr>
              <a:t>청소년</a:t>
            </a:r>
          </a:p>
        </p:txBody>
      </p:sp>
      <p:sp>
        <p:nvSpPr>
          <p:cNvPr id="48" name="cloud-8-1">
            <a:extLst>
              <a:ext uri="{FF2B5EF4-FFF2-40B4-BE49-F238E27FC236}">
                <a16:creationId xmlns:a16="http://schemas.microsoft.com/office/drawing/2014/main" id="{2548C6E9-B582-406A-A7F5-F7275E21C6D6}"/>
              </a:ext>
            </a:extLst>
          </p:cNvPr>
          <p:cNvSpPr>
            <a:spLocks noGrp="1"/>
          </p:cNvSpPr>
          <p:nvPr/>
        </p:nvSpPr>
        <p:spPr>
          <a:xfrm>
            <a:off x="5745731" y="5810250"/>
            <a:ext cx="74380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48" b="0">
                <a:solidFill>
                  <a:srgbClr val="52796F"/>
                </a:solidFill>
              </a:defRPr>
            </a:pPr>
            <a:r>
              <a:rPr sz="1948" b="0">
                <a:solidFill>
                  <a:srgbClr val="52796F"/>
                </a:solidFill>
              </a:rPr>
              <a:t>보행</a:t>
            </a:r>
          </a:p>
        </p:txBody>
      </p:sp>
      <p:sp>
        <p:nvSpPr>
          <p:cNvPr id="49" name="cloud-8-2">
            <a:extLst>
              <a:ext uri="{FF2B5EF4-FFF2-40B4-BE49-F238E27FC236}">
                <a16:creationId xmlns:a16="http://schemas.microsoft.com/office/drawing/2014/main" id="{3E0995C1-94B5-474A-8C2A-228B39CCF077}"/>
              </a:ext>
            </a:extLst>
          </p:cNvPr>
          <p:cNvSpPr>
            <a:spLocks noGrp="1"/>
          </p:cNvSpPr>
          <p:nvPr/>
        </p:nvSpPr>
        <p:spPr>
          <a:xfrm>
            <a:off x="6632410" y="5810250"/>
            <a:ext cx="741266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38" b="0">
                <a:solidFill>
                  <a:srgbClr val="D96835"/>
                </a:solidFill>
              </a:defRPr>
            </a:pPr>
            <a:r>
              <a:rPr sz="1938" b="0">
                <a:solidFill>
                  <a:srgbClr val="D96835"/>
                </a:solidFill>
              </a:rPr>
              <a:t>개선</a:t>
            </a:r>
          </a:p>
        </p:txBody>
      </p:sp>
      <p:sp>
        <p:nvSpPr>
          <p:cNvPr id="50" name="cloud-8-3">
            <a:extLst>
              <a:ext uri="{FF2B5EF4-FFF2-40B4-BE49-F238E27FC236}">
                <a16:creationId xmlns:a16="http://schemas.microsoft.com/office/drawing/2014/main" id="{7E0AF4B1-6404-4D81-84CE-CA3CAAAA91FC}"/>
              </a:ext>
            </a:extLst>
          </p:cNvPr>
          <p:cNvSpPr>
            <a:spLocks noGrp="1"/>
          </p:cNvSpPr>
          <p:nvPr/>
        </p:nvSpPr>
        <p:spPr>
          <a:xfrm>
            <a:off x="7516551" y="5810250"/>
            <a:ext cx="734862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15" b="0">
                <a:solidFill>
                  <a:srgbClr val="815C3B"/>
                </a:solidFill>
              </a:defRPr>
            </a:pPr>
            <a:r>
              <a:rPr sz="1915" b="0">
                <a:solidFill>
                  <a:srgbClr val="815C3B"/>
                </a:solidFill>
              </a:rPr>
              <a:t>사고</a:t>
            </a:r>
          </a:p>
        </p:txBody>
      </p:sp>
      <p:sp>
        <p:nvSpPr>
          <p:cNvPr id="51" name="cloud-8-4">
            <a:extLst>
              <a:ext uri="{FF2B5EF4-FFF2-40B4-BE49-F238E27FC236}">
                <a16:creationId xmlns:a16="http://schemas.microsoft.com/office/drawing/2014/main" id="{88E38375-26BC-4356-8B13-849C63329CA8}"/>
              </a:ext>
            </a:extLst>
          </p:cNvPr>
          <p:cNvSpPr>
            <a:spLocks noGrp="1"/>
          </p:cNvSpPr>
          <p:nvPr/>
        </p:nvSpPr>
        <p:spPr>
          <a:xfrm>
            <a:off x="8394288" y="5810250"/>
            <a:ext cx="733571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10" b="0">
                <a:solidFill>
                  <a:srgbClr val="6B4A8C"/>
                </a:solidFill>
              </a:defRPr>
            </a:pPr>
            <a:r>
              <a:rPr sz="1910" b="0">
                <a:solidFill>
                  <a:srgbClr val="6B4A8C"/>
                </a:solidFill>
              </a:rPr>
              <a:t>조성</a:t>
            </a:r>
          </a:p>
        </p:txBody>
      </p:sp>
      <p:sp>
        <p:nvSpPr>
          <p:cNvPr id="52" name="cloud-9-0">
            <a:extLst>
              <a:ext uri="{FF2B5EF4-FFF2-40B4-BE49-F238E27FC236}">
                <a16:creationId xmlns:a16="http://schemas.microsoft.com/office/drawing/2014/main" id="{81797C40-F98A-48DC-A206-8E8D81DDD978}"/>
              </a:ext>
            </a:extLst>
          </p:cNvPr>
          <p:cNvSpPr>
            <a:spLocks noGrp="1"/>
          </p:cNvSpPr>
          <p:nvPr/>
        </p:nvSpPr>
        <p:spPr>
          <a:xfrm>
            <a:off x="4480851" y="6286500"/>
            <a:ext cx="733571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10" b="0">
                <a:solidFill>
                  <a:srgbClr val="18324A"/>
                </a:solidFill>
              </a:defRPr>
            </a:pPr>
            <a:r>
              <a:rPr sz="1910" b="0">
                <a:solidFill>
                  <a:srgbClr val="18324A"/>
                </a:solidFill>
              </a:rPr>
              <a:t>차량</a:t>
            </a:r>
          </a:p>
        </p:txBody>
      </p:sp>
      <p:sp>
        <p:nvSpPr>
          <p:cNvPr id="53" name="cloud-9-1">
            <a:extLst>
              <a:ext uri="{FF2B5EF4-FFF2-40B4-BE49-F238E27FC236}">
                <a16:creationId xmlns:a16="http://schemas.microsoft.com/office/drawing/2014/main" id="{19CD7282-DB12-489E-82F4-EDCEB9207FB4}"/>
              </a:ext>
            </a:extLst>
          </p:cNvPr>
          <p:cNvSpPr>
            <a:spLocks noGrp="1"/>
          </p:cNvSpPr>
          <p:nvPr/>
        </p:nvSpPr>
        <p:spPr>
          <a:xfrm>
            <a:off x="5357296" y="6286500"/>
            <a:ext cx="993638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06" b="0">
                <a:solidFill>
                  <a:srgbClr val="52796F"/>
                </a:solidFill>
              </a:defRPr>
            </a:pPr>
            <a:r>
              <a:rPr sz="1906" b="0">
                <a:solidFill>
                  <a:srgbClr val="52796F"/>
                </a:solidFill>
              </a:rPr>
              <a:t>스마트</a:t>
            </a:r>
          </a:p>
        </p:txBody>
      </p:sp>
      <p:sp>
        <p:nvSpPr>
          <p:cNvPr id="54" name="cloud-9-2">
            <a:extLst>
              <a:ext uri="{FF2B5EF4-FFF2-40B4-BE49-F238E27FC236}">
                <a16:creationId xmlns:a16="http://schemas.microsoft.com/office/drawing/2014/main" id="{D10F7473-3B74-460D-95BE-CC03FD39A2C4}"/>
              </a:ext>
            </a:extLst>
          </p:cNvPr>
          <p:cNvSpPr>
            <a:spLocks noGrp="1"/>
          </p:cNvSpPr>
          <p:nvPr/>
        </p:nvSpPr>
        <p:spPr>
          <a:xfrm>
            <a:off x="6493809" y="6286500"/>
            <a:ext cx="993638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06" b="0">
                <a:solidFill>
                  <a:srgbClr val="D96835"/>
                </a:solidFill>
              </a:defRPr>
            </a:pPr>
            <a:r>
              <a:rPr sz="1906" b="0">
                <a:solidFill>
                  <a:srgbClr val="D96835"/>
                </a:solidFill>
              </a:rPr>
              <a:t>셉테드</a:t>
            </a:r>
          </a:p>
        </p:txBody>
      </p:sp>
      <p:sp>
        <p:nvSpPr>
          <p:cNvPr id="55" name="cloud-9-3">
            <a:extLst>
              <a:ext uri="{FF2B5EF4-FFF2-40B4-BE49-F238E27FC236}">
                <a16:creationId xmlns:a16="http://schemas.microsoft.com/office/drawing/2014/main" id="{1D6A6FBB-D866-4BE7-9EF0-CE5DC9B175B3}"/>
              </a:ext>
            </a:extLst>
          </p:cNvPr>
          <p:cNvSpPr>
            <a:spLocks noGrp="1"/>
          </p:cNvSpPr>
          <p:nvPr/>
        </p:nvSpPr>
        <p:spPr>
          <a:xfrm>
            <a:off x="7630322" y="6286500"/>
            <a:ext cx="730976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01" b="0">
                <a:solidFill>
                  <a:srgbClr val="815C3B"/>
                </a:solidFill>
              </a:defRPr>
            </a:pPr>
            <a:r>
              <a:rPr sz="1901" b="0">
                <a:solidFill>
                  <a:srgbClr val="815C3B"/>
                </a:solidFill>
              </a:rPr>
              <a:t>동행</a:t>
            </a:r>
          </a:p>
        </p:txBody>
      </p:sp>
      <p:sp>
        <p:nvSpPr>
          <p:cNvPr id="56" name="cloud-9-4">
            <a:extLst>
              <a:ext uri="{FF2B5EF4-FFF2-40B4-BE49-F238E27FC236}">
                <a16:creationId xmlns:a16="http://schemas.microsoft.com/office/drawing/2014/main" id="{740193F5-BA74-4171-8941-A54BCBA2762A}"/>
              </a:ext>
            </a:extLst>
          </p:cNvPr>
          <p:cNvSpPr>
            <a:spLocks noGrp="1"/>
          </p:cNvSpPr>
          <p:nvPr/>
        </p:nvSpPr>
        <p:spPr>
          <a:xfrm>
            <a:off x="8504173" y="6286500"/>
            <a:ext cx="730976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01" b="0">
                <a:solidFill>
                  <a:srgbClr val="6B4A8C"/>
                </a:solidFill>
              </a:defRPr>
            </a:pPr>
            <a:r>
              <a:rPr sz="1901" b="0">
                <a:solidFill>
                  <a:srgbClr val="6B4A8C"/>
                </a:solidFill>
              </a:rPr>
              <a:t>학생</a:t>
            </a:r>
          </a:p>
        </p:txBody>
      </p:sp>
      <p:sp>
        <p:nvSpPr>
          <p:cNvPr id="57" name="source">
            <a:extLst>
              <a:ext uri="{FF2B5EF4-FFF2-40B4-BE49-F238E27FC236}">
                <a16:creationId xmlns:a16="http://schemas.microsoft.com/office/drawing/2014/main" id="{1079B7EB-71DC-4202-BDB1-842A00F5FDDC}"/>
              </a:ext>
            </a:extLst>
          </p:cNvPr>
          <p:cNvSpPr>
            <a:spLocks noGrp="1"/>
          </p:cNvSpPr>
          <p:nvPr/>
        </p:nvSpPr>
        <p:spPr>
          <a:xfrm>
            <a:off x="590550" y="7334250"/>
            <a:ext cx="12525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Source: 네이버 뉴스·블로그 검색 API 2,257건 | 검색어 편향을 줄이기 위해 일반어·중복어 제거 후 빈도 집계</a:t>
            </a:r>
          </a:p>
        </p:txBody>
      </p:sp>
    </p:spTree>
    <p:extLst>
      <p:ext uri="{BB962C8B-B14F-4D97-AF65-F5344CB8AC3E}">
        <p14:creationId xmlns:p14="http://schemas.microsoft.com/office/powerpoint/2010/main" val="102753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ection">
            <a:extLst>
              <a:ext uri="{FF2B5EF4-FFF2-40B4-BE49-F238E27FC236}">
                <a16:creationId xmlns:a16="http://schemas.microsoft.com/office/drawing/2014/main" id="{3CACBFE7-BCB2-4C97-8931-15F407089844}"/>
              </a:ext>
            </a:extLst>
          </p:cNvPr>
          <p:cNvSpPr>
            <a:spLocks noGrp="1"/>
          </p:cNvSpPr>
          <p:nvPr/>
        </p:nvSpPr>
        <p:spPr>
          <a:xfrm>
            <a:off x="523875" y="419100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D96835"/>
                </a:solidFill>
              </a:defRPr>
            </a:pPr>
            <a:r>
              <a:rPr sz="2100" b="1">
                <a:solidFill>
                  <a:srgbClr val="D96835"/>
                </a:solidFill>
              </a:rPr>
              <a:t>CX.페인포인트</a:t>
            </a:r>
          </a:p>
        </p:txBody>
      </p:sp>
      <p:sp>
        <p:nvSpPr>
          <p:cNvPr id="2" name="header-rule">
            <a:extLst>
              <a:ext uri="{FF2B5EF4-FFF2-40B4-BE49-F238E27FC236}">
                <a16:creationId xmlns:a16="http://schemas.microsoft.com/office/drawing/2014/main" id="{48C700A9-95B8-4580-BB83-3A6AE244CAD5}"/>
              </a:ext>
            </a:extLst>
          </p:cNvPr>
          <p:cNvSpPr>
            <a:spLocks noGrp="1"/>
          </p:cNvSpPr>
          <p:nvPr/>
        </p:nvSpPr>
        <p:spPr>
          <a:xfrm>
            <a:off x="3143250" y="628650"/>
            <a:ext cx="4000500" cy="19050"/>
          </a:xfrm>
          <a:prstGeom prst="rect">
            <a:avLst/>
          </a:prstGeom>
          <a:solidFill>
            <a:srgbClr val="565B60"/>
          </a:solidFill>
          <a:ln w="0">
            <a:solidFill>
              <a:srgbClr val="565B60"/>
            </a:solidFill>
            <a:prstDash val="solid"/>
          </a:ln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5B04933F-4BE5-4438-B2C4-BC4CCD7FDECB}"/>
              </a:ext>
            </a:extLst>
          </p:cNvPr>
          <p:cNvSpPr>
            <a:spLocks noGrp="1"/>
          </p:cNvSpPr>
          <p:nvPr/>
        </p:nvSpPr>
        <p:spPr>
          <a:xfrm>
            <a:off x="7334250" y="342900"/>
            <a:ext cx="5857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550" b="1">
                <a:solidFill>
                  <a:srgbClr val="171C22"/>
                </a:solidFill>
              </a:defRPr>
            </a:pPr>
            <a:r>
              <a:rPr sz="2550" b="1">
                <a:solidFill>
                  <a:srgbClr val="171C22"/>
                </a:solidFill>
              </a:rPr>
              <a:t>반복된 단어는 세 가지 고객 문제를 가리켰습니다</a:t>
            </a:r>
          </a:p>
        </p:txBody>
      </p:sp>
      <p:sp>
        <p:nvSpPr>
          <p:cNvPr id="4" name="pain-card-0-shadow">
            <a:extLst>
              <a:ext uri="{FF2B5EF4-FFF2-40B4-BE49-F238E27FC236}">
                <a16:creationId xmlns:a16="http://schemas.microsoft.com/office/drawing/2014/main" id="{56C68495-6D00-4824-B962-69363D9998D1}"/>
              </a:ext>
            </a:extLst>
          </p:cNvPr>
          <p:cNvSpPr>
            <a:spLocks noGrp="1"/>
          </p:cNvSpPr>
          <p:nvPr/>
        </p:nvSpPr>
        <p:spPr>
          <a:xfrm>
            <a:off x="752475" y="1809750"/>
            <a:ext cx="3714750" cy="4095750"/>
          </a:xfrm>
          <a:prstGeom prst="roundRect">
            <a:avLst>
              <a:gd name="adj" fmla="val 4103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5" name="pain-card-0">
            <a:extLst>
              <a:ext uri="{FF2B5EF4-FFF2-40B4-BE49-F238E27FC236}">
                <a16:creationId xmlns:a16="http://schemas.microsoft.com/office/drawing/2014/main" id="{E9BD17D4-A139-4C03-B1EB-A463DDFFCC99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3714750" cy="409575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6" name="pain-num-0">
            <a:extLst>
              <a:ext uri="{FF2B5EF4-FFF2-40B4-BE49-F238E27FC236}">
                <a16:creationId xmlns:a16="http://schemas.microsoft.com/office/drawing/2014/main" id="{3AE273E6-3122-4945-81F7-8953B315179F}"/>
              </a:ext>
            </a:extLst>
          </p:cNvPr>
          <p:cNvSpPr>
            <a:spLocks noGrp="1"/>
          </p:cNvSpPr>
          <p:nvPr/>
        </p:nvSpPr>
        <p:spPr>
          <a:xfrm>
            <a:off x="952500" y="2047875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01</a:t>
            </a:r>
          </a:p>
        </p:txBody>
      </p:sp>
      <p:sp>
        <p:nvSpPr>
          <p:cNvPr id="7" name="pain-title-0">
            <a:extLst>
              <a:ext uri="{FF2B5EF4-FFF2-40B4-BE49-F238E27FC236}">
                <a16:creationId xmlns:a16="http://schemas.microsoft.com/office/drawing/2014/main" id="{B543319A-7AAD-4F39-9DDD-D929F72EF286}"/>
              </a:ext>
            </a:extLst>
          </p:cNvPr>
          <p:cNvSpPr>
            <a:spLocks noGrp="1"/>
          </p:cNvSpPr>
          <p:nvPr/>
        </p:nvSpPr>
        <p:spPr>
          <a:xfrm>
            <a:off x="1000125" y="2714625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171C22"/>
                </a:solidFill>
              </a:defRPr>
            </a:pPr>
            <a:r>
              <a:rPr sz="2325" b="1">
                <a:solidFill>
                  <a:srgbClr val="171C22"/>
                </a:solidFill>
              </a:rPr>
              <a:t>안전시설 공백</a:t>
            </a:r>
          </a:p>
        </p:txBody>
      </p:sp>
      <p:sp>
        <p:nvSpPr>
          <p:cNvPr id="8" name="pain-desc-0">
            <a:extLst>
              <a:ext uri="{FF2B5EF4-FFF2-40B4-BE49-F238E27FC236}">
                <a16:creationId xmlns:a16="http://schemas.microsoft.com/office/drawing/2014/main" id="{5B9982EB-8026-44B4-857C-500F513A38F2}"/>
              </a:ext>
            </a:extLst>
          </p:cNvPr>
          <p:cNvSpPr>
            <a:spLocks noGrp="1"/>
          </p:cNvSpPr>
          <p:nvPr/>
        </p:nvSpPr>
        <p:spPr>
          <a:xfrm>
            <a:off x="1000125" y="3714750"/>
            <a:ext cx="304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CCTV와 가로등이 보이지 않는 구간에서</a:t>
            </a:r>
          </a:p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안전을 판단할 근거가 부족합니다.</a:t>
            </a:r>
          </a:p>
        </p:txBody>
      </p:sp>
      <p:sp>
        <p:nvSpPr>
          <p:cNvPr id="9" name="pain-evidence-0">
            <a:extLst>
              <a:ext uri="{FF2B5EF4-FFF2-40B4-BE49-F238E27FC236}">
                <a16:creationId xmlns:a16="http://schemas.microsoft.com/office/drawing/2014/main" id="{EE50E1FF-F7AD-4A8A-9CB8-4612CF4A9B56}"/>
              </a:ext>
            </a:extLst>
          </p:cNvPr>
          <p:cNvSpPr>
            <a:spLocks noGrp="1"/>
          </p:cNvSpPr>
          <p:nvPr/>
        </p:nvSpPr>
        <p:spPr>
          <a:xfrm>
            <a:off x="1000125" y="4953000"/>
            <a:ext cx="3048000" cy="514350"/>
          </a:xfrm>
          <a:prstGeom prst="roundRect">
            <a:avLst>
              <a:gd name="adj" fmla="val 22222"/>
            </a:avLst>
          </a:prstGeom>
          <a:solidFill>
            <a:srgbClr val="EEF2F0"/>
          </a:solidFill>
          <a:ln w="13335">
            <a:solidFill>
              <a:srgbClr val="C6D2D0"/>
            </a:solidFill>
            <a:prstDash val="solid"/>
          </a:ln>
        </p:spPr>
      </p:sp>
      <p:sp>
        <p:nvSpPr>
          <p:cNvPr id="10" name="pain-evidence-text-0">
            <a:extLst>
              <a:ext uri="{FF2B5EF4-FFF2-40B4-BE49-F238E27FC236}">
                <a16:creationId xmlns:a16="http://schemas.microsoft.com/office/drawing/2014/main" id="{107312EF-9215-4B92-B502-C033388DD1B5}"/>
              </a:ext>
            </a:extLst>
          </p:cNvPr>
          <p:cNvSpPr>
            <a:spLocks noGrp="1"/>
          </p:cNvSpPr>
          <p:nvPr/>
        </p:nvSpPr>
        <p:spPr>
          <a:xfrm>
            <a:off x="1095375" y="5105400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8324A"/>
                </a:solidFill>
              </a:defRPr>
            </a:pPr>
            <a:r>
              <a:rPr sz="1125" b="1">
                <a:solidFill>
                  <a:srgbClr val="18324A"/>
                </a:solidFill>
              </a:rPr>
              <a:t>CCTV 588 · 가로등 399 · 사각지대 387</a:t>
            </a:r>
          </a:p>
        </p:txBody>
      </p:sp>
      <p:sp>
        <p:nvSpPr>
          <p:cNvPr id="11" name="pain-card-1-shadow">
            <a:extLst>
              <a:ext uri="{FF2B5EF4-FFF2-40B4-BE49-F238E27FC236}">
                <a16:creationId xmlns:a16="http://schemas.microsoft.com/office/drawing/2014/main" id="{9020622E-5AB9-4CE3-923E-9AE87B2D0CCB}"/>
              </a:ext>
            </a:extLst>
          </p:cNvPr>
          <p:cNvSpPr>
            <a:spLocks noGrp="1"/>
          </p:cNvSpPr>
          <p:nvPr/>
        </p:nvSpPr>
        <p:spPr>
          <a:xfrm>
            <a:off x="5038725" y="1809750"/>
            <a:ext cx="3714750" cy="4095750"/>
          </a:xfrm>
          <a:prstGeom prst="roundRect">
            <a:avLst>
              <a:gd name="adj" fmla="val 4103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2" name="pain-card-1">
            <a:extLst>
              <a:ext uri="{FF2B5EF4-FFF2-40B4-BE49-F238E27FC236}">
                <a16:creationId xmlns:a16="http://schemas.microsoft.com/office/drawing/2014/main" id="{ECFDD179-26D0-472E-9C19-F3C8FC8C7B8C}"/>
              </a:ext>
            </a:extLst>
          </p:cNvPr>
          <p:cNvSpPr>
            <a:spLocks noGrp="1"/>
          </p:cNvSpPr>
          <p:nvPr/>
        </p:nvSpPr>
        <p:spPr>
          <a:xfrm>
            <a:off x="4953000" y="1714500"/>
            <a:ext cx="3714750" cy="409575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3" name="pain-num-1">
            <a:extLst>
              <a:ext uri="{FF2B5EF4-FFF2-40B4-BE49-F238E27FC236}">
                <a16:creationId xmlns:a16="http://schemas.microsoft.com/office/drawing/2014/main" id="{9ECFE1AB-5F18-4010-93AF-A89B005306AA}"/>
              </a:ext>
            </a:extLst>
          </p:cNvPr>
          <p:cNvSpPr>
            <a:spLocks noGrp="1"/>
          </p:cNvSpPr>
          <p:nvPr/>
        </p:nvSpPr>
        <p:spPr>
          <a:xfrm>
            <a:off x="5238750" y="2047875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D96835"/>
                </a:solidFill>
              </a:defRPr>
            </a:pPr>
            <a:r>
              <a:rPr sz="1650" b="1">
                <a:solidFill>
                  <a:srgbClr val="D96835"/>
                </a:solidFill>
              </a:rPr>
              <a:t>02</a:t>
            </a:r>
          </a:p>
        </p:txBody>
      </p:sp>
      <p:sp>
        <p:nvSpPr>
          <p:cNvPr id="14" name="pain-title-1">
            <a:extLst>
              <a:ext uri="{FF2B5EF4-FFF2-40B4-BE49-F238E27FC236}">
                <a16:creationId xmlns:a16="http://schemas.microsoft.com/office/drawing/2014/main" id="{3828876B-50CB-482A-9040-5DAD7A42BD25}"/>
              </a:ext>
            </a:extLst>
          </p:cNvPr>
          <p:cNvSpPr>
            <a:spLocks noGrp="1"/>
          </p:cNvSpPr>
          <p:nvPr/>
        </p:nvSpPr>
        <p:spPr>
          <a:xfrm>
            <a:off x="5286375" y="2714625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171C22"/>
                </a:solidFill>
              </a:defRPr>
            </a:pPr>
            <a:r>
              <a:rPr sz="2325" b="1">
                <a:solidFill>
                  <a:srgbClr val="171C22"/>
                </a:solidFill>
              </a:rPr>
              <a:t>어두운 이동환경</a:t>
            </a:r>
          </a:p>
        </p:txBody>
      </p:sp>
      <p:sp>
        <p:nvSpPr>
          <p:cNvPr id="15" name="pain-desc-1">
            <a:extLst>
              <a:ext uri="{FF2B5EF4-FFF2-40B4-BE49-F238E27FC236}">
                <a16:creationId xmlns:a16="http://schemas.microsoft.com/office/drawing/2014/main" id="{D60D294D-F45B-4B29-AB0B-64FEDEF9E71B}"/>
              </a:ext>
            </a:extLst>
          </p:cNvPr>
          <p:cNvSpPr>
            <a:spLocks noGrp="1"/>
          </p:cNvSpPr>
          <p:nvPr/>
        </p:nvSpPr>
        <p:spPr>
          <a:xfrm>
            <a:off x="5286375" y="3714750"/>
            <a:ext cx="304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밤길과 골목길은 반복적으로</a:t>
            </a:r>
          </a:p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위험·불안의 상황과 함께 언급됩니다.</a:t>
            </a:r>
          </a:p>
        </p:txBody>
      </p:sp>
      <p:sp>
        <p:nvSpPr>
          <p:cNvPr id="16" name="pain-evidence-1">
            <a:extLst>
              <a:ext uri="{FF2B5EF4-FFF2-40B4-BE49-F238E27FC236}">
                <a16:creationId xmlns:a16="http://schemas.microsoft.com/office/drawing/2014/main" id="{79636A8D-250D-47DE-8649-CE034AEDB8DF}"/>
              </a:ext>
            </a:extLst>
          </p:cNvPr>
          <p:cNvSpPr>
            <a:spLocks noGrp="1"/>
          </p:cNvSpPr>
          <p:nvPr/>
        </p:nvSpPr>
        <p:spPr>
          <a:xfrm>
            <a:off x="5286375" y="4953000"/>
            <a:ext cx="3048000" cy="514350"/>
          </a:xfrm>
          <a:prstGeom prst="roundRect">
            <a:avLst>
              <a:gd name="adj" fmla="val 22222"/>
            </a:avLst>
          </a:prstGeom>
          <a:solidFill>
            <a:srgbClr val="EEF2F0"/>
          </a:solidFill>
          <a:ln w="13335">
            <a:solidFill>
              <a:srgbClr val="C6D2D0"/>
            </a:solidFill>
            <a:prstDash val="solid"/>
          </a:ln>
        </p:spPr>
      </p:sp>
      <p:sp>
        <p:nvSpPr>
          <p:cNvPr id="17" name="pain-evidence-text-1">
            <a:extLst>
              <a:ext uri="{FF2B5EF4-FFF2-40B4-BE49-F238E27FC236}">
                <a16:creationId xmlns:a16="http://schemas.microsoft.com/office/drawing/2014/main" id="{5E7383C3-1C2E-4864-9972-2A9E36290764}"/>
              </a:ext>
            </a:extLst>
          </p:cNvPr>
          <p:cNvSpPr>
            <a:spLocks noGrp="1"/>
          </p:cNvSpPr>
          <p:nvPr/>
        </p:nvSpPr>
        <p:spPr>
          <a:xfrm>
            <a:off x="5381625" y="5105400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D96835"/>
                </a:solidFill>
              </a:defRPr>
            </a:pPr>
            <a:r>
              <a:rPr sz="1125" b="1">
                <a:solidFill>
                  <a:srgbClr val="D96835"/>
                </a:solidFill>
              </a:rPr>
              <a:t>밤길 393 · 골목길 377 · 어두운 337</a:t>
            </a:r>
          </a:p>
        </p:txBody>
      </p:sp>
      <p:sp>
        <p:nvSpPr>
          <p:cNvPr id="18" name="pain-card-2-shadow">
            <a:extLst>
              <a:ext uri="{FF2B5EF4-FFF2-40B4-BE49-F238E27FC236}">
                <a16:creationId xmlns:a16="http://schemas.microsoft.com/office/drawing/2014/main" id="{911B0769-FBAE-494A-BB33-8E9DB388AE26}"/>
              </a:ext>
            </a:extLst>
          </p:cNvPr>
          <p:cNvSpPr>
            <a:spLocks noGrp="1"/>
          </p:cNvSpPr>
          <p:nvPr/>
        </p:nvSpPr>
        <p:spPr>
          <a:xfrm>
            <a:off x="9324975" y="1809750"/>
            <a:ext cx="3714750" cy="4095750"/>
          </a:xfrm>
          <a:prstGeom prst="roundRect">
            <a:avLst>
              <a:gd name="adj" fmla="val 4103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9" name="pain-card-2">
            <a:extLst>
              <a:ext uri="{FF2B5EF4-FFF2-40B4-BE49-F238E27FC236}">
                <a16:creationId xmlns:a16="http://schemas.microsoft.com/office/drawing/2014/main" id="{0E27FADB-53DA-479C-9CAB-6BC4B7C3D216}"/>
              </a:ext>
            </a:extLst>
          </p:cNvPr>
          <p:cNvSpPr>
            <a:spLocks noGrp="1"/>
          </p:cNvSpPr>
          <p:nvPr/>
        </p:nvSpPr>
        <p:spPr>
          <a:xfrm>
            <a:off x="9239250" y="1714500"/>
            <a:ext cx="3714750" cy="409575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20" name="pain-num-2">
            <a:extLst>
              <a:ext uri="{FF2B5EF4-FFF2-40B4-BE49-F238E27FC236}">
                <a16:creationId xmlns:a16="http://schemas.microsoft.com/office/drawing/2014/main" id="{33DB22C6-B0BC-4409-B234-84DC7A6CFDB5}"/>
              </a:ext>
            </a:extLst>
          </p:cNvPr>
          <p:cNvSpPr>
            <a:spLocks noGrp="1"/>
          </p:cNvSpPr>
          <p:nvPr/>
        </p:nvSpPr>
        <p:spPr>
          <a:xfrm>
            <a:off x="9525000" y="2047875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52796F"/>
                </a:solidFill>
              </a:defRPr>
            </a:pPr>
            <a:r>
              <a:rPr sz="1650" b="1">
                <a:solidFill>
                  <a:srgbClr val="52796F"/>
                </a:solidFill>
              </a:rPr>
              <a:t>03</a:t>
            </a:r>
          </a:p>
        </p:txBody>
      </p:sp>
      <p:sp>
        <p:nvSpPr>
          <p:cNvPr id="21" name="pain-title-2">
            <a:extLst>
              <a:ext uri="{FF2B5EF4-FFF2-40B4-BE49-F238E27FC236}">
                <a16:creationId xmlns:a16="http://schemas.microsoft.com/office/drawing/2014/main" id="{4D2835F7-2FBD-444A-98E2-FDD076DE9CC5}"/>
              </a:ext>
            </a:extLst>
          </p:cNvPr>
          <p:cNvSpPr>
            <a:spLocks noGrp="1"/>
          </p:cNvSpPr>
          <p:nvPr/>
        </p:nvSpPr>
        <p:spPr>
          <a:xfrm>
            <a:off x="9572625" y="2714625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171C22"/>
                </a:solidFill>
              </a:defRPr>
            </a:pPr>
            <a:r>
              <a:rPr sz="2325" b="1">
                <a:solidFill>
                  <a:srgbClr val="171C22"/>
                </a:solidFill>
              </a:rPr>
              <a:t>경로 판단 불안</a:t>
            </a:r>
          </a:p>
        </p:txBody>
      </p:sp>
      <p:sp>
        <p:nvSpPr>
          <p:cNvPr id="22" name="pain-desc-2">
            <a:extLst>
              <a:ext uri="{FF2B5EF4-FFF2-40B4-BE49-F238E27FC236}">
                <a16:creationId xmlns:a16="http://schemas.microsoft.com/office/drawing/2014/main" id="{2C61B1D9-2547-47B7-9747-1E162226FF74}"/>
              </a:ext>
            </a:extLst>
          </p:cNvPr>
          <p:cNvSpPr>
            <a:spLocks noGrp="1"/>
          </p:cNvSpPr>
          <p:nvPr/>
        </p:nvSpPr>
        <p:spPr>
          <a:xfrm>
            <a:off x="9572625" y="3714750"/>
            <a:ext cx="304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목적지까지 가는 길은 보여도</a:t>
            </a:r>
          </a:p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어느 길이 더 안심되는지는 알기 어렵습니다.</a:t>
            </a:r>
          </a:p>
        </p:txBody>
      </p:sp>
      <p:sp>
        <p:nvSpPr>
          <p:cNvPr id="23" name="pain-evidence-2">
            <a:extLst>
              <a:ext uri="{FF2B5EF4-FFF2-40B4-BE49-F238E27FC236}">
                <a16:creationId xmlns:a16="http://schemas.microsoft.com/office/drawing/2014/main" id="{A81E6E85-4637-4899-AA63-65B2B4113FAD}"/>
              </a:ext>
            </a:extLst>
          </p:cNvPr>
          <p:cNvSpPr>
            <a:spLocks noGrp="1"/>
          </p:cNvSpPr>
          <p:nvPr/>
        </p:nvSpPr>
        <p:spPr>
          <a:xfrm>
            <a:off x="9572625" y="4953000"/>
            <a:ext cx="3048000" cy="514350"/>
          </a:xfrm>
          <a:prstGeom prst="roundRect">
            <a:avLst>
              <a:gd name="adj" fmla="val 22222"/>
            </a:avLst>
          </a:prstGeom>
          <a:solidFill>
            <a:srgbClr val="EEF2F0"/>
          </a:solidFill>
          <a:ln w="13335">
            <a:solidFill>
              <a:srgbClr val="C6D2D0"/>
            </a:solidFill>
            <a:prstDash val="solid"/>
          </a:ln>
        </p:spPr>
      </p:sp>
      <p:sp>
        <p:nvSpPr>
          <p:cNvPr id="24" name="pain-evidence-text-2">
            <a:extLst>
              <a:ext uri="{FF2B5EF4-FFF2-40B4-BE49-F238E27FC236}">
                <a16:creationId xmlns:a16="http://schemas.microsoft.com/office/drawing/2014/main" id="{FE344E61-EA7C-480A-91AD-1654AF208C5D}"/>
              </a:ext>
            </a:extLst>
          </p:cNvPr>
          <p:cNvSpPr>
            <a:spLocks noGrp="1"/>
          </p:cNvSpPr>
          <p:nvPr/>
        </p:nvSpPr>
        <p:spPr>
          <a:xfrm>
            <a:off x="9667875" y="5105400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52796F"/>
                </a:solidFill>
              </a:defRPr>
            </a:pPr>
            <a:r>
              <a:rPr sz="1125" b="1">
                <a:solidFill>
                  <a:srgbClr val="52796F"/>
                </a:solidFill>
              </a:rPr>
              <a:t>안심 533 · 치안 430 · 경로 213</a:t>
            </a:r>
          </a:p>
        </p:txBody>
      </p:sp>
      <p:sp>
        <p:nvSpPr>
          <p:cNvPr id="25" name="pain-conclusion">
            <a:extLst>
              <a:ext uri="{FF2B5EF4-FFF2-40B4-BE49-F238E27FC236}">
                <a16:creationId xmlns:a16="http://schemas.microsoft.com/office/drawing/2014/main" id="{AE5BCDA0-35BF-4968-AECC-887F307A7DCB}"/>
              </a:ext>
            </a:extLst>
          </p:cNvPr>
          <p:cNvSpPr>
            <a:spLocks noGrp="1"/>
          </p:cNvSpPr>
          <p:nvPr/>
        </p:nvSpPr>
        <p:spPr>
          <a:xfrm>
            <a:off x="1571625" y="6429375"/>
            <a:ext cx="1057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8324A"/>
                </a:solidFill>
              </a:defRPr>
            </a:pPr>
            <a:r>
              <a:rPr sz="1800" b="1">
                <a:solidFill>
                  <a:srgbClr val="18324A"/>
                </a:solidFill>
              </a:rPr>
              <a:t>핵심 문제는 ‘범죄 정보 부족’보다 ‘지금 가는 길을 판단할 근거 부족’에 가깝습니다.</a:t>
            </a:r>
          </a:p>
        </p:txBody>
      </p:sp>
      <p:sp>
        <p:nvSpPr>
          <p:cNvPr id="26" name="source">
            <a:extLst>
              <a:ext uri="{FF2B5EF4-FFF2-40B4-BE49-F238E27FC236}">
                <a16:creationId xmlns:a16="http://schemas.microsoft.com/office/drawing/2014/main" id="{FA92AECC-0A5B-4C6E-BCA1-2A5752FB51BE}"/>
              </a:ext>
            </a:extLst>
          </p:cNvPr>
          <p:cNvSpPr>
            <a:spLocks noGrp="1"/>
          </p:cNvSpPr>
          <p:nvPr/>
        </p:nvSpPr>
        <p:spPr>
          <a:xfrm>
            <a:off x="590550" y="7334250"/>
            <a:ext cx="12525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해석 기준: 상위 핵심어의 의미 범주와 동시 등장 맥락을 기반으로 페인포인트를 구성</a:t>
            </a:r>
          </a:p>
        </p:txBody>
      </p:sp>
    </p:spTree>
    <p:extLst>
      <p:ext uri="{BB962C8B-B14F-4D97-AF65-F5344CB8AC3E}">
        <p14:creationId xmlns:p14="http://schemas.microsoft.com/office/powerpoint/2010/main" val="276295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ction">
            <a:extLst>
              <a:ext uri="{FF2B5EF4-FFF2-40B4-BE49-F238E27FC236}">
                <a16:creationId xmlns:a16="http://schemas.microsoft.com/office/drawing/2014/main" id="{101DA89C-97A7-4D26-B197-EC6DB82CBFF7}"/>
              </a:ext>
            </a:extLst>
          </p:cNvPr>
          <p:cNvSpPr>
            <a:spLocks noGrp="1"/>
          </p:cNvSpPr>
          <p:nvPr/>
        </p:nvSpPr>
        <p:spPr>
          <a:xfrm>
            <a:off x="523875" y="419100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D96835"/>
                </a:solidFill>
              </a:defRPr>
            </a:pPr>
            <a:r>
              <a:rPr sz="2100" b="1">
                <a:solidFill>
                  <a:srgbClr val="D96835"/>
                </a:solidFill>
              </a:rPr>
              <a:t>CX.타깃 고객</a:t>
            </a:r>
          </a:p>
        </p:txBody>
      </p:sp>
      <p:sp>
        <p:nvSpPr>
          <p:cNvPr id="2" name="header-rule">
            <a:extLst>
              <a:ext uri="{FF2B5EF4-FFF2-40B4-BE49-F238E27FC236}">
                <a16:creationId xmlns:a16="http://schemas.microsoft.com/office/drawing/2014/main" id="{3098C8A4-BFCC-4F00-A4CC-AA51ADF7D566}"/>
              </a:ext>
            </a:extLst>
          </p:cNvPr>
          <p:cNvSpPr>
            <a:spLocks noGrp="1"/>
          </p:cNvSpPr>
          <p:nvPr/>
        </p:nvSpPr>
        <p:spPr>
          <a:xfrm>
            <a:off x="3143250" y="628650"/>
            <a:ext cx="4000500" cy="19050"/>
          </a:xfrm>
          <a:prstGeom prst="rect">
            <a:avLst/>
          </a:prstGeom>
          <a:solidFill>
            <a:srgbClr val="565B60"/>
          </a:solidFill>
          <a:ln w="0">
            <a:solidFill>
              <a:srgbClr val="565B60"/>
            </a:solidFill>
            <a:prstDash val="solid"/>
          </a:ln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798CCF26-4BB7-40FC-881D-8429A6CE4902}"/>
              </a:ext>
            </a:extLst>
          </p:cNvPr>
          <p:cNvSpPr>
            <a:spLocks noGrp="1"/>
          </p:cNvSpPr>
          <p:nvPr/>
        </p:nvSpPr>
        <p:spPr>
          <a:xfrm>
            <a:off x="7334250" y="342900"/>
            <a:ext cx="5857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550" b="1">
                <a:solidFill>
                  <a:srgbClr val="171C22"/>
                </a:solidFill>
              </a:defRPr>
            </a:pPr>
            <a:r>
              <a:rPr sz="2550" b="1">
                <a:solidFill>
                  <a:srgbClr val="171C22"/>
                </a:solidFill>
              </a:rPr>
              <a:t>텍스트 분석 결과를 한 명의 고객으로 구체화했습니다</a:t>
            </a:r>
          </a:p>
        </p:txBody>
      </p:sp>
      <p:sp>
        <p:nvSpPr>
          <p:cNvPr id="4" name="persona-card-shadow">
            <a:extLst>
              <a:ext uri="{FF2B5EF4-FFF2-40B4-BE49-F238E27FC236}">
                <a16:creationId xmlns:a16="http://schemas.microsoft.com/office/drawing/2014/main" id="{77F73E97-63DC-45D0-A5C3-5D7F51739E47}"/>
              </a:ext>
            </a:extLst>
          </p:cNvPr>
          <p:cNvSpPr>
            <a:spLocks noGrp="1"/>
          </p:cNvSpPr>
          <p:nvPr/>
        </p:nvSpPr>
        <p:spPr>
          <a:xfrm>
            <a:off x="752475" y="1476375"/>
            <a:ext cx="12382500" cy="5429250"/>
          </a:xfrm>
          <a:prstGeom prst="roundRect">
            <a:avLst>
              <a:gd name="adj" fmla="val 2807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5" name="persona-card">
            <a:extLst>
              <a:ext uri="{FF2B5EF4-FFF2-40B4-BE49-F238E27FC236}">
                <a16:creationId xmlns:a16="http://schemas.microsoft.com/office/drawing/2014/main" id="{222DADDB-FE07-410D-8441-9E6B1FCB36A4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12382500" cy="542925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7750" y="1905000"/>
            <a:ext cx="3143250" cy="3143250"/>
          </a:xfrm>
          <a:prstGeom prst="roundRect">
            <a:avLst>
              <a:gd name="adj" fmla="val 4848"/>
            </a:avLst>
          </a:prstGeom>
        </p:spPr>
      </p:pic>
      <p:sp>
        <p:nvSpPr>
          <p:cNvPr id="7" name="persona-badge">
            <a:extLst>
              <a:ext uri="{FF2B5EF4-FFF2-40B4-BE49-F238E27FC236}">
                <a16:creationId xmlns:a16="http://schemas.microsoft.com/office/drawing/2014/main" id="{84771A29-823D-42FE-A290-CEB595BCC0CE}"/>
              </a:ext>
            </a:extLst>
          </p:cNvPr>
          <p:cNvSpPr>
            <a:spLocks noGrp="1"/>
          </p:cNvSpPr>
          <p:nvPr/>
        </p:nvSpPr>
        <p:spPr>
          <a:xfrm>
            <a:off x="1047750" y="528637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2796F"/>
                </a:solidFill>
              </a:defRPr>
            </a:pPr>
            <a:r>
              <a:rPr sz="1200" b="1">
                <a:solidFill>
                  <a:srgbClr val="52796F"/>
                </a:solidFill>
              </a:rPr>
              <a:t>텍스트 분석 기반 가상 페르소나</a:t>
            </a:r>
          </a:p>
        </p:txBody>
      </p:sp>
      <p:sp>
        <p:nvSpPr>
          <p:cNvPr id="8" name="persona-ai">
            <a:extLst>
              <a:ext uri="{FF2B5EF4-FFF2-40B4-BE49-F238E27FC236}">
                <a16:creationId xmlns:a16="http://schemas.microsoft.com/office/drawing/2014/main" id="{41993481-6850-4E37-AF78-E3B5FC68F0A0}"/>
              </a:ext>
            </a:extLst>
          </p:cNvPr>
          <p:cNvSpPr>
            <a:spLocks noGrp="1"/>
          </p:cNvSpPr>
          <p:nvPr/>
        </p:nvSpPr>
        <p:spPr>
          <a:xfrm>
            <a:off x="1047750" y="561975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AI 생성 가상 인물</a:t>
            </a:r>
          </a:p>
        </p:txBody>
      </p:sp>
      <p:sp>
        <p:nvSpPr>
          <p:cNvPr id="9" name="persona-name">
            <a:extLst>
              <a:ext uri="{FF2B5EF4-FFF2-40B4-BE49-F238E27FC236}">
                <a16:creationId xmlns:a16="http://schemas.microsoft.com/office/drawing/2014/main" id="{AE2FE00D-97E3-4BD5-B00E-4784D459B403}"/>
              </a:ext>
            </a:extLst>
          </p:cNvPr>
          <p:cNvSpPr>
            <a:spLocks noGrp="1"/>
          </p:cNvSpPr>
          <p:nvPr/>
        </p:nvSpPr>
        <p:spPr>
          <a:xfrm>
            <a:off x="4762500" y="180975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8324A"/>
                </a:solidFill>
              </a:defRPr>
            </a:pPr>
            <a:r>
              <a:rPr sz="2850" b="1">
                <a:solidFill>
                  <a:srgbClr val="18324A"/>
                </a:solidFill>
              </a:rPr>
              <a:t>김지안 · 24세</a:t>
            </a:r>
          </a:p>
        </p:txBody>
      </p:sp>
      <p:sp>
        <p:nvSpPr>
          <p:cNvPr id="10" name="persona-role">
            <a:extLst>
              <a:ext uri="{FF2B5EF4-FFF2-40B4-BE49-F238E27FC236}">
                <a16:creationId xmlns:a16="http://schemas.microsoft.com/office/drawing/2014/main" id="{3E2757A4-4636-497D-BDAD-38340EEBD393}"/>
              </a:ext>
            </a:extLst>
          </p:cNvPr>
          <p:cNvSpPr>
            <a:spLocks noGrp="1"/>
          </p:cNvSpPr>
          <p:nvPr/>
        </p:nvSpPr>
        <p:spPr>
          <a:xfrm>
            <a:off x="4762500" y="2428875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687078"/>
                </a:solidFill>
              </a:defRPr>
            </a:pPr>
            <a:r>
              <a:rPr sz="1575" b="0">
                <a:solidFill>
                  <a:srgbClr val="687078"/>
                </a:solidFill>
              </a:rPr>
              <a:t>대학생 · 1인 가구 · 야간 도보 귀가</a:t>
            </a:r>
          </a:p>
        </p:txBody>
      </p:sp>
      <p:sp>
        <p:nvSpPr>
          <p:cNvPr id="11" name="situation-box">
            <a:extLst>
              <a:ext uri="{FF2B5EF4-FFF2-40B4-BE49-F238E27FC236}">
                <a16:creationId xmlns:a16="http://schemas.microsoft.com/office/drawing/2014/main" id="{61578AE6-3622-420E-B60E-8D63EFA425BB}"/>
              </a:ext>
            </a:extLst>
          </p:cNvPr>
          <p:cNvSpPr>
            <a:spLocks noGrp="1"/>
          </p:cNvSpPr>
          <p:nvPr/>
        </p:nvSpPr>
        <p:spPr>
          <a:xfrm>
            <a:off x="4762500" y="3048000"/>
            <a:ext cx="7429500" cy="800100"/>
          </a:xfrm>
          <a:prstGeom prst="roundRect">
            <a:avLst>
              <a:gd name="adj" fmla="val 14286"/>
            </a:avLst>
          </a:prstGeom>
          <a:solidFill>
            <a:srgbClr val="EEF2F0"/>
          </a:solidFill>
          <a:ln w="13335">
            <a:solidFill>
              <a:srgbClr val="C3CECC"/>
            </a:solidFill>
            <a:prstDash val="solid"/>
          </a:ln>
        </p:spPr>
      </p:sp>
      <p:sp>
        <p:nvSpPr>
          <p:cNvPr id="12" name="situation-label">
            <a:extLst>
              <a:ext uri="{FF2B5EF4-FFF2-40B4-BE49-F238E27FC236}">
                <a16:creationId xmlns:a16="http://schemas.microsoft.com/office/drawing/2014/main" id="{35A155C1-73C6-4510-A291-77CF84CD8698}"/>
              </a:ext>
            </a:extLst>
          </p:cNvPr>
          <p:cNvSpPr>
            <a:spLocks noGrp="1"/>
          </p:cNvSpPr>
          <p:nvPr/>
        </p:nvSpPr>
        <p:spPr>
          <a:xfrm>
            <a:off x="5000625" y="323850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2796F"/>
                </a:solidFill>
              </a:defRPr>
            </a:pPr>
            <a:r>
              <a:rPr sz="1275" b="1">
                <a:solidFill>
                  <a:srgbClr val="52796F"/>
                </a:solidFill>
              </a:rPr>
              <a:t>상황</a:t>
            </a:r>
          </a:p>
        </p:txBody>
      </p:sp>
      <p:sp>
        <p:nvSpPr>
          <p:cNvPr id="13" name="situation-text">
            <a:extLst>
              <a:ext uri="{FF2B5EF4-FFF2-40B4-BE49-F238E27FC236}">
                <a16:creationId xmlns:a16="http://schemas.microsoft.com/office/drawing/2014/main" id="{36F4CFB1-7595-4460-90A9-56205E14845F}"/>
              </a:ext>
            </a:extLst>
          </p:cNvPr>
          <p:cNvSpPr>
            <a:spLocks noGrp="1"/>
          </p:cNvSpPr>
          <p:nvPr/>
        </p:nvSpPr>
        <p:spPr>
          <a:xfrm>
            <a:off x="5905500" y="3219450"/>
            <a:ext cx="5953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1C22"/>
                </a:solidFill>
              </a:defRPr>
            </a:pPr>
            <a:r>
              <a:rPr sz="1425" b="0">
                <a:solidFill>
                  <a:srgbClr val="171C22"/>
                </a:solidFill>
              </a:rPr>
              <a:t>밤 10시 이후 지하철역에서 자취방까지 약 15분을 걸어 귀가합니다.</a:t>
            </a:r>
          </a:p>
        </p:txBody>
      </p:sp>
      <p:sp>
        <p:nvSpPr>
          <p:cNvPr id="14" name="goal-label">
            <a:extLst>
              <a:ext uri="{FF2B5EF4-FFF2-40B4-BE49-F238E27FC236}">
                <a16:creationId xmlns:a16="http://schemas.microsoft.com/office/drawing/2014/main" id="{624DD569-C430-42CA-9483-3764B89CA739}"/>
              </a:ext>
            </a:extLst>
          </p:cNvPr>
          <p:cNvSpPr>
            <a:spLocks noGrp="1"/>
          </p:cNvSpPr>
          <p:nvPr/>
        </p:nvSpPr>
        <p:spPr>
          <a:xfrm>
            <a:off x="4762500" y="4333875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D96835"/>
                </a:solidFill>
              </a:defRPr>
            </a:pPr>
            <a:r>
              <a:rPr sz="1275" b="1">
                <a:solidFill>
                  <a:srgbClr val="D96835"/>
                </a:solidFill>
              </a:rPr>
              <a:t>GOAL</a:t>
            </a:r>
          </a:p>
        </p:txBody>
      </p:sp>
      <p:sp>
        <p:nvSpPr>
          <p:cNvPr id="15" name="goal-text">
            <a:extLst>
              <a:ext uri="{FF2B5EF4-FFF2-40B4-BE49-F238E27FC236}">
                <a16:creationId xmlns:a16="http://schemas.microsoft.com/office/drawing/2014/main" id="{DC88D3F0-B7D3-4703-BC62-6BF95BB8CFAA}"/>
              </a:ext>
            </a:extLst>
          </p:cNvPr>
          <p:cNvSpPr>
            <a:spLocks noGrp="1"/>
          </p:cNvSpPr>
          <p:nvPr/>
        </p:nvSpPr>
        <p:spPr>
          <a:xfrm>
            <a:off x="5905500" y="4286250"/>
            <a:ext cx="619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1C22"/>
                </a:solidFill>
              </a:defRPr>
            </a:pPr>
            <a:r>
              <a:rPr sz="1650" b="1">
                <a:solidFill>
                  <a:srgbClr val="171C22"/>
                </a:solidFill>
              </a:rPr>
              <a:t>빠른 길보다 안심할 수 있는 길을 선택하고 싶습니다.</a:t>
            </a:r>
          </a:p>
        </p:txBody>
      </p:sp>
      <p:sp>
        <p:nvSpPr>
          <p:cNvPr id="16" name="pain-label">
            <a:extLst>
              <a:ext uri="{FF2B5EF4-FFF2-40B4-BE49-F238E27FC236}">
                <a16:creationId xmlns:a16="http://schemas.microsoft.com/office/drawing/2014/main" id="{BB790106-F7CF-4948-888B-8BAB75A3E5E9}"/>
              </a:ext>
            </a:extLst>
          </p:cNvPr>
          <p:cNvSpPr>
            <a:spLocks noGrp="1"/>
          </p:cNvSpPr>
          <p:nvPr/>
        </p:nvSpPr>
        <p:spPr>
          <a:xfrm>
            <a:off x="4762500" y="49530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D96835"/>
                </a:solidFill>
              </a:defRPr>
            </a:pPr>
            <a:r>
              <a:rPr sz="1275" b="1">
                <a:solidFill>
                  <a:srgbClr val="D96835"/>
                </a:solidFill>
              </a:rPr>
              <a:t>PAIN POINTS</a:t>
            </a:r>
          </a:p>
        </p:txBody>
      </p:sp>
      <p:sp>
        <p:nvSpPr>
          <p:cNvPr id="17" name="pain-text">
            <a:extLst>
              <a:ext uri="{FF2B5EF4-FFF2-40B4-BE49-F238E27FC236}">
                <a16:creationId xmlns:a16="http://schemas.microsoft.com/office/drawing/2014/main" id="{ED668748-5773-4391-9817-CD93E93849E4}"/>
              </a:ext>
            </a:extLst>
          </p:cNvPr>
          <p:cNvSpPr>
            <a:spLocks noGrp="1"/>
          </p:cNvSpPr>
          <p:nvPr/>
        </p:nvSpPr>
        <p:spPr>
          <a:xfrm>
            <a:off x="5905500" y="4905375"/>
            <a:ext cx="6191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• 어두운 골목의 CCTV·가로등 위치를 알기 어렵습니다.</a:t>
            </a:r>
          </a:p>
          <a:p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• 위험구간에 들어가기 전 대체 경로를 찾기 어렵습니다.</a:t>
            </a:r>
          </a:p>
          <a:p>
            <a:pPr algn="l">
              <a:defRPr sz="1350" b="0">
                <a:solidFill>
                  <a:srgbClr val="687078"/>
                </a:solidFill>
              </a:defRPr>
            </a:pPr>
            <a:r>
              <a:rPr sz="1350" b="0">
                <a:solidFill>
                  <a:srgbClr val="687078"/>
                </a:solidFill>
              </a:rPr>
              <a:t>• 지도·검색·커뮤니티 정보를 따로 확인해야 합니다.</a:t>
            </a:r>
          </a:p>
        </p:txBody>
      </p:sp>
      <p:sp>
        <p:nvSpPr>
          <p:cNvPr id="18" name="source">
            <a:extLst>
              <a:ext uri="{FF2B5EF4-FFF2-40B4-BE49-F238E27FC236}">
                <a16:creationId xmlns:a16="http://schemas.microsoft.com/office/drawing/2014/main" id="{FA6AE915-A26A-4DE0-9E48-3EEC3B53177A}"/>
              </a:ext>
            </a:extLst>
          </p:cNvPr>
          <p:cNvSpPr>
            <a:spLocks noGrp="1"/>
          </p:cNvSpPr>
          <p:nvPr/>
        </p:nvSpPr>
        <p:spPr>
          <a:xfrm>
            <a:off x="590550" y="7334250"/>
            <a:ext cx="12525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Persona synthesis: 워드클라우드 상위 핵심어와 페인포인트를 기반으로 구성한 가상 인물</a:t>
            </a:r>
          </a:p>
        </p:txBody>
      </p:sp>
    </p:spTree>
    <p:extLst>
      <p:ext uri="{BB962C8B-B14F-4D97-AF65-F5344CB8AC3E}">
        <p14:creationId xmlns:p14="http://schemas.microsoft.com/office/powerpoint/2010/main" val="1284126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ection">
            <a:extLst>
              <a:ext uri="{FF2B5EF4-FFF2-40B4-BE49-F238E27FC236}">
                <a16:creationId xmlns:a16="http://schemas.microsoft.com/office/drawing/2014/main" id="{6ADC5A03-4E7B-4FC0-A4FE-544637E22776}"/>
              </a:ext>
            </a:extLst>
          </p:cNvPr>
          <p:cNvSpPr>
            <a:spLocks noGrp="1"/>
          </p:cNvSpPr>
          <p:nvPr/>
        </p:nvSpPr>
        <p:spPr>
          <a:xfrm>
            <a:off x="523875" y="419100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D96835"/>
                </a:solidFill>
              </a:defRPr>
            </a:pPr>
            <a:r>
              <a:rPr sz="2100" b="1">
                <a:solidFill>
                  <a:srgbClr val="D96835"/>
                </a:solidFill>
              </a:rPr>
              <a:t>CX.고객 요구</a:t>
            </a:r>
          </a:p>
        </p:txBody>
      </p:sp>
      <p:sp>
        <p:nvSpPr>
          <p:cNvPr id="2" name="header-rule">
            <a:extLst>
              <a:ext uri="{FF2B5EF4-FFF2-40B4-BE49-F238E27FC236}">
                <a16:creationId xmlns:a16="http://schemas.microsoft.com/office/drawing/2014/main" id="{3F90F54B-636C-47E5-80BA-E3B8ED57D7D5}"/>
              </a:ext>
            </a:extLst>
          </p:cNvPr>
          <p:cNvSpPr>
            <a:spLocks noGrp="1"/>
          </p:cNvSpPr>
          <p:nvPr/>
        </p:nvSpPr>
        <p:spPr>
          <a:xfrm>
            <a:off x="3143250" y="628650"/>
            <a:ext cx="4000500" cy="19050"/>
          </a:xfrm>
          <a:prstGeom prst="rect">
            <a:avLst/>
          </a:prstGeom>
          <a:solidFill>
            <a:srgbClr val="565B60"/>
          </a:solidFill>
          <a:ln w="0">
            <a:solidFill>
              <a:srgbClr val="565B60"/>
            </a:solidFill>
            <a:prstDash val="solid"/>
          </a:ln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AEBF37C4-5784-4CC6-BC72-328E5A68D52D}"/>
              </a:ext>
            </a:extLst>
          </p:cNvPr>
          <p:cNvSpPr>
            <a:spLocks noGrp="1"/>
          </p:cNvSpPr>
          <p:nvPr/>
        </p:nvSpPr>
        <p:spPr>
          <a:xfrm>
            <a:off x="7334250" y="342900"/>
            <a:ext cx="5857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550" b="1">
                <a:solidFill>
                  <a:srgbClr val="171C22"/>
                </a:solidFill>
              </a:defRPr>
            </a:pPr>
            <a:r>
              <a:rPr sz="2550" b="1">
                <a:solidFill>
                  <a:srgbClr val="171C22"/>
                </a:solidFill>
              </a:rPr>
              <a:t>고객에게 필요한 것은 ‘길을 결정할 근거’입니다</a:t>
            </a:r>
          </a:p>
        </p:txBody>
      </p:sp>
      <p:sp>
        <p:nvSpPr>
          <p:cNvPr id="4" name="need-lead">
            <a:extLst>
              <a:ext uri="{FF2B5EF4-FFF2-40B4-BE49-F238E27FC236}">
                <a16:creationId xmlns:a16="http://schemas.microsoft.com/office/drawing/2014/main" id="{678E3167-7CDB-4D90-AA09-519BB10700E0}"/>
              </a:ext>
            </a:extLst>
          </p:cNvPr>
          <p:cNvSpPr>
            <a:spLocks noGrp="1"/>
          </p:cNvSpPr>
          <p:nvPr/>
        </p:nvSpPr>
        <p:spPr>
          <a:xfrm>
            <a:off x="1714500" y="142875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8324A"/>
                </a:solidFill>
              </a:defRPr>
            </a:pPr>
            <a:r>
              <a:rPr sz="2100" b="1">
                <a:solidFill>
                  <a:srgbClr val="18324A"/>
                </a:solidFill>
              </a:rPr>
              <a:t>김지안의 귀가 여정에는 세 번의 판단 순간이 있습니다.</a:t>
            </a:r>
          </a:p>
        </p:txBody>
      </p:sp>
      <p:sp>
        <p:nvSpPr>
          <p:cNvPr id="5" name="need-card-0-shadow">
            <a:extLst>
              <a:ext uri="{FF2B5EF4-FFF2-40B4-BE49-F238E27FC236}">
                <a16:creationId xmlns:a16="http://schemas.microsoft.com/office/drawing/2014/main" id="{740C5751-69E4-428D-93DA-95FF0E51CAFB}"/>
              </a:ext>
            </a:extLst>
          </p:cNvPr>
          <p:cNvSpPr>
            <a:spLocks noGrp="1"/>
          </p:cNvSpPr>
          <p:nvPr/>
        </p:nvSpPr>
        <p:spPr>
          <a:xfrm>
            <a:off x="942975" y="2428875"/>
            <a:ext cx="3714750" cy="3048000"/>
          </a:xfrm>
          <a:prstGeom prst="roundRect">
            <a:avLst>
              <a:gd name="adj" fmla="val 5000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6" name="need-card-0">
            <a:extLst>
              <a:ext uri="{FF2B5EF4-FFF2-40B4-BE49-F238E27FC236}">
                <a16:creationId xmlns:a16="http://schemas.microsoft.com/office/drawing/2014/main" id="{2F699760-94A8-4AFB-B14E-201D534C1DC7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371475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7" name="need-phase-0">
            <a:extLst>
              <a:ext uri="{FF2B5EF4-FFF2-40B4-BE49-F238E27FC236}">
                <a16:creationId xmlns:a16="http://schemas.microsoft.com/office/drawing/2014/main" id="{8260FC37-04B3-4D87-B5C2-F1F313049970}"/>
              </a:ext>
            </a:extLst>
          </p:cNvPr>
          <p:cNvSpPr>
            <a:spLocks noGrp="1"/>
          </p:cNvSpPr>
          <p:nvPr/>
        </p:nvSpPr>
        <p:spPr>
          <a:xfrm>
            <a:off x="1238250" y="26670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52796F"/>
                </a:solidFill>
              </a:defRPr>
            </a:pPr>
            <a:r>
              <a:rPr sz="1350" b="1">
                <a:solidFill>
                  <a:srgbClr val="52796F"/>
                </a:solidFill>
              </a:rPr>
              <a:t>출발 전</a:t>
            </a:r>
          </a:p>
        </p:txBody>
      </p:sp>
      <p:sp>
        <p:nvSpPr>
          <p:cNvPr id="8" name="need-title-0">
            <a:extLst>
              <a:ext uri="{FF2B5EF4-FFF2-40B4-BE49-F238E27FC236}">
                <a16:creationId xmlns:a16="http://schemas.microsoft.com/office/drawing/2014/main" id="{1714511B-A791-4234-A605-EF3FA0006B79}"/>
              </a:ext>
            </a:extLst>
          </p:cNvPr>
          <p:cNvSpPr>
            <a:spLocks noGrp="1"/>
          </p:cNvSpPr>
          <p:nvPr/>
        </p:nvSpPr>
        <p:spPr>
          <a:xfrm>
            <a:off x="1238250" y="338137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71C22"/>
                </a:solidFill>
              </a:defRPr>
            </a:pPr>
            <a:r>
              <a:rPr sz="2250" b="1">
                <a:solidFill>
                  <a:srgbClr val="171C22"/>
                </a:solidFill>
              </a:rPr>
              <a:t>안전 경로 비교</a:t>
            </a:r>
          </a:p>
        </p:txBody>
      </p:sp>
      <p:sp>
        <p:nvSpPr>
          <p:cNvPr id="9" name="need-desc-0">
            <a:extLst>
              <a:ext uri="{FF2B5EF4-FFF2-40B4-BE49-F238E27FC236}">
                <a16:creationId xmlns:a16="http://schemas.microsoft.com/office/drawing/2014/main" id="{7754BFCF-55F6-47E5-8697-C9D6F935B5C4}"/>
              </a:ext>
            </a:extLst>
          </p:cNvPr>
          <p:cNvSpPr>
            <a:spLocks noGrp="1"/>
          </p:cNvSpPr>
          <p:nvPr/>
        </p:nvSpPr>
        <p:spPr>
          <a:xfrm>
            <a:off x="1285875" y="423862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최단거리와 안전한 길의</a:t>
            </a:r>
          </a:p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차이를 확인</a:t>
            </a:r>
          </a:p>
        </p:txBody>
      </p:sp>
      <p:sp>
        <p:nvSpPr>
          <p:cNvPr id="10" name="need-arrow-0">
            <a:extLst>
              <a:ext uri="{FF2B5EF4-FFF2-40B4-BE49-F238E27FC236}">
                <a16:creationId xmlns:a16="http://schemas.microsoft.com/office/drawing/2014/main" id="{D13311E2-60BA-4C75-9352-5B8DDF946693}"/>
              </a:ext>
            </a:extLst>
          </p:cNvPr>
          <p:cNvSpPr>
            <a:spLocks noGrp="1"/>
          </p:cNvSpPr>
          <p:nvPr/>
        </p:nvSpPr>
        <p:spPr>
          <a:xfrm>
            <a:off x="4572000" y="3524250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D96835"/>
                </a:solidFill>
              </a:defRPr>
            </a:pPr>
            <a:r>
              <a:rPr sz="2550" b="1">
                <a:solidFill>
                  <a:srgbClr val="D96835"/>
                </a:solidFill>
              </a:rPr>
              <a:t>→</a:t>
            </a:r>
          </a:p>
        </p:txBody>
      </p:sp>
      <p:sp>
        <p:nvSpPr>
          <p:cNvPr id="11" name="need-card-1-shadow">
            <a:extLst>
              <a:ext uri="{FF2B5EF4-FFF2-40B4-BE49-F238E27FC236}">
                <a16:creationId xmlns:a16="http://schemas.microsoft.com/office/drawing/2014/main" id="{2D56509A-77E0-412A-A836-975950880697}"/>
              </a:ext>
            </a:extLst>
          </p:cNvPr>
          <p:cNvSpPr>
            <a:spLocks noGrp="1"/>
          </p:cNvSpPr>
          <p:nvPr/>
        </p:nvSpPr>
        <p:spPr>
          <a:xfrm>
            <a:off x="5086350" y="2428875"/>
            <a:ext cx="3714750" cy="3048000"/>
          </a:xfrm>
          <a:prstGeom prst="roundRect">
            <a:avLst>
              <a:gd name="adj" fmla="val 5000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2" name="need-card-1">
            <a:extLst>
              <a:ext uri="{FF2B5EF4-FFF2-40B4-BE49-F238E27FC236}">
                <a16:creationId xmlns:a16="http://schemas.microsoft.com/office/drawing/2014/main" id="{011D6CD3-5A33-4C02-B76E-8392D6A9EB69}"/>
              </a:ext>
            </a:extLst>
          </p:cNvPr>
          <p:cNvSpPr>
            <a:spLocks noGrp="1"/>
          </p:cNvSpPr>
          <p:nvPr/>
        </p:nvSpPr>
        <p:spPr>
          <a:xfrm>
            <a:off x="5000625" y="2333625"/>
            <a:ext cx="371475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3" name="need-phase-1">
            <a:extLst>
              <a:ext uri="{FF2B5EF4-FFF2-40B4-BE49-F238E27FC236}">
                <a16:creationId xmlns:a16="http://schemas.microsoft.com/office/drawing/2014/main" id="{FAB3C82C-4E96-4F69-9248-6DA75D22A26E}"/>
              </a:ext>
            </a:extLst>
          </p:cNvPr>
          <p:cNvSpPr>
            <a:spLocks noGrp="1"/>
          </p:cNvSpPr>
          <p:nvPr/>
        </p:nvSpPr>
        <p:spPr>
          <a:xfrm>
            <a:off x="5381625" y="26670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52796F"/>
                </a:solidFill>
              </a:defRPr>
            </a:pPr>
            <a:r>
              <a:rPr sz="1350" b="1">
                <a:solidFill>
                  <a:srgbClr val="52796F"/>
                </a:solidFill>
              </a:rPr>
              <a:t>이동 중</a:t>
            </a:r>
          </a:p>
        </p:txBody>
      </p:sp>
      <p:sp>
        <p:nvSpPr>
          <p:cNvPr id="14" name="need-title-1">
            <a:extLst>
              <a:ext uri="{FF2B5EF4-FFF2-40B4-BE49-F238E27FC236}">
                <a16:creationId xmlns:a16="http://schemas.microsoft.com/office/drawing/2014/main" id="{D808A30E-1A0C-44A1-9CD7-8722EE812C2F}"/>
              </a:ext>
            </a:extLst>
          </p:cNvPr>
          <p:cNvSpPr>
            <a:spLocks noGrp="1"/>
          </p:cNvSpPr>
          <p:nvPr/>
        </p:nvSpPr>
        <p:spPr>
          <a:xfrm>
            <a:off x="5381625" y="338137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71C22"/>
                </a:solidFill>
              </a:defRPr>
            </a:pPr>
            <a:r>
              <a:rPr sz="2250" b="1">
                <a:solidFill>
                  <a:srgbClr val="171C22"/>
                </a:solidFill>
              </a:rPr>
              <a:t>안전시설 확인</a:t>
            </a:r>
          </a:p>
        </p:txBody>
      </p:sp>
      <p:sp>
        <p:nvSpPr>
          <p:cNvPr id="15" name="need-desc-1">
            <a:extLst>
              <a:ext uri="{FF2B5EF4-FFF2-40B4-BE49-F238E27FC236}">
                <a16:creationId xmlns:a16="http://schemas.microsoft.com/office/drawing/2014/main" id="{EF9DB31E-060F-4A03-993D-7DB2786C5EA8}"/>
              </a:ext>
            </a:extLst>
          </p:cNvPr>
          <p:cNvSpPr>
            <a:spLocks noGrp="1"/>
          </p:cNvSpPr>
          <p:nvPr/>
        </p:nvSpPr>
        <p:spPr>
          <a:xfrm>
            <a:off x="5429250" y="423862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CCTV·가로등·비상벨을</a:t>
            </a:r>
          </a:p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한 화면에서 확인</a:t>
            </a:r>
          </a:p>
        </p:txBody>
      </p:sp>
      <p:sp>
        <p:nvSpPr>
          <p:cNvPr id="16" name="need-arrow-1">
            <a:extLst>
              <a:ext uri="{FF2B5EF4-FFF2-40B4-BE49-F238E27FC236}">
                <a16:creationId xmlns:a16="http://schemas.microsoft.com/office/drawing/2014/main" id="{DF914353-54D3-4F04-B5FC-810336575D2D}"/>
              </a:ext>
            </a:extLst>
          </p:cNvPr>
          <p:cNvSpPr>
            <a:spLocks noGrp="1"/>
          </p:cNvSpPr>
          <p:nvPr/>
        </p:nvSpPr>
        <p:spPr>
          <a:xfrm>
            <a:off x="8715375" y="3524250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D96835"/>
                </a:solidFill>
              </a:defRPr>
            </a:pPr>
            <a:r>
              <a:rPr sz="2550" b="1">
                <a:solidFill>
                  <a:srgbClr val="D96835"/>
                </a:solidFill>
              </a:rPr>
              <a:t>→</a:t>
            </a:r>
          </a:p>
        </p:txBody>
      </p:sp>
      <p:sp>
        <p:nvSpPr>
          <p:cNvPr id="17" name="need-card-2-shadow">
            <a:extLst>
              <a:ext uri="{FF2B5EF4-FFF2-40B4-BE49-F238E27FC236}">
                <a16:creationId xmlns:a16="http://schemas.microsoft.com/office/drawing/2014/main" id="{993581E0-9AFA-40D6-8A85-A5E1C2F44642}"/>
              </a:ext>
            </a:extLst>
          </p:cNvPr>
          <p:cNvSpPr>
            <a:spLocks noGrp="1"/>
          </p:cNvSpPr>
          <p:nvPr/>
        </p:nvSpPr>
        <p:spPr>
          <a:xfrm>
            <a:off x="9229725" y="2428875"/>
            <a:ext cx="3714750" cy="3048000"/>
          </a:xfrm>
          <a:prstGeom prst="roundRect">
            <a:avLst>
              <a:gd name="adj" fmla="val 5000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8" name="need-card-2">
            <a:extLst>
              <a:ext uri="{FF2B5EF4-FFF2-40B4-BE49-F238E27FC236}">
                <a16:creationId xmlns:a16="http://schemas.microsoft.com/office/drawing/2014/main" id="{13CEF4EC-4E1A-4759-8206-98B31466C249}"/>
              </a:ext>
            </a:extLst>
          </p:cNvPr>
          <p:cNvSpPr>
            <a:spLocks noGrp="1"/>
          </p:cNvSpPr>
          <p:nvPr/>
        </p:nvSpPr>
        <p:spPr>
          <a:xfrm>
            <a:off x="9144000" y="2333625"/>
            <a:ext cx="371475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9" name="need-phase-2">
            <a:extLst>
              <a:ext uri="{FF2B5EF4-FFF2-40B4-BE49-F238E27FC236}">
                <a16:creationId xmlns:a16="http://schemas.microsoft.com/office/drawing/2014/main" id="{2FFB1E46-CC87-4F22-9DD4-F35480AAF56E}"/>
              </a:ext>
            </a:extLst>
          </p:cNvPr>
          <p:cNvSpPr>
            <a:spLocks noGrp="1"/>
          </p:cNvSpPr>
          <p:nvPr/>
        </p:nvSpPr>
        <p:spPr>
          <a:xfrm>
            <a:off x="9525000" y="26670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52796F"/>
                </a:solidFill>
              </a:defRPr>
            </a:pPr>
            <a:r>
              <a:rPr sz="1350" b="1">
                <a:solidFill>
                  <a:srgbClr val="52796F"/>
                </a:solidFill>
              </a:rPr>
              <a:t>위험 전</a:t>
            </a:r>
          </a:p>
        </p:txBody>
      </p:sp>
      <p:sp>
        <p:nvSpPr>
          <p:cNvPr id="20" name="need-title-2">
            <a:extLst>
              <a:ext uri="{FF2B5EF4-FFF2-40B4-BE49-F238E27FC236}">
                <a16:creationId xmlns:a16="http://schemas.microsoft.com/office/drawing/2014/main" id="{555A7A5D-72F9-4981-A711-39E23BDBC746}"/>
              </a:ext>
            </a:extLst>
          </p:cNvPr>
          <p:cNvSpPr>
            <a:spLocks noGrp="1"/>
          </p:cNvSpPr>
          <p:nvPr/>
        </p:nvSpPr>
        <p:spPr>
          <a:xfrm>
            <a:off x="9525000" y="338137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71C22"/>
                </a:solidFill>
              </a:defRPr>
            </a:pPr>
            <a:r>
              <a:rPr sz="2250" b="1">
                <a:solidFill>
                  <a:srgbClr val="171C22"/>
                </a:solidFill>
              </a:rPr>
              <a:t>사전 알림</a:t>
            </a:r>
          </a:p>
        </p:txBody>
      </p:sp>
      <p:sp>
        <p:nvSpPr>
          <p:cNvPr id="21" name="need-desc-2">
            <a:extLst>
              <a:ext uri="{FF2B5EF4-FFF2-40B4-BE49-F238E27FC236}">
                <a16:creationId xmlns:a16="http://schemas.microsoft.com/office/drawing/2014/main" id="{9CCA5469-7AAF-4BBE-BBAF-BD987B44D9FE}"/>
              </a:ext>
            </a:extLst>
          </p:cNvPr>
          <p:cNvSpPr>
            <a:spLocks noGrp="1"/>
          </p:cNvSpPr>
          <p:nvPr/>
        </p:nvSpPr>
        <p:spPr>
          <a:xfrm>
            <a:off x="9572625" y="423862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사각지대·취약구간 진입 전</a:t>
            </a:r>
          </a:p>
          <a:p>
            <a:pPr algn="ctr">
              <a:defRPr sz="1500" b="0">
                <a:solidFill>
                  <a:srgbClr val="687078"/>
                </a:solidFill>
              </a:defRPr>
            </a:pPr>
            <a:r>
              <a:rPr sz="1500" b="0">
                <a:solidFill>
                  <a:srgbClr val="687078"/>
                </a:solidFill>
              </a:rPr>
              <a:t>대체 경로 안내</a:t>
            </a:r>
          </a:p>
        </p:txBody>
      </p:sp>
      <p:sp>
        <p:nvSpPr>
          <p:cNvPr id="22" name="closing-band">
            <a:extLst>
              <a:ext uri="{FF2B5EF4-FFF2-40B4-BE49-F238E27FC236}">
                <a16:creationId xmlns:a16="http://schemas.microsoft.com/office/drawing/2014/main" id="{6805FE6E-A2C7-42AA-B095-B8812D4C7912}"/>
              </a:ext>
            </a:extLst>
          </p:cNvPr>
          <p:cNvSpPr>
            <a:spLocks noGrp="1"/>
          </p:cNvSpPr>
          <p:nvPr/>
        </p:nvSpPr>
        <p:spPr>
          <a:xfrm>
            <a:off x="2095500" y="6096000"/>
            <a:ext cx="9525000" cy="685800"/>
          </a:xfrm>
          <a:prstGeom prst="roundRect">
            <a:avLst>
              <a:gd name="adj" fmla="val 16667"/>
            </a:avLst>
          </a:prstGeom>
          <a:solidFill>
            <a:srgbClr val="E5EEE9"/>
          </a:solidFill>
          <a:ln w="13335">
            <a:solidFill>
              <a:srgbClr val="B7C8C1"/>
            </a:solidFill>
            <a:prstDash val="solid"/>
          </a:ln>
        </p:spPr>
      </p:sp>
      <p:sp>
        <p:nvSpPr>
          <p:cNvPr id="23" name="closing-text">
            <a:extLst>
              <a:ext uri="{FF2B5EF4-FFF2-40B4-BE49-F238E27FC236}">
                <a16:creationId xmlns:a16="http://schemas.microsoft.com/office/drawing/2014/main" id="{87CF96F7-249D-4317-8639-280BFC30E867}"/>
              </a:ext>
            </a:extLst>
          </p:cNvPr>
          <p:cNvSpPr>
            <a:spLocks noGrp="1"/>
          </p:cNvSpPr>
          <p:nvPr/>
        </p:nvSpPr>
        <p:spPr>
          <a:xfrm>
            <a:off x="2571750" y="6276975"/>
            <a:ext cx="857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8324A"/>
                </a:solidFill>
              </a:defRPr>
            </a:pPr>
            <a:r>
              <a:rPr sz="1950" b="1">
                <a:solidFill>
                  <a:srgbClr val="18324A"/>
                </a:solidFill>
              </a:rPr>
              <a:t>LocalHub는 이 세 가지 고객 요구에서 출발합니다.</a:t>
            </a:r>
          </a:p>
        </p:txBody>
      </p:sp>
    </p:spTree>
    <p:extLst>
      <p:ext uri="{BB962C8B-B14F-4D97-AF65-F5344CB8AC3E}">
        <p14:creationId xmlns:p14="http://schemas.microsoft.com/office/powerpoint/2010/main" val="1391632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ection">
            <a:extLst>
              <a:ext uri="{FF2B5EF4-FFF2-40B4-BE49-F238E27FC236}">
                <a16:creationId xmlns:a16="http://schemas.microsoft.com/office/drawing/2014/main" id="{8E52BFB5-C72F-43E4-98B7-D9D3F3B74AB3}"/>
              </a:ext>
            </a:extLst>
          </p:cNvPr>
          <p:cNvSpPr>
            <a:spLocks noGrp="1"/>
          </p:cNvSpPr>
          <p:nvPr/>
        </p:nvSpPr>
        <p:spPr>
          <a:xfrm>
            <a:off x="523875" y="419100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2796F"/>
                </a:solidFill>
              </a:defRPr>
            </a:pPr>
            <a:r>
              <a:rPr sz="2100" b="1">
                <a:solidFill>
                  <a:srgbClr val="52796F"/>
                </a:solidFill>
              </a:rPr>
              <a:t>DX.KEY ACCELERATORS</a:t>
            </a:r>
          </a:p>
        </p:txBody>
      </p:sp>
      <p:sp>
        <p:nvSpPr>
          <p:cNvPr id="2" name="header-rule">
            <a:extLst>
              <a:ext uri="{FF2B5EF4-FFF2-40B4-BE49-F238E27FC236}">
                <a16:creationId xmlns:a16="http://schemas.microsoft.com/office/drawing/2014/main" id="{280FB1A0-C819-4AB7-A1BD-EA663FE9ECA9}"/>
              </a:ext>
            </a:extLst>
          </p:cNvPr>
          <p:cNvSpPr>
            <a:spLocks noGrp="1"/>
          </p:cNvSpPr>
          <p:nvPr/>
        </p:nvSpPr>
        <p:spPr>
          <a:xfrm>
            <a:off x="3143250" y="628650"/>
            <a:ext cx="4000500" cy="19050"/>
          </a:xfrm>
          <a:prstGeom prst="rect">
            <a:avLst/>
          </a:prstGeom>
          <a:solidFill>
            <a:srgbClr val="565B60"/>
          </a:solidFill>
          <a:ln w="0">
            <a:solidFill>
              <a:srgbClr val="565B60"/>
            </a:solidFill>
            <a:prstDash val="solid"/>
          </a:ln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3FA66A8-E2A3-48A1-BDF6-AFA930F41C64}"/>
              </a:ext>
            </a:extLst>
          </p:cNvPr>
          <p:cNvSpPr>
            <a:spLocks noGrp="1"/>
          </p:cNvSpPr>
          <p:nvPr/>
        </p:nvSpPr>
        <p:spPr>
          <a:xfrm>
            <a:off x="7334250" y="342900"/>
            <a:ext cx="5857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550" b="1">
                <a:solidFill>
                  <a:srgbClr val="171C22"/>
                </a:solidFill>
              </a:defRPr>
            </a:pPr>
            <a:r>
              <a:rPr sz="2550" b="1">
                <a:solidFill>
                  <a:srgbClr val="171C22"/>
                </a:solidFill>
              </a:rPr>
              <a:t>세 가지 고객 요구를 아홉 개 기능으로 구현했습니다</a:t>
            </a:r>
          </a:p>
        </p:txBody>
      </p:sp>
      <p:sp>
        <p:nvSpPr>
          <p:cNvPr id="4" name="dx-group-0-shadow">
            <a:extLst>
              <a:ext uri="{FF2B5EF4-FFF2-40B4-BE49-F238E27FC236}">
                <a16:creationId xmlns:a16="http://schemas.microsoft.com/office/drawing/2014/main" id="{4A752BF2-EA82-4A63-B5FC-84D3E85125DD}"/>
              </a:ext>
            </a:extLst>
          </p:cNvPr>
          <p:cNvSpPr>
            <a:spLocks noGrp="1"/>
          </p:cNvSpPr>
          <p:nvPr/>
        </p:nvSpPr>
        <p:spPr>
          <a:xfrm>
            <a:off x="657225" y="1571625"/>
            <a:ext cx="4000500" cy="4810125"/>
          </a:xfrm>
          <a:prstGeom prst="roundRect">
            <a:avLst>
              <a:gd name="adj" fmla="val 3810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5" name="dx-group-0">
            <a:extLst>
              <a:ext uri="{FF2B5EF4-FFF2-40B4-BE49-F238E27FC236}">
                <a16:creationId xmlns:a16="http://schemas.microsoft.com/office/drawing/2014/main" id="{2DFCC4C9-FA7F-48E2-A06A-CADB1374641F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4000500" cy="4810125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6" name="chip-SEE-200-190">
            <a:extLst>
              <a:ext uri="{FF2B5EF4-FFF2-40B4-BE49-F238E27FC236}">
                <a16:creationId xmlns:a16="http://schemas.microsoft.com/office/drawing/2014/main" id="{89FCA8F3-ECDC-42F9-87BF-FE51319B97EE}"/>
              </a:ext>
            </a:extLst>
          </p:cNvPr>
          <p:cNvSpPr>
            <a:spLocks noGrp="1"/>
          </p:cNvSpPr>
          <p:nvPr/>
        </p:nvSpPr>
        <p:spPr>
          <a:xfrm>
            <a:off x="1905000" y="1809750"/>
            <a:ext cx="1333500" cy="361950"/>
          </a:xfrm>
          <a:prstGeom prst="roundRect">
            <a:avLst>
              <a:gd name="adj" fmla="val 31579"/>
            </a:avLst>
          </a:prstGeom>
          <a:solidFill>
            <a:srgbClr val="EAF0F3"/>
          </a:solidFill>
          <a:ln w="13335">
            <a:solidFill>
              <a:srgbClr val="B8C3C4"/>
            </a:solidFill>
            <a:prstDash val="solid"/>
          </a:ln>
        </p:spPr>
      </p:sp>
      <p:sp>
        <p:nvSpPr>
          <p:cNvPr id="7" name="chip-text-SEE-200-190">
            <a:extLst>
              <a:ext uri="{FF2B5EF4-FFF2-40B4-BE49-F238E27FC236}">
                <a16:creationId xmlns:a16="http://schemas.microsoft.com/office/drawing/2014/main" id="{98400A4C-908E-4A4A-BEDA-7DCEE8BE5EE4}"/>
              </a:ext>
            </a:extLst>
          </p:cNvPr>
          <p:cNvSpPr>
            <a:spLocks noGrp="1"/>
          </p:cNvSpPr>
          <p:nvPr/>
        </p:nvSpPr>
        <p:spPr>
          <a:xfrm>
            <a:off x="1981200" y="1885950"/>
            <a:ext cx="1181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SEE</a:t>
            </a:r>
          </a:p>
        </p:txBody>
      </p:sp>
      <p:sp>
        <p:nvSpPr>
          <p:cNvPr id="8" name="dx-group-title-0">
            <a:extLst>
              <a:ext uri="{FF2B5EF4-FFF2-40B4-BE49-F238E27FC236}">
                <a16:creationId xmlns:a16="http://schemas.microsoft.com/office/drawing/2014/main" id="{43F20FDA-DF3D-4469-8583-7E8F3E02EE19}"/>
              </a:ext>
            </a:extLst>
          </p:cNvPr>
          <p:cNvSpPr>
            <a:spLocks noGrp="1"/>
          </p:cNvSpPr>
          <p:nvPr/>
        </p:nvSpPr>
        <p:spPr>
          <a:xfrm>
            <a:off x="1000125" y="25717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171C22"/>
                </a:solidFill>
              </a:defRPr>
            </a:pPr>
            <a:r>
              <a:rPr sz="2175" b="1">
                <a:solidFill>
                  <a:srgbClr val="171C22"/>
                </a:solidFill>
              </a:rPr>
              <a:t>안전정보 시각화</a:t>
            </a:r>
          </a:p>
        </p:txBody>
      </p:sp>
      <p:sp>
        <p:nvSpPr>
          <p:cNvPr id="9" name="dx-item-0-0">
            <a:extLst>
              <a:ext uri="{FF2B5EF4-FFF2-40B4-BE49-F238E27FC236}">
                <a16:creationId xmlns:a16="http://schemas.microsoft.com/office/drawing/2014/main" id="{38D3AB17-3E1F-4C7E-8620-81D4BA45D826}"/>
              </a:ext>
            </a:extLst>
          </p:cNvPr>
          <p:cNvSpPr>
            <a:spLocks noGrp="1"/>
          </p:cNvSpPr>
          <p:nvPr/>
        </p:nvSpPr>
        <p:spPr>
          <a:xfrm>
            <a:off x="1000125" y="3333750"/>
            <a:ext cx="3143250" cy="495300"/>
          </a:xfrm>
          <a:prstGeom prst="roundRect">
            <a:avLst>
              <a:gd name="adj" fmla="val 23077"/>
            </a:avLst>
          </a:prstGeom>
          <a:solidFill>
            <a:srgbClr val="F2F5F3"/>
          </a:solidFill>
          <a:ln w="13335">
            <a:solidFill>
              <a:srgbClr val="C8D1CF"/>
            </a:solidFill>
            <a:prstDash val="solid"/>
          </a:ln>
        </p:spPr>
      </p:sp>
      <p:sp>
        <p:nvSpPr>
          <p:cNvPr id="10" name="dx-item-text-0-0">
            <a:extLst>
              <a:ext uri="{FF2B5EF4-FFF2-40B4-BE49-F238E27FC236}">
                <a16:creationId xmlns:a16="http://schemas.microsoft.com/office/drawing/2014/main" id="{A47F5F8A-07EC-43D4-B837-8ED8F47053B0}"/>
              </a:ext>
            </a:extLst>
          </p:cNvPr>
          <p:cNvSpPr>
            <a:spLocks noGrp="1"/>
          </p:cNvSpPr>
          <p:nvPr/>
        </p:nvSpPr>
        <p:spPr>
          <a:xfrm>
            <a:off x="1143000" y="34766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CCTV 공공데이터 활용</a:t>
            </a:r>
          </a:p>
        </p:txBody>
      </p:sp>
      <p:sp>
        <p:nvSpPr>
          <p:cNvPr id="11" name="dx-item-0-1">
            <a:extLst>
              <a:ext uri="{FF2B5EF4-FFF2-40B4-BE49-F238E27FC236}">
                <a16:creationId xmlns:a16="http://schemas.microsoft.com/office/drawing/2014/main" id="{D6C52827-C946-4CD1-AFEF-C0713D9BAD42}"/>
              </a:ext>
            </a:extLst>
          </p:cNvPr>
          <p:cNvSpPr>
            <a:spLocks noGrp="1"/>
          </p:cNvSpPr>
          <p:nvPr/>
        </p:nvSpPr>
        <p:spPr>
          <a:xfrm>
            <a:off x="1000125" y="4019550"/>
            <a:ext cx="3143250" cy="495300"/>
          </a:xfrm>
          <a:prstGeom prst="roundRect">
            <a:avLst>
              <a:gd name="adj" fmla="val 23077"/>
            </a:avLst>
          </a:prstGeom>
          <a:solidFill>
            <a:srgbClr val="F2F5F3"/>
          </a:solidFill>
          <a:ln w="13335">
            <a:solidFill>
              <a:srgbClr val="C8D1CF"/>
            </a:solidFill>
            <a:prstDash val="solid"/>
          </a:ln>
        </p:spPr>
      </p:sp>
      <p:sp>
        <p:nvSpPr>
          <p:cNvPr id="12" name="dx-item-text-0-1">
            <a:extLst>
              <a:ext uri="{FF2B5EF4-FFF2-40B4-BE49-F238E27FC236}">
                <a16:creationId xmlns:a16="http://schemas.microsoft.com/office/drawing/2014/main" id="{870F1B27-D5E2-4C93-AD66-6EBA871145DB}"/>
              </a:ext>
            </a:extLst>
          </p:cNvPr>
          <p:cNvSpPr>
            <a:spLocks noGrp="1"/>
          </p:cNvSpPr>
          <p:nvPr/>
        </p:nvSpPr>
        <p:spPr>
          <a:xfrm>
            <a:off x="1143000" y="41624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안전지역 히트맵</a:t>
            </a:r>
          </a:p>
        </p:txBody>
      </p:sp>
      <p:sp>
        <p:nvSpPr>
          <p:cNvPr id="13" name="dx-item-0-2">
            <a:extLst>
              <a:ext uri="{FF2B5EF4-FFF2-40B4-BE49-F238E27FC236}">
                <a16:creationId xmlns:a16="http://schemas.microsoft.com/office/drawing/2014/main" id="{C51DCE0A-6387-45D5-8BDA-047EF908B10A}"/>
              </a:ext>
            </a:extLst>
          </p:cNvPr>
          <p:cNvSpPr>
            <a:spLocks noGrp="1"/>
          </p:cNvSpPr>
          <p:nvPr/>
        </p:nvSpPr>
        <p:spPr>
          <a:xfrm>
            <a:off x="1000125" y="4705350"/>
            <a:ext cx="3143250" cy="495300"/>
          </a:xfrm>
          <a:prstGeom prst="roundRect">
            <a:avLst>
              <a:gd name="adj" fmla="val 23077"/>
            </a:avLst>
          </a:prstGeom>
          <a:solidFill>
            <a:srgbClr val="F2F5F3"/>
          </a:solidFill>
          <a:ln w="13335">
            <a:solidFill>
              <a:srgbClr val="C8D1CF"/>
            </a:solidFill>
            <a:prstDash val="solid"/>
          </a:ln>
        </p:spPr>
      </p:sp>
      <p:sp>
        <p:nvSpPr>
          <p:cNvPr id="14" name="dx-item-text-0-2">
            <a:extLst>
              <a:ext uri="{FF2B5EF4-FFF2-40B4-BE49-F238E27FC236}">
                <a16:creationId xmlns:a16="http://schemas.microsoft.com/office/drawing/2014/main" id="{CDACF0B1-0241-43BC-8077-65BA4A1A3506}"/>
              </a:ext>
            </a:extLst>
          </p:cNvPr>
          <p:cNvSpPr>
            <a:spLocks noGrp="1"/>
          </p:cNvSpPr>
          <p:nvPr/>
        </p:nvSpPr>
        <p:spPr>
          <a:xfrm>
            <a:off x="1143000" y="48482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경찰시설 위치·지역 안전도</a:t>
            </a:r>
          </a:p>
        </p:txBody>
      </p:sp>
      <p:sp>
        <p:nvSpPr>
          <p:cNvPr id="15" name="dx-note-0">
            <a:extLst>
              <a:ext uri="{FF2B5EF4-FFF2-40B4-BE49-F238E27FC236}">
                <a16:creationId xmlns:a16="http://schemas.microsoft.com/office/drawing/2014/main" id="{8BFA7625-8B8A-4C3A-9A43-09102B178F3A}"/>
              </a:ext>
            </a:extLst>
          </p:cNvPr>
          <p:cNvSpPr>
            <a:spLocks noGrp="1"/>
          </p:cNvSpPr>
          <p:nvPr/>
        </p:nvSpPr>
        <p:spPr>
          <a:xfrm>
            <a:off x="904875" y="561975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87078"/>
                </a:solidFill>
              </a:defRPr>
            </a:pPr>
            <a:r>
              <a:rPr sz="1200" b="0">
                <a:solidFill>
                  <a:srgbClr val="687078"/>
                </a:solidFill>
              </a:rPr>
              <a:t>지금 주변이 얼마나 안전한지 확인</a:t>
            </a:r>
          </a:p>
        </p:txBody>
      </p:sp>
      <p:sp>
        <p:nvSpPr>
          <p:cNvPr id="16" name="dx-group-1-shadow">
            <a:extLst>
              <a:ext uri="{FF2B5EF4-FFF2-40B4-BE49-F238E27FC236}">
                <a16:creationId xmlns:a16="http://schemas.microsoft.com/office/drawing/2014/main" id="{5AC9F8FF-A1BF-49A3-B7E4-56394139AC8E}"/>
              </a:ext>
            </a:extLst>
          </p:cNvPr>
          <p:cNvSpPr>
            <a:spLocks noGrp="1"/>
          </p:cNvSpPr>
          <p:nvPr/>
        </p:nvSpPr>
        <p:spPr>
          <a:xfrm>
            <a:off x="4943475" y="1571625"/>
            <a:ext cx="4000500" cy="4810125"/>
          </a:xfrm>
          <a:prstGeom prst="roundRect">
            <a:avLst>
              <a:gd name="adj" fmla="val 3810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7" name="dx-group-1">
            <a:extLst>
              <a:ext uri="{FF2B5EF4-FFF2-40B4-BE49-F238E27FC236}">
                <a16:creationId xmlns:a16="http://schemas.microsoft.com/office/drawing/2014/main" id="{2162799B-B2C7-4132-934F-6AAD8A0B8265}"/>
              </a:ext>
            </a:extLst>
          </p:cNvPr>
          <p:cNvSpPr>
            <a:spLocks noGrp="1"/>
          </p:cNvSpPr>
          <p:nvPr/>
        </p:nvSpPr>
        <p:spPr>
          <a:xfrm>
            <a:off x="4857750" y="1476375"/>
            <a:ext cx="4000500" cy="4810125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8" name="chip-GUIDE-650-190">
            <a:extLst>
              <a:ext uri="{FF2B5EF4-FFF2-40B4-BE49-F238E27FC236}">
                <a16:creationId xmlns:a16="http://schemas.microsoft.com/office/drawing/2014/main" id="{344D8515-F3B1-41D8-8E98-96D6D159DFBE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1333500" cy="361950"/>
          </a:xfrm>
          <a:prstGeom prst="roundRect">
            <a:avLst>
              <a:gd name="adj" fmla="val 31579"/>
            </a:avLst>
          </a:prstGeom>
          <a:solidFill>
            <a:srgbClr val="FFF1E7"/>
          </a:solidFill>
          <a:ln w="13335">
            <a:solidFill>
              <a:srgbClr val="B8C3C4"/>
            </a:solidFill>
            <a:prstDash val="solid"/>
          </a:ln>
        </p:spPr>
      </p:sp>
      <p:sp>
        <p:nvSpPr>
          <p:cNvPr id="19" name="chip-text-GUIDE-650-190">
            <a:extLst>
              <a:ext uri="{FF2B5EF4-FFF2-40B4-BE49-F238E27FC236}">
                <a16:creationId xmlns:a16="http://schemas.microsoft.com/office/drawing/2014/main" id="{A9A2A848-6655-4132-83E6-0287508B836D}"/>
              </a:ext>
            </a:extLst>
          </p:cNvPr>
          <p:cNvSpPr>
            <a:spLocks noGrp="1"/>
          </p:cNvSpPr>
          <p:nvPr/>
        </p:nvSpPr>
        <p:spPr>
          <a:xfrm>
            <a:off x="6267450" y="1885950"/>
            <a:ext cx="1181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D96835"/>
                </a:solidFill>
              </a:defRPr>
            </a:pPr>
            <a:r>
              <a:rPr sz="1275" b="1">
                <a:solidFill>
                  <a:srgbClr val="D96835"/>
                </a:solidFill>
              </a:rPr>
              <a:t>GUIDE</a:t>
            </a:r>
          </a:p>
        </p:txBody>
      </p:sp>
      <p:sp>
        <p:nvSpPr>
          <p:cNvPr id="20" name="dx-group-title-1">
            <a:extLst>
              <a:ext uri="{FF2B5EF4-FFF2-40B4-BE49-F238E27FC236}">
                <a16:creationId xmlns:a16="http://schemas.microsoft.com/office/drawing/2014/main" id="{C4BC77A0-44B3-451E-B1C6-AF8E0C15D835}"/>
              </a:ext>
            </a:extLst>
          </p:cNvPr>
          <p:cNvSpPr>
            <a:spLocks noGrp="1"/>
          </p:cNvSpPr>
          <p:nvPr/>
        </p:nvSpPr>
        <p:spPr>
          <a:xfrm>
            <a:off x="5286375" y="25717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171C22"/>
                </a:solidFill>
              </a:defRPr>
            </a:pPr>
            <a:r>
              <a:rPr sz="2175" b="1">
                <a:solidFill>
                  <a:srgbClr val="171C22"/>
                </a:solidFill>
              </a:rPr>
              <a:t>안전귀가 안내</a:t>
            </a:r>
          </a:p>
        </p:txBody>
      </p:sp>
      <p:sp>
        <p:nvSpPr>
          <p:cNvPr id="21" name="dx-item-1-0">
            <a:extLst>
              <a:ext uri="{FF2B5EF4-FFF2-40B4-BE49-F238E27FC236}">
                <a16:creationId xmlns:a16="http://schemas.microsoft.com/office/drawing/2014/main" id="{ADE3644B-0AB4-4BF9-AC2E-F385BCFEB13D}"/>
              </a:ext>
            </a:extLst>
          </p:cNvPr>
          <p:cNvSpPr>
            <a:spLocks noGrp="1"/>
          </p:cNvSpPr>
          <p:nvPr/>
        </p:nvSpPr>
        <p:spPr>
          <a:xfrm>
            <a:off x="5286375" y="3333750"/>
            <a:ext cx="3143250" cy="495300"/>
          </a:xfrm>
          <a:prstGeom prst="roundRect">
            <a:avLst>
              <a:gd name="adj" fmla="val 23077"/>
            </a:avLst>
          </a:prstGeom>
          <a:solidFill>
            <a:srgbClr val="F2F5F3"/>
          </a:solidFill>
          <a:ln w="13335">
            <a:solidFill>
              <a:srgbClr val="C8D1CF"/>
            </a:solidFill>
            <a:prstDash val="solid"/>
          </a:ln>
        </p:spPr>
      </p:sp>
      <p:sp>
        <p:nvSpPr>
          <p:cNvPr id="22" name="dx-item-text-1-0">
            <a:extLst>
              <a:ext uri="{FF2B5EF4-FFF2-40B4-BE49-F238E27FC236}">
                <a16:creationId xmlns:a16="http://schemas.microsoft.com/office/drawing/2014/main" id="{2D8E0D3C-70B1-4295-A762-6C49CEB1E0AD}"/>
              </a:ext>
            </a:extLst>
          </p:cNvPr>
          <p:cNvSpPr>
            <a:spLocks noGrp="1"/>
          </p:cNvSpPr>
          <p:nvPr/>
        </p:nvSpPr>
        <p:spPr>
          <a:xfrm>
            <a:off x="5429250" y="34766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최단경로·안전경로 비교</a:t>
            </a:r>
          </a:p>
        </p:txBody>
      </p:sp>
      <p:sp>
        <p:nvSpPr>
          <p:cNvPr id="23" name="dx-item-1-1">
            <a:extLst>
              <a:ext uri="{FF2B5EF4-FFF2-40B4-BE49-F238E27FC236}">
                <a16:creationId xmlns:a16="http://schemas.microsoft.com/office/drawing/2014/main" id="{2A27D1AC-0E8C-4340-97E2-EC641321874B}"/>
              </a:ext>
            </a:extLst>
          </p:cNvPr>
          <p:cNvSpPr>
            <a:spLocks noGrp="1"/>
          </p:cNvSpPr>
          <p:nvPr/>
        </p:nvSpPr>
        <p:spPr>
          <a:xfrm>
            <a:off x="5286375" y="4019550"/>
            <a:ext cx="3143250" cy="495300"/>
          </a:xfrm>
          <a:prstGeom prst="roundRect">
            <a:avLst>
              <a:gd name="adj" fmla="val 23077"/>
            </a:avLst>
          </a:prstGeom>
          <a:solidFill>
            <a:srgbClr val="FFF5EC"/>
          </a:solidFill>
          <a:ln w="13335">
            <a:solidFill>
              <a:srgbClr val="C8D1CF"/>
            </a:solidFill>
            <a:prstDash val="solid"/>
          </a:ln>
        </p:spPr>
      </p:sp>
      <p:sp>
        <p:nvSpPr>
          <p:cNvPr id="24" name="dx-item-text-1-1">
            <a:extLst>
              <a:ext uri="{FF2B5EF4-FFF2-40B4-BE49-F238E27FC236}">
                <a16:creationId xmlns:a16="http://schemas.microsoft.com/office/drawing/2014/main" id="{324C797D-FAD5-4B84-BABE-5B423E296B7E}"/>
              </a:ext>
            </a:extLst>
          </p:cNvPr>
          <p:cNvSpPr>
            <a:spLocks noGrp="1"/>
          </p:cNvSpPr>
          <p:nvPr/>
        </p:nvSpPr>
        <p:spPr>
          <a:xfrm>
            <a:off x="5429250" y="41624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D96835"/>
                </a:solidFill>
              </a:defRPr>
            </a:pPr>
            <a:r>
              <a:rPr sz="1350" b="1">
                <a:solidFill>
                  <a:srgbClr val="D96835"/>
                </a:solidFill>
              </a:rPr>
              <a:t>CCTV 사각지대 위험구간</a:t>
            </a:r>
          </a:p>
        </p:txBody>
      </p:sp>
      <p:sp>
        <p:nvSpPr>
          <p:cNvPr id="25" name="dx-item-1-2">
            <a:extLst>
              <a:ext uri="{FF2B5EF4-FFF2-40B4-BE49-F238E27FC236}">
                <a16:creationId xmlns:a16="http://schemas.microsoft.com/office/drawing/2014/main" id="{9183B297-7F65-4F61-9A66-8674ED096F02}"/>
              </a:ext>
            </a:extLst>
          </p:cNvPr>
          <p:cNvSpPr>
            <a:spLocks noGrp="1"/>
          </p:cNvSpPr>
          <p:nvPr/>
        </p:nvSpPr>
        <p:spPr>
          <a:xfrm>
            <a:off x="5286375" y="4705350"/>
            <a:ext cx="3143250" cy="495300"/>
          </a:xfrm>
          <a:prstGeom prst="roundRect">
            <a:avLst>
              <a:gd name="adj" fmla="val 23077"/>
            </a:avLst>
          </a:prstGeom>
          <a:solidFill>
            <a:srgbClr val="F2F5F3"/>
          </a:solidFill>
          <a:ln w="13335">
            <a:solidFill>
              <a:srgbClr val="C8D1CF"/>
            </a:solidFill>
            <a:prstDash val="solid"/>
          </a:ln>
        </p:spPr>
      </p:sp>
      <p:sp>
        <p:nvSpPr>
          <p:cNvPr id="26" name="dx-item-text-1-2">
            <a:extLst>
              <a:ext uri="{FF2B5EF4-FFF2-40B4-BE49-F238E27FC236}">
                <a16:creationId xmlns:a16="http://schemas.microsoft.com/office/drawing/2014/main" id="{D2A52586-8F74-4624-905F-F2758554DDE6}"/>
              </a:ext>
            </a:extLst>
          </p:cNvPr>
          <p:cNvSpPr>
            <a:spLocks noGrp="1"/>
          </p:cNvSpPr>
          <p:nvPr/>
        </p:nvSpPr>
        <p:spPr>
          <a:xfrm>
            <a:off x="5429250" y="48482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단계별 세부 길안내</a:t>
            </a:r>
          </a:p>
        </p:txBody>
      </p:sp>
      <p:sp>
        <p:nvSpPr>
          <p:cNvPr id="27" name="dx-note-1">
            <a:extLst>
              <a:ext uri="{FF2B5EF4-FFF2-40B4-BE49-F238E27FC236}">
                <a16:creationId xmlns:a16="http://schemas.microsoft.com/office/drawing/2014/main" id="{2FF90A5F-C6AE-4B40-8434-CF6512DD571A}"/>
              </a:ext>
            </a:extLst>
          </p:cNvPr>
          <p:cNvSpPr>
            <a:spLocks noGrp="1"/>
          </p:cNvSpPr>
          <p:nvPr/>
        </p:nvSpPr>
        <p:spPr>
          <a:xfrm>
            <a:off x="5191125" y="561975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87078"/>
                </a:solidFill>
              </a:defRPr>
            </a:pPr>
            <a:r>
              <a:rPr sz="1200" b="0">
                <a:solidFill>
                  <a:srgbClr val="687078"/>
                </a:solidFill>
              </a:rPr>
              <a:t>빠른 길과 안전한 길을 근거로 선택</a:t>
            </a:r>
          </a:p>
        </p:txBody>
      </p:sp>
      <p:sp>
        <p:nvSpPr>
          <p:cNvPr id="28" name="dx-group-2-shadow">
            <a:extLst>
              <a:ext uri="{FF2B5EF4-FFF2-40B4-BE49-F238E27FC236}">
                <a16:creationId xmlns:a16="http://schemas.microsoft.com/office/drawing/2014/main" id="{9C5B0CEB-A26F-4799-9772-B00084274E18}"/>
              </a:ext>
            </a:extLst>
          </p:cNvPr>
          <p:cNvSpPr>
            <a:spLocks noGrp="1"/>
          </p:cNvSpPr>
          <p:nvPr/>
        </p:nvSpPr>
        <p:spPr>
          <a:xfrm>
            <a:off x="9229725" y="1571625"/>
            <a:ext cx="4000500" cy="4810125"/>
          </a:xfrm>
          <a:prstGeom prst="roundRect">
            <a:avLst>
              <a:gd name="adj" fmla="val 3810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29" name="dx-group-2">
            <a:extLst>
              <a:ext uri="{FF2B5EF4-FFF2-40B4-BE49-F238E27FC236}">
                <a16:creationId xmlns:a16="http://schemas.microsoft.com/office/drawing/2014/main" id="{972FE566-2291-4430-9BDA-B8AC42C253AF}"/>
              </a:ext>
            </a:extLst>
          </p:cNvPr>
          <p:cNvSpPr>
            <a:spLocks noGrp="1"/>
          </p:cNvSpPr>
          <p:nvPr/>
        </p:nvSpPr>
        <p:spPr>
          <a:xfrm>
            <a:off x="9144000" y="1476375"/>
            <a:ext cx="4000500" cy="4810125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30" name="chip-SHARE-1100-190">
            <a:extLst>
              <a:ext uri="{FF2B5EF4-FFF2-40B4-BE49-F238E27FC236}">
                <a16:creationId xmlns:a16="http://schemas.microsoft.com/office/drawing/2014/main" id="{5F736013-64AE-4691-867E-F1DA9ED1EAB0}"/>
              </a:ext>
            </a:extLst>
          </p:cNvPr>
          <p:cNvSpPr>
            <a:spLocks noGrp="1"/>
          </p:cNvSpPr>
          <p:nvPr/>
        </p:nvSpPr>
        <p:spPr>
          <a:xfrm>
            <a:off x="10477500" y="1809750"/>
            <a:ext cx="1333500" cy="361950"/>
          </a:xfrm>
          <a:prstGeom prst="roundRect">
            <a:avLst>
              <a:gd name="adj" fmla="val 31579"/>
            </a:avLst>
          </a:prstGeom>
          <a:solidFill>
            <a:srgbClr val="EAF0F3"/>
          </a:solidFill>
          <a:ln w="13335">
            <a:solidFill>
              <a:srgbClr val="B8C3C4"/>
            </a:solidFill>
            <a:prstDash val="solid"/>
          </a:ln>
        </p:spPr>
      </p:sp>
      <p:sp>
        <p:nvSpPr>
          <p:cNvPr id="31" name="chip-text-SHARE-1100-190">
            <a:extLst>
              <a:ext uri="{FF2B5EF4-FFF2-40B4-BE49-F238E27FC236}">
                <a16:creationId xmlns:a16="http://schemas.microsoft.com/office/drawing/2014/main" id="{410A9AE0-E42B-405B-B0D2-9D11F9CBA68B}"/>
              </a:ext>
            </a:extLst>
          </p:cNvPr>
          <p:cNvSpPr>
            <a:spLocks noGrp="1"/>
          </p:cNvSpPr>
          <p:nvPr/>
        </p:nvSpPr>
        <p:spPr>
          <a:xfrm>
            <a:off x="10553700" y="1885950"/>
            <a:ext cx="1181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52796F"/>
                </a:solidFill>
              </a:defRPr>
            </a:pPr>
            <a:r>
              <a:rPr sz="1275" b="1">
                <a:solidFill>
                  <a:srgbClr val="52796F"/>
                </a:solidFill>
              </a:rPr>
              <a:t>SHARE</a:t>
            </a:r>
          </a:p>
        </p:txBody>
      </p:sp>
      <p:sp>
        <p:nvSpPr>
          <p:cNvPr id="32" name="dx-group-title-2">
            <a:extLst>
              <a:ext uri="{FF2B5EF4-FFF2-40B4-BE49-F238E27FC236}">
                <a16:creationId xmlns:a16="http://schemas.microsoft.com/office/drawing/2014/main" id="{651AC164-C69D-4818-9A75-C61A35F96EAB}"/>
              </a:ext>
            </a:extLst>
          </p:cNvPr>
          <p:cNvSpPr>
            <a:spLocks noGrp="1"/>
          </p:cNvSpPr>
          <p:nvPr/>
        </p:nvSpPr>
        <p:spPr>
          <a:xfrm>
            <a:off x="9572625" y="25717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171C22"/>
                </a:solidFill>
              </a:defRPr>
            </a:pPr>
            <a:r>
              <a:rPr sz="2175" b="1">
                <a:solidFill>
                  <a:srgbClr val="171C22"/>
                </a:solidFill>
              </a:rPr>
              <a:t>실시간 정보 공유</a:t>
            </a:r>
          </a:p>
        </p:txBody>
      </p:sp>
      <p:sp>
        <p:nvSpPr>
          <p:cNvPr id="33" name="dx-item-2-0">
            <a:extLst>
              <a:ext uri="{FF2B5EF4-FFF2-40B4-BE49-F238E27FC236}">
                <a16:creationId xmlns:a16="http://schemas.microsoft.com/office/drawing/2014/main" id="{EF8FA028-C819-4C4C-9334-2C49AEC89C03}"/>
              </a:ext>
            </a:extLst>
          </p:cNvPr>
          <p:cNvSpPr>
            <a:spLocks noGrp="1"/>
          </p:cNvSpPr>
          <p:nvPr/>
        </p:nvSpPr>
        <p:spPr>
          <a:xfrm>
            <a:off x="9572625" y="3333750"/>
            <a:ext cx="3143250" cy="495300"/>
          </a:xfrm>
          <a:prstGeom prst="roundRect">
            <a:avLst>
              <a:gd name="adj" fmla="val 23077"/>
            </a:avLst>
          </a:prstGeom>
          <a:solidFill>
            <a:srgbClr val="F2F5F3"/>
          </a:solidFill>
          <a:ln w="13335">
            <a:solidFill>
              <a:srgbClr val="C8D1CF"/>
            </a:solidFill>
            <a:prstDash val="solid"/>
          </a:ln>
        </p:spPr>
      </p:sp>
      <p:sp>
        <p:nvSpPr>
          <p:cNvPr id="34" name="dx-item-text-2-0">
            <a:extLst>
              <a:ext uri="{FF2B5EF4-FFF2-40B4-BE49-F238E27FC236}">
                <a16:creationId xmlns:a16="http://schemas.microsoft.com/office/drawing/2014/main" id="{ECECFD26-13A4-4A22-AECC-D44E1C5CFDBA}"/>
              </a:ext>
            </a:extLst>
          </p:cNvPr>
          <p:cNvSpPr>
            <a:spLocks noGrp="1"/>
          </p:cNvSpPr>
          <p:nvPr/>
        </p:nvSpPr>
        <p:spPr>
          <a:xfrm>
            <a:off x="9715500" y="34766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범죄정보 챗봇</a:t>
            </a:r>
          </a:p>
        </p:txBody>
      </p:sp>
      <p:sp>
        <p:nvSpPr>
          <p:cNvPr id="35" name="dx-item-2-1">
            <a:extLst>
              <a:ext uri="{FF2B5EF4-FFF2-40B4-BE49-F238E27FC236}">
                <a16:creationId xmlns:a16="http://schemas.microsoft.com/office/drawing/2014/main" id="{AAD14C40-49F7-47C5-8AA8-5D00D38FCAD8}"/>
              </a:ext>
            </a:extLst>
          </p:cNvPr>
          <p:cNvSpPr>
            <a:spLocks noGrp="1"/>
          </p:cNvSpPr>
          <p:nvPr/>
        </p:nvSpPr>
        <p:spPr>
          <a:xfrm>
            <a:off x="9572625" y="4019550"/>
            <a:ext cx="3143250" cy="495300"/>
          </a:xfrm>
          <a:prstGeom prst="roundRect">
            <a:avLst>
              <a:gd name="adj" fmla="val 23077"/>
            </a:avLst>
          </a:prstGeom>
          <a:solidFill>
            <a:srgbClr val="F2F5F3"/>
          </a:solidFill>
          <a:ln w="13335">
            <a:solidFill>
              <a:srgbClr val="C8D1CF"/>
            </a:solidFill>
            <a:prstDash val="solid"/>
          </a:ln>
        </p:spPr>
      </p:sp>
      <p:sp>
        <p:nvSpPr>
          <p:cNvPr id="36" name="dx-item-text-2-1">
            <a:extLst>
              <a:ext uri="{FF2B5EF4-FFF2-40B4-BE49-F238E27FC236}">
                <a16:creationId xmlns:a16="http://schemas.microsoft.com/office/drawing/2014/main" id="{BEA0663F-A3F2-4F99-8FBF-800B7025798D}"/>
              </a:ext>
            </a:extLst>
          </p:cNvPr>
          <p:cNvSpPr>
            <a:spLocks noGrp="1"/>
          </p:cNvSpPr>
          <p:nvPr/>
        </p:nvSpPr>
        <p:spPr>
          <a:xfrm>
            <a:off x="9715500" y="41624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네이버 기사 자동 최신화</a:t>
            </a:r>
          </a:p>
        </p:txBody>
      </p:sp>
      <p:sp>
        <p:nvSpPr>
          <p:cNvPr id="37" name="dx-item-2-2">
            <a:extLst>
              <a:ext uri="{FF2B5EF4-FFF2-40B4-BE49-F238E27FC236}">
                <a16:creationId xmlns:a16="http://schemas.microsoft.com/office/drawing/2014/main" id="{77195F02-2074-4F31-9DF8-9556043B650E}"/>
              </a:ext>
            </a:extLst>
          </p:cNvPr>
          <p:cNvSpPr>
            <a:spLocks noGrp="1"/>
          </p:cNvSpPr>
          <p:nvPr/>
        </p:nvSpPr>
        <p:spPr>
          <a:xfrm>
            <a:off x="9572625" y="4705350"/>
            <a:ext cx="3143250" cy="495300"/>
          </a:xfrm>
          <a:prstGeom prst="roundRect">
            <a:avLst>
              <a:gd name="adj" fmla="val 23077"/>
            </a:avLst>
          </a:prstGeom>
          <a:solidFill>
            <a:srgbClr val="F2F5F3"/>
          </a:solidFill>
          <a:ln w="13335">
            <a:solidFill>
              <a:srgbClr val="C8D1CF"/>
            </a:solidFill>
            <a:prstDash val="solid"/>
          </a:ln>
        </p:spPr>
      </p:sp>
      <p:sp>
        <p:nvSpPr>
          <p:cNvPr id="38" name="dx-item-text-2-2">
            <a:extLst>
              <a:ext uri="{FF2B5EF4-FFF2-40B4-BE49-F238E27FC236}">
                <a16:creationId xmlns:a16="http://schemas.microsoft.com/office/drawing/2014/main" id="{22579ACC-2627-4353-B0DD-FE85C337C741}"/>
              </a:ext>
            </a:extLst>
          </p:cNvPr>
          <p:cNvSpPr>
            <a:spLocks noGrp="1"/>
          </p:cNvSpPr>
          <p:nvPr/>
        </p:nvSpPr>
        <p:spPr>
          <a:xfrm>
            <a:off x="9715500" y="48482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커뮤니티 위험구간 제보</a:t>
            </a:r>
          </a:p>
        </p:txBody>
      </p:sp>
      <p:sp>
        <p:nvSpPr>
          <p:cNvPr id="39" name="dx-note-2">
            <a:extLst>
              <a:ext uri="{FF2B5EF4-FFF2-40B4-BE49-F238E27FC236}">
                <a16:creationId xmlns:a16="http://schemas.microsoft.com/office/drawing/2014/main" id="{C325AAAB-555B-4649-A21D-5A6152CC3ACD}"/>
              </a:ext>
            </a:extLst>
          </p:cNvPr>
          <p:cNvSpPr>
            <a:spLocks noGrp="1"/>
          </p:cNvSpPr>
          <p:nvPr/>
        </p:nvSpPr>
        <p:spPr>
          <a:xfrm>
            <a:off x="9477375" y="561975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87078"/>
                </a:solidFill>
              </a:defRPr>
            </a:pPr>
            <a:r>
              <a:rPr sz="1200" b="0">
                <a:solidFill>
                  <a:srgbClr val="687078"/>
                </a:solidFill>
              </a:rPr>
              <a:t>공공데이터의 공백을 최신 정보로 보완</a:t>
            </a:r>
          </a:p>
        </p:txBody>
      </p:sp>
      <p:sp>
        <p:nvSpPr>
          <p:cNvPr id="40" name="dx-overview-close">
            <a:extLst>
              <a:ext uri="{FF2B5EF4-FFF2-40B4-BE49-F238E27FC236}">
                <a16:creationId xmlns:a16="http://schemas.microsoft.com/office/drawing/2014/main" id="{FD6BDD13-BB51-44C4-B3B8-7D35101F41B7}"/>
              </a:ext>
            </a:extLst>
          </p:cNvPr>
          <p:cNvSpPr>
            <a:spLocks noGrp="1"/>
          </p:cNvSpPr>
          <p:nvPr/>
        </p:nvSpPr>
        <p:spPr>
          <a:xfrm>
            <a:off x="1524000" y="66675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8324A"/>
                </a:solidFill>
              </a:defRPr>
            </a:pPr>
            <a:r>
              <a:rPr sz="1725" b="1">
                <a:solidFill>
                  <a:srgbClr val="18324A"/>
                </a:solidFill>
              </a:rPr>
              <a:t>공공데이터 · 경로 알고리즘 · 최신 정보 · 주민 제보를 하나의 귀가 경험으로 연결합니다.</a:t>
            </a:r>
          </a:p>
        </p:txBody>
      </p:sp>
    </p:spTree>
    <p:extLst>
      <p:ext uri="{BB962C8B-B14F-4D97-AF65-F5344CB8AC3E}">
        <p14:creationId xmlns:p14="http://schemas.microsoft.com/office/powerpoint/2010/main" val="1587465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x-route-bg">
            <a:extLst>
              <a:ext uri="{FF2B5EF4-FFF2-40B4-BE49-F238E27FC236}">
                <a16:creationId xmlns:a16="http://schemas.microsoft.com/office/drawing/2014/main" id="{F2709007-60AA-4B8D-81A1-E56207EA9F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D71C98B2-AF7F-499B-A0AD-98DFC85074F6}"/>
              </a:ext>
            </a:extLst>
          </p:cNvPr>
          <p:cNvSpPr>
            <a:spLocks noGrp="1"/>
          </p:cNvSpPr>
          <p:nvPr/>
        </p:nvSpPr>
        <p:spPr>
          <a:xfrm>
            <a:off x="523875" y="419100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D96835"/>
                </a:solidFill>
              </a:defRPr>
            </a:pPr>
            <a:r>
              <a:rPr sz="2100" b="1">
                <a:solidFill>
                  <a:srgbClr val="D96835"/>
                </a:solidFill>
              </a:rPr>
              <a:t>DX.안전귀가 안내</a:t>
            </a:r>
          </a:p>
        </p:txBody>
      </p:sp>
      <p:sp>
        <p:nvSpPr>
          <p:cNvPr id="3" name="header-rule">
            <a:extLst>
              <a:ext uri="{FF2B5EF4-FFF2-40B4-BE49-F238E27FC236}">
                <a16:creationId xmlns:a16="http://schemas.microsoft.com/office/drawing/2014/main" id="{471BE056-0061-4C0D-BBD1-1197C55EA5F8}"/>
              </a:ext>
            </a:extLst>
          </p:cNvPr>
          <p:cNvSpPr>
            <a:spLocks noGrp="1"/>
          </p:cNvSpPr>
          <p:nvPr/>
        </p:nvSpPr>
        <p:spPr>
          <a:xfrm>
            <a:off x="3143250" y="628650"/>
            <a:ext cx="4000500" cy="19050"/>
          </a:xfrm>
          <a:prstGeom prst="rect">
            <a:avLst/>
          </a:prstGeom>
          <a:solidFill>
            <a:srgbClr val="565B60"/>
          </a:solidFill>
          <a:ln w="0">
            <a:solidFill>
              <a:srgbClr val="565B60"/>
            </a:solidFill>
            <a:prstDash val="solid"/>
          </a:ln>
        </p:spPr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30B657A6-2943-4432-BD60-4053A2C1872C}"/>
              </a:ext>
            </a:extLst>
          </p:cNvPr>
          <p:cNvSpPr>
            <a:spLocks noGrp="1"/>
          </p:cNvSpPr>
          <p:nvPr/>
        </p:nvSpPr>
        <p:spPr>
          <a:xfrm>
            <a:off x="7334250" y="342900"/>
            <a:ext cx="5857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550" b="1">
                <a:solidFill>
                  <a:srgbClr val="171C22"/>
                </a:solidFill>
              </a:defRPr>
            </a:pPr>
            <a:r>
              <a:rPr sz="2550" b="1" dirty="0">
                <a:solidFill>
                  <a:srgbClr val="171C22"/>
                </a:solidFill>
              </a:rPr>
              <a:t>두 </a:t>
            </a:r>
            <a:r>
              <a:rPr sz="2550" b="1" dirty="0" err="1">
                <a:solidFill>
                  <a:srgbClr val="171C22"/>
                </a:solidFill>
              </a:rPr>
              <a:t>경로를</a:t>
            </a:r>
            <a:r>
              <a:rPr sz="2550" b="1" dirty="0">
                <a:solidFill>
                  <a:srgbClr val="171C22"/>
                </a:solidFill>
              </a:rPr>
              <a:t> </a:t>
            </a:r>
            <a:r>
              <a:rPr sz="2550" b="1" dirty="0" err="1">
                <a:solidFill>
                  <a:srgbClr val="171C22"/>
                </a:solidFill>
              </a:rPr>
              <a:t>안전점수로</a:t>
            </a:r>
            <a:r>
              <a:rPr sz="2550" b="1" dirty="0">
                <a:solidFill>
                  <a:srgbClr val="171C22"/>
                </a:solidFill>
              </a:rPr>
              <a:t> </a:t>
            </a:r>
            <a:r>
              <a:rPr sz="2550" b="1" dirty="0" err="1">
                <a:solidFill>
                  <a:srgbClr val="171C22"/>
                </a:solidFill>
              </a:rPr>
              <a:t>비교합니다</a:t>
            </a:r>
            <a:endParaRPr sz="2550" b="1" dirty="0">
              <a:solidFill>
                <a:srgbClr val="171C22"/>
              </a:solidFill>
            </a:endParaRPr>
          </a:p>
        </p:txBody>
      </p:sp>
      <p:sp>
        <p:nvSpPr>
          <p:cNvPr id="5" name="route-screen-card-shadow">
            <a:extLst>
              <a:ext uri="{FF2B5EF4-FFF2-40B4-BE49-F238E27FC236}">
                <a16:creationId xmlns:a16="http://schemas.microsoft.com/office/drawing/2014/main" id="{1E3FE6CC-EB36-4F65-BCBD-3417B72A3CED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9048750" cy="5619750"/>
          </a:xfrm>
          <a:prstGeom prst="roundRect">
            <a:avLst>
              <a:gd name="adj" fmla="val 2712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6" name="route-screen-card">
            <a:extLst>
              <a:ext uri="{FF2B5EF4-FFF2-40B4-BE49-F238E27FC236}">
                <a16:creationId xmlns:a16="http://schemas.microsoft.com/office/drawing/2014/main" id="{5B94B872-06BE-4448-A5BB-AC50B887B2F7}"/>
              </a:ext>
            </a:extLst>
          </p:cNvPr>
          <p:cNvSpPr>
            <a:spLocks noGrp="1"/>
          </p:cNvSpPr>
          <p:nvPr/>
        </p:nvSpPr>
        <p:spPr>
          <a:xfrm>
            <a:off x="523875" y="1238250"/>
            <a:ext cx="9048750" cy="561975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3"/>
          <a:srcRect t="1304" b="1304"/>
          <a:stretch>
            <a:fillRect/>
          </a:stretch>
        </p:blipFill>
        <p:spPr>
          <a:xfrm>
            <a:off x="666750" y="1381125"/>
            <a:ext cx="8763000" cy="5334000"/>
          </a:xfrm>
          <a:prstGeom prst="roundRect">
            <a:avLst>
              <a:gd name="adj" fmla="val 2143"/>
            </a:avLst>
          </a:prstGeom>
        </p:spPr>
      </p:pic>
      <p:sp>
        <p:nvSpPr>
          <p:cNvPr id="8" name="route-callout-0-shadow">
            <a:extLst>
              <a:ext uri="{FF2B5EF4-FFF2-40B4-BE49-F238E27FC236}">
                <a16:creationId xmlns:a16="http://schemas.microsoft.com/office/drawing/2014/main" id="{BCC6024A-2F2A-49D8-981B-DA565E1E8713}"/>
              </a:ext>
            </a:extLst>
          </p:cNvPr>
          <p:cNvSpPr>
            <a:spLocks noGrp="1"/>
          </p:cNvSpPr>
          <p:nvPr/>
        </p:nvSpPr>
        <p:spPr>
          <a:xfrm>
            <a:off x="9944100" y="1476375"/>
            <a:ext cx="3190875" cy="1476375"/>
          </a:xfrm>
          <a:prstGeom prst="roundRect">
            <a:avLst>
              <a:gd name="adj" fmla="val 10323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9" name="route-callout-0">
            <a:extLst>
              <a:ext uri="{FF2B5EF4-FFF2-40B4-BE49-F238E27FC236}">
                <a16:creationId xmlns:a16="http://schemas.microsoft.com/office/drawing/2014/main" id="{2E43311E-F640-4A26-85B3-E8F2BB74F5E7}"/>
              </a:ext>
            </a:extLst>
          </p:cNvPr>
          <p:cNvSpPr>
            <a:spLocks noGrp="1"/>
          </p:cNvSpPr>
          <p:nvPr/>
        </p:nvSpPr>
        <p:spPr>
          <a:xfrm>
            <a:off x="9858375" y="1381125"/>
            <a:ext cx="3190875" cy="1476375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0" name="route-callout-num-0">
            <a:extLst>
              <a:ext uri="{FF2B5EF4-FFF2-40B4-BE49-F238E27FC236}">
                <a16:creationId xmlns:a16="http://schemas.microsoft.com/office/drawing/2014/main" id="{674D6E11-4AF9-4E88-97CE-EDE417B49167}"/>
              </a:ext>
            </a:extLst>
          </p:cNvPr>
          <p:cNvSpPr>
            <a:spLocks noGrp="1"/>
          </p:cNvSpPr>
          <p:nvPr/>
        </p:nvSpPr>
        <p:spPr>
          <a:xfrm>
            <a:off x="10096500" y="1590675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2796F"/>
                </a:solidFill>
              </a:defRPr>
            </a:pPr>
            <a:r>
              <a:rPr sz="1350" b="1" dirty="0">
                <a:solidFill>
                  <a:srgbClr val="52796F"/>
                </a:solidFill>
              </a:rPr>
              <a:t>01</a:t>
            </a:r>
          </a:p>
        </p:txBody>
      </p:sp>
      <p:sp>
        <p:nvSpPr>
          <p:cNvPr id="11" name="route-callout-title-0">
            <a:extLst>
              <a:ext uri="{FF2B5EF4-FFF2-40B4-BE49-F238E27FC236}">
                <a16:creationId xmlns:a16="http://schemas.microsoft.com/office/drawing/2014/main" id="{B6237073-F777-46E5-93D4-FA4229FBD901}"/>
              </a:ext>
            </a:extLst>
          </p:cNvPr>
          <p:cNvSpPr>
            <a:spLocks noGrp="1"/>
          </p:cNvSpPr>
          <p:nvPr/>
        </p:nvSpPr>
        <p:spPr>
          <a:xfrm>
            <a:off x="10572750" y="1571625"/>
            <a:ext cx="2143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1C22"/>
                </a:solidFill>
              </a:defRPr>
            </a:pPr>
            <a:r>
              <a:rPr sz="1575" b="1" dirty="0" err="1">
                <a:solidFill>
                  <a:srgbClr val="171C22"/>
                </a:solidFill>
              </a:rPr>
              <a:t>히트맵으로</a:t>
            </a:r>
            <a:r>
              <a:rPr sz="1575" b="1" dirty="0">
                <a:solidFill>
                  <a:srgbClr val="171C22"/>
                </a:solidFill>
              </a:rPr>
              <a:t> </a:t>
            </a:r>
            <a:r>
              <a:rPr sz="1575" b="1" dirty="0" err="1">
                <a:solidFill>
                  <a:srgbClr val="171C22"/>
                </a:solidFill>
              </a:rPr>
              <a:t>확인</a:t>
            </a:r>
            <a:endParaRPr sz="1575" b="1" dirty="0">
              <a:solidFill>
                <a:srgbClr val="171C22"/>
              </a:solidFill>
            </a:endParaRPr>
          </a:p>
        </p:txBody>
      </p:sp>
      <p:sp>
        <p:nvSpPr>
          <p:cNvPr id="12" name="route-callout-desc-0">
            <a:extLst>
              <a:ext uri="{FF2B5EF4-FFF2-40B4-BE49-F238E27FC236}">
                <a16:creationId xmlns:a16="http://schemas.microsoft.com/office/drawing/2014/main" id="{95514457-7294-403F-82D5-EF144AD64E43}"/>
              </a:ext>
            </a:extLst>
          </p:cNvPr>
          <p:cNvSpPr>
            <a:spLocks noGrp="1"/>
          </p:cNvSpPr>
          <p:nvPr/>
        </p:nvSpPr>
        <p:spPr>
          <a:xfrm>
            <a:off x="10096500" y="2076450"/>
            <a:ext cx="2714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687078"/>
                </a:solidFill>
              </a:defRPr>
            </a:pPr>
            <a:r>
              <a:rPr sz="1275" b="0">
                <a:solidFill>
                  <a:srgbClr val="687078"/>
                </a:solidFill>
              </a:rPr>
              <a:t>CCTV·경찰시설 분포를</a:t>
            </a:r>
          </a:p>
          <a:p>
            <a:pPr algn="ctr">
              <a:defRPr sz="1275" b="0">
                <a:solidFill>
                  <a:srgbClr val="687078"/>
                </a:solidFill>
              </a:defRPr>
            </a:pPr>
            <a:r>
              <a:rPr sz="1275" b="0">
                <a:solidFill>
                  <a:srgbClr val="687078"/>
                </a:solidFill>
              </a:rPr>
              <a:t>지도 위 안전도로 시각화</a:t>
            </a:r>
          </a:p>
        </p:txBody>
      </p:sp>
      <p:sp>
        <p:nvSpPr>
          <p:cNvPr id="13" name="route-callout-1-shadow">
            <a:extLst>
              <a:ext uri="{FF2B5EF4-FFF2-40B4-BE49-F238E27FC236}">
                <a16:creationId xmlns:a16="http://schemas.microsoft.com/office/drawing/2014/main" id="{A57BCC2B-94BD-48A7-BC4D-A5A4C92E8891}"/>
              </a:ext>
            </a:extLst>
          </p:cNvPr>
          <p:cNvSpPr>
            <a:spLocks noGrp="1"/>
          </p:cNvSpPr>
          <p:nvPr/>
        </p:nvSpPr>
        <p:spPr>
          <a:xfrm>
            <a:off x="9944100" y="3209925"/>
            <a:ext cx="3190875" cy="1476375"/>
          </a:xfrm>
          <a:prstGeom prst="roundRect">
            <a:avLst>
              <a:gd name="adj" fmla="val 10323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4" name="route-callout-1">
            <a:extLst>
              <a:ext uri="{FF2B5EF4-FFF2-40B4-BE49-F238E27FC236}">
                <a16:creationId xmlns:a16="http://schemas.microsoft.com/office/drawing/2014/main" id="{D6F87DA2-C96E-4817-A4A8-7FDA2BA9C84C}"/>
              </a:ext>
            </a:extLst>
          </p:cNvPr>
          <p:cNvSpPr>
            <a:spLocks noGrp="1"/>
          </p:cNvSpPr>
          <p:nvPr/>
        </p:nvSpPr>
        <p:spPr>
          <a:xfrm>
            <a:off x="9858375" y="3114675"/>
            <a:ext cx="3190875" cy="1476375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5" name="route-callout-num-1">
            <a:extLst>
              <a:ext uri="{FF2B5EF4-FFF2-40B4-BE49-F238E27FC236}">
                <a16:creationId xmlns:a16="http://schemas.microsoft.com/office/drawing/2014/main" id="{232633E0-5341-4562-B18B-F5FFCB22DBF8}"/>
              </a:ext>
            </a:extLst>
          </p:cNvPr>
          <p:cNvSpPr>
            <a:spLocks noGrp="1"/>
          </p:cNvSpPr>
          <p:nvPr/>
        </p:nvSpPr>
        <p:spPr>
          <a:xfrm>
            <a:off x="10096500" y="3324225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D96835"/>
                </a:solidFill>
              </a:defRPr>
            </a:pPr>
            <a:r>
              <a:rPr sz="1350" b="1">
                <a:solidFill>
                  <a:srgbClr val="D96835"/>
                </a:solidFill>
              </a:rPr>
              <a:t>02</a:t>
            </a:r>
          </a:p>
        </p:txBody>
      </p:sp>
      <p:sp>
        <p:nvSpPr>
          <p:cNvPr id="16" name="route-callout-title-1">
            <a:extLst>
              <a:ext uri="{FF2B5EF4-FFF2-40B4-BE49-F238E27FC236}">
                <a16:creationId xmlns:a16="http://schemas.microsoft.com/office/drawing/2014/main" id="{6F968C6F-45E0-41FF-88AA-6966B5589DEB}"/>
              </a:ext>
            </a:extLst>
          </p:cNvPr>
          <p:cNvSpPr>
            <a:spLocks noGrp="1"/>
          </p:cNvSpPr>
          <p:nvPr/>
        </p:nvSpPr>
        <p:spPr>
          <a:xfrm>
            <a:off x="10572750" y="3305175"/>
            <a:ext cx="2143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1C22"/>
                </a:solidFill>
              </a:defRPr>
            </a:pPr>
            <a:r>
              <a:rPr sz="1575" b="1">
                <a:solidFill>
                  <a:srgbClr val="171C22"/>
                </a:solidFill>
              </a:rPr>
              <a:t>경로를 비교</a:t>
            </a:r>
          </a:p>
        </p:txBody>
      </p:sp>
      <p:sp>
        <p:nvSpPr>
          <p:cNvPr id="17" name="route-callout-desc-1">
            <a:extLst>
              <a:ext uri="{FF2B5EF4-FFF2-40B4-BE49-F238E27FC236}">
                <a16:creationId xmlns:a16="http://schemas.microsoft.com/office/drawing/2014/main" id="{237E9917-5C73-4867-8BF2-253FDDDD3B96}"/>
              </a:ext>
            </a:extLst>
          </p:cNvPr>
          <p:cNvSpPr>
            <a:spLocks noGrp="1"/>
          </p:cNvSpPr>
          <p:nvPr/>
        </p:nvSpPr>
        <p:spPr>
          <a:xfrm>
            <a:off x="10096500" y="3810000"/>
            <a:ext cx="2714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687078"/>
                </a:solidFill>
              </a:defRPr>
            </a:pPr>
            <a:r>
              <a:rPr sz="1275" b="0" dirty="0" err="1">
                <a:solidFill>
                  <a:srgbClr val="687078"/>
                </a:solidFill>
              </a:rPr>
              <a:t>최단</a:t>
            </a:r>
            <a:r>
              <a:rPr sz="1275" b="0" dirty="0">
                <a:solidFill>
                  <a:srgbClr val="687078"/>
                </a:solidFill>
              </a:rPr>
              <a:t> 95분·안전 47점</a:t>
            </a:r>
          </a:p>
          <a:p>
            <a:pPr algn="ctr">
              <a:defRPr sz="1275" b="0">
                <a:solidFill>
                  <a:srgbClr val="687078"/>
                </a:solidFill>
              </a:defRPr>
            </a:pPr>
            <a:r>
              <a:rPr sz="1275" b="0" dirty="0" err="1">
                <a:solidFill>
                  <a:srgbClr val="687078"/>
                </a:solidFill>
              </a:rPr>
              <a:t>안전경로</a:t>
            </a:r>
            <a:r>
              <a:rPr sz="1275" b="0" dirty="0">
                <a:solidFill>
                  <a:srgbClr val="687078"/>
                </a:solidFill>
              </a:rPr>
              <a:t> 99분·안전 80점</a:t>
            </a:r>
          </a:p>
        </p:txBody>
      </p:sp>
      <p:sp>
        <p:nvSpPr>
          <p:cNvPr id="18" name="route-callout-2-shadow">
            <a:extLst>
              <a:ext uri="{FF2B5EF4-FFF2-40B4-BE49-F238E27FC236}">
                <a16:creationId xmlns:a16="http://schemas.microsoft.com/office/drawing/2014/main" id="{99A3D5B9-E972-4FD7-A0DA-CB05ACEC434D}"/>
              </a:ext>
            </a:extLst>
          </p:cNvPr>
          <p:cNvSpPr>
            <a:spLocks noGrp="1"/>
          </p:cNvSpPr>
          <p:nvPr/>
        </p:nvSpPr>
        <p:spPr>
          <a:xfrm>
            <a:off x="9944100" y="4943475"/>
            <a:ext cx="3190875" cy="1476375"/>
          </a:xfrm>
          <a:prstGeom prst="roundRect">
            <a:avLst>
              <a:gd name="adj" fmla="val 10323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9" name="route-callout-2">
            <a:extLst>
              <a:ext uri="{FF2B5EF4-FFF2-40B4-BE49-F238E27FC236}">
                <a16:creationId xmlns:a16="http://schemas.microsoft.com/office/drawing/2014/main" id="{06211E46-FD7A-494C-BBD4-2953937A81BB}"/>
              </a:ext>
            </a:extLst>
          </p:cNvPr>
          <p:cNvSpPr>
            <a:spLocks noGrp="1"/>
          </p:cNvSpPr>
          <p:nvPr/>
        </p:nvSpPr>
        <p:spPr>
          <a:xfrm>
            <a:off x="9858375" y="4848225"/>
            <a:ext cx="3190875" cy="1476375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20" name="route-callout-num-2">
            <a:extLst>
              <a:ext uri="{FF2B5EF4-FFF2-40B4-BE49-F238E27FC236}">
                <a16:creationId xmlns:a16="http://schemas.microsoft.com/office/drawing/2014/main" id="{0B707DC9-F99B-4821-8B2D-E7EB258735A9}"/>
              </a:ext>
            </a:extLst>
          </p:cNvPr>
          <p:cNvSpPr>
            <a:spLocks noGrp="1"/>
          </p:cNvSpPr>
          <p:nvPr/>
        </p:nvSpPr>
        <p:spPr>
          <a:xfrm>
            <a:off x="10096500" y="5057775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03</a:t>
            </a:r>
          </a:p>
        </p:txBody>
      </p:sp>
      <p:sp>
        <p:nvSpPr>
          <p:cNvPr id="21" name="route-callout-title-2">
            <a:extLst>
              <a:ext uri="{FF2B5EF4-FFF2-40B4-BE49-F238E27FC236}">
                <a16:creationId xmlns:a16="http://schemas.microsoft.com/office/drawing/2014/main" id="{396030BA-0374-4413-9856-DCBE98836E58}"/>
              </a:ext>
            </a:extLst>
          </p:cNvPr>
          <p:cNvSpPr>
            <a:spLocks noGrp="1"/>
          </p:cNvSpPr>
          <p:nvPr/>
        </p:nvSpPr>
        <p:spPr>
          <a:xfrm>
            <a:off x="10572750" y="5038725"/>
            <a:ext cx="2143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1C22"/>
                </a:solidFill>
              </a:defRPr>
            </a:pPr>
            <a:r>
              <a:rPr sz="1575" b="1">
                <a:solidFill>
                  <a:srgbClr val="171C22"/>
                </a:solidFill>
              </a:rPr>
              <a:t>위험구간 안내</a:t>
            </a:r>
          </a:p>
        </p:txBody>
      </p:sp>
      <p:sp>
        <p:nvSpPr>
          <p:cNvPr id="22" name="route-callout-desc-2">
            <a:extLst>
              <a:ext uri="{FF2B5EF4-FFF2-40B4-BE49-F238E27FC236}">
                <a16:creationId xmlns:a16="http://schemas.microsoft.com/office/drawing/2014/main" id="{138A09FD-1254-4D9C-9E7A-A0CAF26A5072}"/>
              </a:ext>
            </a:extLst>
          </p:cNvPr>
          <p:cNvSpPr>
            <a:spLocks noGrp="1"/>
          </p:cNvSpPr>
          <p:nvPr/>
        </p:nvSpPr>
        <p:spPr>
          <a:xfrm>
            <a:off x="10096500" y="5543550"/>
            <a:ext cx="2714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687078"/>
                </a:solidFill>
              </a:defRPr>
            </a:pPr>
            <a:r>
              <a:rPr sz="1275" b="0">
                <a:solidFill>
                  <a:srgbClr val="687078"/>
                </a:solidFill>
              </a:rPr>
              <a:t>시설 반경 90m 공백 구간과</a:t>
            </a:r>
          </a:p>
          <a:p>
            <a:pPr algn="ctr">
              <a:defRPr sz="1275" b="0">
                <a:solidFill>
                  <a:srgbClr val="687078"/>
                </a:solidFill>
              </a:defRPr>
            </a:pPr>
            <a:r>
              <a:rPr sz="1275" b="0">
                <a:solidFill>
                  <a:srgbClr val="687078"/>
                </a:solidFill>
              </a:rPr>
              <a:t>단계별 이동 정보를 전달</a:t>
            </a:r>
          </a:p>
        </p:txBody>
      </p:sp>
      <p:sp>
        <p:nvSpPr>
          <p:cNvPr id="23" name="source">
            <a:extLst>
              <a:ext uri="{FF2B5EF4-FFF2-40B4-BE49-F238E27FC236}">
                <a16:creationId xmlns:a16="http://schemas.microsoft.com/office/drawing/2014/main" id="{BD86825B-92EE-4E07-A265-DBD793AC5F98}"/>
              </a:ext>
            </a:extLst>
          </p:cNvPr>
          <p:cNvSpPr>
            <a:spLocks noGrp="1"/>
          </p:cNvSpPr>
          <p:nvPr/>
        </p:nvSpPr>
        <p:spPr>
          <a:xfrm>
            <a:off x="590550" y="7334250"/>
            <a:ext cx="12525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Source: LocalHub 배포 화면 캡처 | 2026-07-15 | 안전점수는 현재 구현 데이터 기준의 경로 비교 지표</a:t>
            </a:r>
          </a:p>
        </p:txBody>
      </p:sp>
      <p:sp>
        <p:nvSpPr>
          <p:cNvPr id="25" name="slide-title">
            <a:hlinkClick r:id="rId4"/>
            <a:extLst>
              <a:ext uri="{FF2B5EF4-FFF2-40B4-BE49-F238E27FC236}">
                <a16:creationId xmlns:a16="http://schemas.microsoft.com/office/drawing/2014/main" id="{21D5B422-8330-4D61-BFB4-95833B106FA8}"/>
              </a:ext>
            </a:extLst>
          </p:cNvPr>
          <p:cNvSpPr>
            <a:spLocks noGrp="1"/>
          </p:cNvSpPr>
          <p:nvPr/>
        </p:nvSpPr>
        <p:spPr>
          <a:xfrm>
            <a:off x="5257800" y="7091363"/>
            <a:ext cx="8243887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550" b="1">
                <a:solidFill>
                  <a:srgbClr val="171C22"/>
                </a:solidFill>
              </a:defRPr>
            </a:pPr>
            <a:r>
              <a:rPr lang="en-US" sz="2000" b="1" dirty="0">
                <a:solidFill>
                  <a:srgbClr val="171C22"/>
                </a:solidFill>
              </a:rPr>
              <a:t>https://jovial-phoenix-52d898.netlify.app/</a:t>
            </a:r>
            <a:endParaRPr sz="2000" b="1" dirty="0">
              <a:solidFill>
                <a:srgbClr val="171C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26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ction">
            <a:extLst>
              <a:ext uri="{FF2B5EF4-FFF2-40B4-BE49-F238E27FC236}">
                <a16:creationId xmlns:a16="http://schemas.microsoft.com/office/drawing/2014/main" id="{FA53033C-84BB-42A8-B514-B410712377AE}"/>
              </a:ext>
            </a:extLst>
          </p:cNvPr>
          <p:cNvSpPr>
            <a:spLocks noGrp="1"/>
          </p:cNvSpPr>
          <p:nvPr/>
        </p:nvSpPr>
        <p:spPr>
          <a:xfrm>
            <a:off x="523875" y="419100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2796F"/>
                </a:solidFill>
              </a:defRPr>
            </a:pPr>
            <a:r>
              <a:rPr sz="2100" b="1">
                <a:solidFill>
                  <a:srgbClr val="52796F"/>
                </a:solidFill>
              </a:rPr>
              <a:t>DX.실시간 정보</a:t>
            </a:r>
          </a:p>
        </p:txBody>
      </p:sp>
      <p:sp>
        <p:nvSpPr>
          <p:cNvPr id="2" name="header-rule">
            <a:extLst>
              <a:ext uri="{FF2B5EF4-FFF2-40B4-BE49-F238E27FC236}">
                <a16:creationId xmlns:a16="http://schemas.microsoft.com/office/drawing/2014/main" id="{9C9591C4-B606-4776-9E05-2F97BE2B52DA}"/>
              </a:ext>
            </a:extLst>
          </p:cNvPr>
          <p:cNvSpPr>
            <a:spLocks noGrp="1"/>
          </p:cNvSpPr>
          <p:nvPr/>
        </p:nvSpPr>
        <p:spPr>
          <a:xfrm>
            <a:off x="3143250" y="628650"/>
            <a:ext cx="4000500" cy="19050"/>
          </a:xfrm>
          <a:prstGeom prst="rect">
            <a:avLst/>
          </a:prstGeom>
          <a:solidFill>
            <a:srgbClr val="565B60"/>
          </a:solidFill>
          <a:ln w="0">
            <a:solidFill>
              <a:srgbClr val="565B60"/>
            </a:solidFill>
            <a:prstDash val="solid"/>
          </a:ln>
        </p:spPr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5B6E1E40-AD23-45E9-BCCA-891649E380E4}"/>
              </a:ext>
            </a:extLst>
          </p:cNvPr>
          <p:cNvSpPr>
            <a:spLocks noGrp="1"/>
          </p:cNvSpPr>
          <p:nvPr/>
        </p:nvSpPr>
        <p:spPr>
          <a:xfrm>
            <a:off x="7334250" y="342900"/>
            <a:ext cx="5857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550" b="1">
                <a:solidFill>
                  <a:srgbClr val="171C22"/>
                </a:solidFill>
              </a:defRPr>
            </a:pPr>
            <a:r>
              <a:rPr sz="2550" b="1">
                <a:solidFill>
                  <a:srgbClr val="171C22"/>
                </a:solidFill>
              </a:rPr>
              <a:t>최신 기사와 현장 제보가 안전정보를 보완합니다</a:t>
            </a:r>
          </a:p>
        </p:txBody>
      </p:sp>
      <p:sp>
        <p:nvSpPr>
          <p:cNvPr id="4" name="chatbot-screen-card-shadow">
            <a:extLst>
              <a:ext uri="{FF2B5EF4-FFF2-40B4-BE49-F238E27FC236}">
                <a16:creationId xmlns:a16="http://schemas.microsoft.com/office/drawing/2014/main" id="{F0369FC7-D605-484A-AE37-E9F3509D4C05}"/>
              </a:ext>
            </a:extLst>
          </p:cNvPr>
          <p:cNvSpPr>
            <a:spLocks noGrp="1"/>
          </p:cNvSpPr>
          <p:nvPr/>
        </p:nvSpPr>
        <p:spPr>
          <a:xfrm>
            <a:off x="561975" y="1381125"/>
            <a:ext cx="6286500" cy="4191000"/>
          </a:xfrm>
          <a:prstGeom prst="roundRect">
            <a:avLst>
              <a:gd name="adj" fmla="val 3636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5" name="chatbot-screen-card">
            <a:extLst>
              <a:ext uri="{FF2B5EF4-FFF2-40B4-BE49-F238E27FC236}">
                <a16:creationId xmlns:a16="http://schemas.microsoft.com/office/drawing/2014/main" id="{B271229B-0C55-4290-AC9B-DF53345D3745}"/>
              </a:ext>
            </a:extLst>
          </p:cNvPr>
          <p:cNvSpPr>
            <a:spLocks noGrp="1"/>
          </p:cNvSpPr>
          <p:nvPr/>
        </p:nvSpPr>
        <p:spPr>
          <a:xfrm>
            <a:off x="476250" y="1285875"/>
            <a:ext cx="6286500" cy="4191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rcRect l="32" r="32"/>
          <a:stretch>
            <a:fillRect/>
          </a:stretch>
        </p:blipFill>
        <p:spPr>
          <a:xfrm>
            <a:off x="619125" y="1428750"/>
            <a:ext cx="6000750" cy="3752850"/>
          </a:xfrm>
          <a:prstGeom prst="roundRect">
            <a:avLst>
              <a:gd name="adj" fmla="val 3046"/>
            </a:avLst>
          </a:prstGeom>
        </p:spPr>
      </p:pic>
      <p:sp>
        <p:nvSpPr>
          <p:cNvPr id="7" name="chip-CHATBOT-75-520">
            <a:extLst>
              <a:ext uri="{FF2B5EF4-FFF2-40B4-BE49-F238E27FC236}">
                <a16:creationId xmlns:a16="http://schemas.microsoft.com/office/drawing/2014/main" id="{854DD4D9-6C31-4F55-8E50-2772558BD775}"/>
              </a:ext>
            </a:extLst>
          </p:cNvPr>
          <p:cNvSpPr>
            <a:spLocks noGrp="1"/>
          </p:cNvSpPr>
          <p:nvPr/>
        </p:nvSpPr>
        <p:spPr>
          <a:xfrm>
            <a:off x="714375" y="4953000"/>
            <a:ext cx="1190625" cy="361950"/>
          </a:xfrm>
          <a:prstGeom prst="roundRect">
            <a:avLst>
              <a:gd name="adj" fmla="val 31579"/>
            </a:avLst>
          </a:prstGeom>
          <a:solidFill>
            <a:srgbClr val="EAF0F3"/>
          </a:solidFill>
          <a:ln w="13335">
            <a:solidFill>
              <a:srgbClr val="B8C3C4"/>
            </a:solidFill>
            <a:prstDash val="solid"/>
          </a:ln>
        </p:spPr>
      </p:sp>
      <p:sp>
        <p:nvSpPr>
          <p:cNvPr id="8" name="chip-text-CHATBOT-75-520">
            <a:extLst>
              <a:ext uri="{FF2B5EF4-FFF2-40B4-BE49-F238E27FC236}">
                <a16:creationId xmlns:a16="http://schemas.microsoft.com/office/drawing/2014/main" id="{BE389AC3-BD77-4703-B829-4A84DACBC724}"/>
              </a:ext>
            </a:extLst>
          </p:cNvPr>
          <p:cNvSpPr>
            <a:spLocks noGrp="1"/>
          </p:cNvSpPr>
          <p:nvPr/>
        </p:nvSpPr>
        <p:spPr>
          <a:xfrm>
            <a:off x="790575" y="5029200"/>
            <a:ext cx="1038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8324A"/>
                </a:solidFill>
              </a:defRPr>
            </a:pPr>
            <a:r>
              <a:rPr sz="1125" b="1">
                <a:solidFill>
                  <a:srgbClr val="18324A"/>
                </a:solidFill>
              </a:rPr>
              <a:t>CHATBOT</a:t>
            </a:r>
          </a:p>
        </p:txBody>
      </p:sp>
      <p:sp>
        <p:nvSpPr>
          <p:cNvPr id="9" name="community-screen-card-shadow">
            <a:extLst>
              <a:ext uri="{FF2B5EF4-FFF2-40B4-BE49-F238E27FC236}">
                <a16:creationId xmlns:a16="http://schemas.microsoft.com/office/drawing/2014/main" id="{E38F112E-DA81-472C-B977-9DFDE0E4CA09}"/>
              </a:ext>
            </a:extLst>
          </p:cNvPr>
          <p:cNvSpPr>
            <a:spLocks noGrp="1"/>
          </p:cNvSpPr>
          <p:nvPr/>
        </p:nvSpPr>
        <p:spPr>
          <a:xfrm>
            <a:off x="7038975" y="1381125"/>
            <a:ext cx="6286500" cy="4191000"/>
          </a:xfrm>
          <a:prstGeom prst="roundRect">
            <a:avLst>
              <a:gd name="adj" fmla="val 3636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0" name="community-screen-card">
            <a:extLst>
              <a:ext uri="{FF2B5EF4-FFF2-40B4-BE49-F238E27FC236}">
                <a16:creationId xmlns:a16="http://schemas.microsoft.com/office/drawing/2014/main" id="{EE250A26-88F6-44AA-A177-841969CBB04B}"/>
              </a:ext>
            </a:extLst>
          </p:cNvPr>
          <p:cNvSpPr>
            <a:spLocks noGrp="1"/>
          </p:cNvSpPr>
          <p:nvPr/>
        </p:nvSpPr>
        <p:spPr>
          <a:xfrm>
            <a:off x="6953250" y="1285875"/>
            <a:ext cx="6286500" cy="4191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4"/>
          <a:srcRect l="32" r="32"/>
          <a:stretch>
            <a:fillRect/>
          </a:stretch>
        </p:blipFill>
        <p:spPr>
          <a:xfrm>
            <a:off x="7096125" y="1428750"/>
            <a:ext cx="6000750" cy="3752850"/>
          </a:xfrm>
          <a:prstGeom prst="roundRect">
            <a:avLst>
              <a:gd name="adj" fmla="val 3046"/>
            </a:avLst>
          </a:prstGeom>
        </p:spPr>
      </p:pic>
      <p:sp>
        <p:nvSpPr>
          <p:cNvPr id="12" name="chip-COMMUNITY-755-520">
            <a:extLst>
              <a:ext uri="{FF2B5EF4-FFF2-40B4-BE49-F238E27FC236}">
                <a16:creationId xmlns:a16="http://schemas.microsoft.com/office/drawing/2014/main" id="{D4296CC8-AA65-44BF-A162-5C5401B03FF8}"/>
              </a:ext>
            </a:extLst>
          </p:cNvPr>
          <p:cNvSpPr>
            <a:spLocks noGrp="1"/>
          </p:cNvSpPr>
          <p:nvPr/>
        </p:nvSpPr>
        <p:spPr>
          <a:xfrm>
            <a:off x="7191375" y="4953000"/>
            <a:ext cx="1476375" cy="361950"/>
          </a:xfrm>
          <a:prstGeom prst="roundRect">
            <a:avLst>
              <a:gd name="adj" fmla="val 31579"/>
            </a:avLst>
          </a:prstGeom>
          <a:solidFill>
            <a:srgbClr val="EDF2EA"/>
          </a:solidFill>
          <a:ln w="13335">
            <a:solidFill>
              <a:srgbClr val="B8C3C4"/>
            </a:solidFill>
            <a:prstDash val="solid"/>
          </a:ln>
        </p:spPr>
      </p:sp>
      <p:sp>
        <p:nvSpPr>
          <p:cNvPr id="13" name="chip-text-COMMUNITY-755-520">
            <a:extLst>
              <a:ext uri="{FF2B5EF4-FFF2-40B4-BE49-F238E27FC236}">
                <a16:creationId xmlns:a16="http://schemas.microsoft.com/office/drawing/2014/main" id="{E948282B-28BD-4106-B473-4D477275430B}"/>
              </a:ext>
            </a:extLst>
          </p:cNvPr>
          <p:cNvSpPr>
            <a:spLocks noGrp="1"/>
          </p:cNvSpPr>
          <p:nvPr/>
        </p:nvSpPr>
        <p:spPr>
          <a:xfrm>
            <a:off x="7267575" y="5029200"/>
            <a:ext cx="1323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52796F"/>
                </a:solidFill>
              </a:defRPr>
            </a:pPr>
            <a:r>
              <a:rPr sz="1125" b="1">
                <a:solidFill>
                  <a:srgbClr val="52796F"/>
                </a:solidFill>
              </a:rPr>
              <a:t>COMMUNITY</a:t>
            </a:r>
          </a:p>
        </p:txBody>
      </p:sp>
      <p:sp>
        <p:nvSpPr>
          <p:cNvPr id="14" name="chatbot-copy">
            <a:extLst>
              <a:ext uri="{FF2B5EF4-FFF2-40B4-BE49-F238E27FC236}">
                <a16:creationId xmlns:a16="http://schemas.microsoft.com/office/drawing/2014/main" id="{3978DF89-BD8F-4205-B634-9B9A61949CAA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5905500" cy="1047750"/>
          </a:xfrm>
          <a:prstGeom prst="roundRect">
            <a:avLst>
              <a:gd name="adj" fmla="val 10909"/>
            </a:avLst>
          </a:prstGeom>
          <a:solidFill>
            <a:srgbClr val="EAF0F3"/>
          </a:solidFill>
          <a:ln w="13335">
            <a:solidFill>
              <a:srgbClr val="B8C8CF"/>
            </a:solidFill>
            <a:prstDash val="solid"/>
          </a:ln>
        </p:spPr>
      </p:sp>
      <p:sp>
        <p:nvSpPr>
          <p:cNvPr id="15" name="chatbot-copy-title">
            <a:extLst>
              <a:ext uri="{FF2B5EF4-FFF2-40B4-BE49-F238E27FC236}">
                <a16:creationId xmlns:a16="http://schemas.microsoft.com/office/drawing/2014/main" id="{0378131C-4971-4BF9-85DC-472C726DFBED}"/>
              </a:ext>
            </a:extLst>
          </p:cNvPr>
          <p:cNvSpPr>
            <a:spLocks noGrp="1"/>
          </p:cNvSpPr>
          <p:nvPr/>
        </p:nvSpPr>
        <p:spPr>
          <a:xfrm>
            <a:off x="904875" y="590550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주변 범죄정보 챗봇</a:t>
            </a:r>
          </a:p>
        </p:txBody>
      </p:sp>
      <p:sp>
        <p:nvSpPr>
          <p:cNvPr id="16" name="chatbot-copy-desc">
            <a:extLst>
              <a:ext uri="{FF2B5EF4-FFF2-40B4-BE49-F238E27FC236}">
                <a16:creationId xmlns:a16="http://schemas.microsoft.com/office/drawing/2014/main" id="{9639F0A0-4A9F-4104-8F98-ACCA4766E09A}"/>
              </a:ext>
            </a:extLst>
          </p:cNvPr>
          <p:cNvSpPr>
            <a:spLocks noGrp="1"/>
          </p:cNvSpPr>
          <p:nvPr/>
        </p:nvSpPr>
        <p:spPr>
          <a:xfrm>
            <a:off x="904875" y="6267450"/>
            <a:ext cx="542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87078"/>
                </a:solidFill>
              </a:defRPr>
            </a:pPr>
            <a:r>
              <a:rPr sz="1200" b="0">
                <a:solidFill>
                  <a:srgbClr val="687078"/>
                </a:solidFill>
              </a:rPr>
              <a:t>네이버 검색 API로 관련 기사를 갱신하고, 범죄 예방·안전귀가 정보를 대화형으로 전달합니다.</a:t>
            </a:r>
          </a:p>
        </p:txBody>
      </p:sp>
      <p:sp>
        <p:nvSpPr>
          <p:cNvPr id="17" name="community-copy">
            <a:extLst>
              <a:ext uri="{FF2B5EF4-FFF2-40B4-BE49-F238E27FC236}">
                <a16:creationId xmlns:a16="http://schemas.microsoft.com/office/drawing/2014/main" id="{90862A1B-7969-4AB2-8D30-73445AF480AC}"/>
              </a:ext>
            </a:extLst>
          </p:cNvPr>
          <p:cNvSpPr>
            <a:spLocks noGrp="1"/>
          </p:cNvSpPr>
          <p:nvPr/>
        </p:nvSpPr>
        <p:spPr>
          <a:xfrm>
            <a:off x="7143750" y="5715000"/>
            <a:ext cx="5905500" cy="1047750"/>
          </a:xfrm>
          <a:prstGeom prst="roundRect">
            <a:avLst>
              <a:gd name="adj" fmla="val 10909"/>
            </a:avLst>
          </a:prstGeom>
          <a:solidFill>
            <a:srgbClr val="EDF2EA"/>
          </a:solidFill>
          <a:ln w="13335">
            <a:solidFill>
              <a:srgbClr val="B8C8BF"/>
            </a:solidFill>
            <a:prstDash val="solid"/>
          </a:ln>
        </p:spPr>
      </p:sp>
      <p:sp>
        <p:nvSpPr>
          <p:cNvPr id="18" name="community-copy-title">
            <a:extLst>
              <a:ext uri="{FF2B5EF4-FFF2-40B4-BE49-F238E27FC236}">
                <a16:creationId xmlns:a16="http://schemas.microsoft.com/office/drawing/2014/main" id="{16DFC696-D5EC-402A-91C1-9C414FC6D1F4}"/>
              </a:ext>
            </a:extLst>
          </p:cNvPr>
          <p:cNvSpPr>
            <a:spLocks noGrp="1"/>
          </p:cNvSpPr>
          <p:nvPr/>
        </p:nvSpPr>
        <p:spPr>
          <a:xfrm>
            <a:off x="7381875" y="590550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52796F"/>
                </a:solidFill>
              </a:defRPr>
            </a:pPr>
            <a:r>
              <a:rPr sz="1650" b="1">
                <a:solidFill>
                  <a:srgbClr val="52796F"/>
                </a:solidFill>
              </a:rPr>
              <a:t>위험구간 커뮤니티</a:t>
            </a:r>
          </a:p>
        </p:txBody>
      </p:sp>
      <p:sp>
        <p:nvSpPr>
          <p:cNvPr id="19" name="community-copy-desc">
            <a:extLst>
              <a:ext uri="{FF2B5EF4-FFF2-40B4-BE49-F238E27FC236}">
                <a16:creationId xmlns:a16="http://schemas.microsoft.com/office/drawing/2014/main" id="{5E0906CB-DF86-42A9-860E-8517EF6904F7}"/>
              </a:ext>
            </a:extLst>
          </p:cNvPr>
          <p:cNvSpPr>
            <a:spLocks noGrp="1"/>
          </p:cNvSpPr>
          <p:nvPr/>
        </p:nvSpPr>
        <p:spPr>
          <a:xfrm>
            <a:off x="7381875" y="6267450"/>
            <a:ext cx="542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87078"/>
                </a:solidFill>
              </a:defRPr>
            </a:pPr>
            <a:r>
              <a:rPr sz="1200" b="0">
                <a:solidFill>
                  <a:srgbClr val="687078"/>
                </a:solidFill>
              </a:rPr>
              <a:t>어두운 골목·공사구간·사고 위험 등 주민이 발견한 현장 정보를 공유하고 보완합니다.</a:t>
            </a:r>
          </a:p>
        </p:txBody>
      </p:sp>
      <p:sp>
        <p:nvSpPr>
          <p:cNvPr id="20" name="source">
            <a:extLst>
              <a:ext uri="{FF2B5EF4-FFF2-40B4-BE49-F238E27FC236}">
                <a16:creationId xmlns:a16="http://schemas.microsoft.com/office/drawing/2014/main" id="{8F421319-1172-4A69-9266-CC636A91DD7D}"/>
              </a:ext>
            </a:extLst>
          </p:cNvPr>
          <p:cNvSpPr>
            <a:spLocks noGrp="1"/>
          </p:cNvSpPr>
          <p:nvPr/>
        </p:nvSpPr>
        <p:spPr>
          <a:xfrm>
            <a:off x="590550" y="7334250"/>
            <a:ext cx="12525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Source: LocalHub 배포 화면 캡처 | 2026-07-15 | https://jovial-phoenix-52d898.netlify.app/</a:t>
            </a:r>
          </a:p>
        </p:txBody>
      </p:sp>
    </p:spTree>
    <p:extLst>
      <p:ext uri="{BB962C8B-B14F-4D97-AF65-F5344CB8AC3E}">
        <p14:creationId xmlns:p14="http://schemas.microsoft.com/office/powerpoint/2010/main" val="1509072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x-public-bg">
            <a:extLst>
              <a:ext uri="{FF2B5EF4-FFF2-40B4-BE49-F238E27FC236}">
                <a16:creationId xmlns:a16="http://schemas.microsoft.com/office/drawing/2014/main" id="{5A5EB2E3-A28C-413A-B2FD-6D7E71EF16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7F4EF"/>
          </a:solidFill>
          <a:ln w="0">
            <a:solidFill>
              <a:srgbClr val="F7F4EF"/>
            </a:solidFill>
            <a:prstDash val="solid"/>
          </a:ln>
        </p:spPr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67E52B5C-22F6-45B3-A63F-43B847589D9D}"/>
              </a:ext>
            </a:extLst>
          </p:cNvPr>
          <p:cNvSpPr>
            <a:spLocks noGrp="1"/>
          </p:cNvSpPr>
          <p:nvPr/>
        </p:nvSpPr>
        <p:spPr>
          <a:xfrm>
            <a:off x="523875" y="419100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D96835"/>
                </a:solidFill>
              </a:defRPr>
            </a:pPr>
            <a:r>
              <a:rPr sz="2100" b="1" dirty="0">
                <a:solidFill>
                  <a:srgbClr val="D96835"/>
                </a:solidFill>
              </a:rPr>
              <a:t>DX.PUBLIC DATA</a:t>
            </a:r>
          </a:p>
        </p:txBody>
      </p:sp>
      <p:sp>
        <p:nvSpPr>
          <p:cNvPr id="3" name="header-rule">
            <a:extLst>
              <a:ext uri="{FF2B5EF4-FFF2-40B4-BE49-F238E27FC236}">
                <a16:creationId xmlns:a16="http://schemas.microsoft.com/office/drawing/2014/main" id="{39FA6F75-DBF6-434B-AAB2-D6B81B188E39}"/>
              </a:ext>
            </a:extLst>
          </p:cNvPr>
          <p:cNvSpPr>
            <a:spLocks noGrp="1"/>
          </p:cNvSpPr>
          <p:nvPr/>
        </p:nvSpPr>
        <p:spPr>
          <a:xfrm>
            <a:off x="3143250" y="628650"/>
            <a:ext cx="4000500" cy="19050"/>
          </a:xfrm>
          <a:prstGeom prst="rect">
            <a:avLst/>
          </a:prstGeom>
          <a:solidFill>
            <a:srgbClr val="565B60"/>
          </a:solidFill>
          <a:ln w="0">
            <a:solidFill>
              <a:srgbClr val="565B60"/>
            </a:solidFill>
            <a:prstDash val="solid"/>
          </a:ln>
        </p:spPr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94C32E4D-16C6-4901-B771-C8D485425653}"/>
              </a:ext>
            </a:extLst>
          </p:cNvPr>
          <p:cNvSpPr>
            <a:spLocks noGrp="1"/>
          </p:cNvSpPr>
          <p:nvPr/>
        </p:nvSpPr>
        <p:spPr>
          <a:xfrm>
            <a:off x="7334250" y="342900"/>
            <a:ext cx="5857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550" b="1">
                <a:solidFill>
                  <a:srgbClr val="171C22"/>
                </a:solidFill>
              </a:defRPr>
            </a:pPr>
            <a:r>
              <a:rPr sz="2550" b="1">
                <a:solidFill>
                  <a:srgbClr val="171C22"/>
                </a:solidFill>
              </a:rPr>
              <a:t>실제 광주 공공데이터로 서비스가 작동합니다</a:t>
            </a:r>
          </a:p>
        </p:txBody>
      </p:sp>
      <p:sp>
        <p:nvSpPr>
          <p:cNvPr id="5" name="home-screen-card-shadow">
            <a:extLst>
              <a:ext uri="{FF2B5EF4-FFF2-40B4-BE49-F238E27FC236}">
                <a16:creationId xmlns:a16="http://schemas.microsoft.com/office/drawing/2014/main" id="{CD11E881-F0F8-4151-A957-3BDEF5E41E99}"/>
              </a:ext>
            </a:extLst>
          </p:cNvPr>
          <p:cNvSpPr>
            <a:spLocks noGrp="1"/>
          </p:cNvSpPr>
          <p:nvPr/>
        </p:nvSpPr>
        <p:spPr>
          <a:xfrm>
            <a:off x="561975" y="1381125"/>
            <a:ext cx="8191500" cy="5286375"/>
          </a:xfrm>
          <a:prstGeom prst="roundRect">
            <a:avLst>
              <a:gd name="adj" fmla="val 2883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6" name="home-screen-card">
            <a:extLst>
              <a:ext uri="{FF2B5EF4-FFF2-40B4-BE49-F238E27FC236}">
                <a16:creationId xmlns:a16="http://schemas.microsoft.com/office/drawing/2014/main" id="{40012FE4-9DA9-441C-A3B9-4984C2214B2A}"/>
              </a:ext>
            </a:extLst>
          </p:cNvPr>
          <p:cNvSpPr>
            <a:spLocks noGrp="1"/>
          </p:cNvSpPr>
          <p:nvPr/>
        </p:nvSpPr>
        <p:spPr>
          <a:xfrm>
            <a:off x="476250" y="1285875"/>
            <a:ext cx="8191500" cy="5286375"/>
          </a:xfrm>
          <a:prstGeom prst="roundRect">
            <a:avLst>
              <a:gd name="adj" fmla="val 2883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3"/>
          <a:srcRect l="24" r="24"/>
          <a:stretch>
            <a:fillRect/>
          </a:stretch>
        </p:blipFill>
        <p:spPr>
          <a:xfrm>
            <a:off x="619125" y="1428750"/>
            <a:ext cx="7905750" cy="4943475"/>
          </a:xfrm>
          <a:prstGeom prst="roundRect">
            <a:avLst>
              <a:gd name="adj" fmla="val 2312"/>
            </a:avLst>
          </a:prstGeom>
        </p:spPr>
      </p:pic>
      <p:sp>
        <p:nvSpPr>
          <p:cNvPr id="8" name="public-stat-0-shadow">
            <a:extLst>
              <a:ext uri="{FF2B5EF4-FFF2-40B4-BE49-F238E27FC236}">
                <a16:creationId xmlns:a16="http://schemas.microsoft.com/office/drawing/2014/main" id="{E0D8FC1A-117C-428F-83ED-8E6BF1A1B787}"/>
              </a:ext>
            </a:extLst>
          </p:cNvPr>
          <p:cNvSpPr>
            <a:spLocks noGrp="1"/>
          </p:cNvSpPr>
          <p:nvPr/>
        </p:nvSpPr>
        <p:spPr>
          <a:xfrm>
            <a:off x="9086850" y="1476375"/>
            <a:ext cx="4048125" cy="971550"/>
          </a:xfrm>
          <a:prstGeom prst="roundRect">
            <a:avLst>
              <a:gd name="adj" fmla="val 15686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9" name="public-stat-0">
            <a:extLst>
              <a:ext uri="{FF2B5EF4-FFF2-40B4-BE49-F238E27FC236}">
                <a16:creationId xmlns:a16="http://schemas.microsoft.com/office/drawing/2014/main" id="{428C9F5B-2D58-42F7-AFF2-9EDF3B5F1835}"/>
              </a:ext>
            </a:extLst>
          </p:cNvPr>
          <p:cNvSpPr>
            <a:spLocks noGrp="1"/>
          </p:cNvSpPr>
          <p:nvPr/>
        </p:nvSpPr>
        <p:spPr>
          <a:xfrm>
            <a:off x="9001125" y="1381125"/>
            <a:ext cx="4048125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0" name="public-stat-value-0">
            <a:extLst>
              <a:ext uri="{FF2B5EF4-FFF2-40B4-BE49-F238E27FC236}">
                <a16:creationId xmlns:a16="http://schemas.microsoft.com/office/drawing/2014/main" id="{C8DC5D62-DADD-4521-8D4E-57B70A769DC0}"/>
              </a:ext>
            </a:extLst>
          </p:cNvPr>
          <p:cNvSpPr>
            <a:spLocks noGrp="1"/>
          </p:cNvSpPr>
          <p:nvPr/>
        </p:nvSpPr>
        <p:spPr>
          <a:xfrm>
            <a:off x="9286875" y="1533525"/>
            <a:ext cx="1714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225" b="1">
                <a:solidFill>
                  <a:srgbClr val="18324A"/>
                </a:solidFill>
              </a:defRPr>
            </a:pPr>
            <a:r>
              <a:rPr sz="3225" b="1">
                <a:solidFill>
                  <a:srgbClr val="18324A"/>
                </a:solidFill>
              </a:rPr>
              <a:t>6,805</a:t>
            </a:r>
          </a:p>
        </p:txBody>
      </p:sp>
      <p:sp>
        <p:nvSpPr>
          <p:cNvPr id="11" name="public-stat-label-0">
            <a:extLst>
              <a:ext uri="{FF2B5EF4-FFF2-40B4-BE49-F238E27FC236}">
                <a16:creationId xmlns:a16="http://schemas.microsoft.com/office/drawing/2014/main" id="{F63CB781-F6BF-4530-A31A-FB4A9B64C313}"/>
              </a:ext>
            </a:extLst>
          </p:cNvPr>
          <p:cNvSpPr>
            <a:spLocks noGrp="1"/>
          </p:cNvSpPr>
          <p:nvPr/>
        </p:nvSpPr>
        <p:spPr>
          <a:xfrm>
            <a:off x="11049000" y="17049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1C22"/>
                </a:solidFill>
              </a:defRPr>
            </a:pPr>
            <a:r>
              <a:rPr sz="1350" b="1">
                <a:solidFill>
                  <a:srgbClr val="171C22"/>
                </a:solidFill>
              </a:rPr>
              <a:t>광주 CCTV 전체</a:t>
            </a:r>
          </a:p>
        </p:txBody>
      </p:sp>
      <p:sp>
        <p:nvSpPr>
          <p:cNvPr id="12" name="public-stat-1-shadow">
            <a:extLst>
              <a:ext uri="{FF2B5EF4-FFF2-40B4-BE49-F238E27FC236}">
                <a16:creationId xmlns:a16="http://schemas.microsoft.com/office/drawing/2014/main" id="{3BC22DDE-023A-4662-AB19-BBA1182D8B7E}"/>
              </a:ext>
            </a:extLst>
          </p:cNvPr>
          <p:cNvSpPr>
            <a:spLocks noGrp="1"/>
          </p:cNvSpPr>
          <p:nvPr/>
        </p:nvSpPr>
        <p:spPr>
          <a:xfrm>
            <a:off x="9086850" y="2638425"/>
            <a:ext cx="4048125" cy="971550"/>
          </a:xfrm>
          <a:prstGeom prst="roundRect">
            <a:avLst>
              <a:gd name="adj" fmla="val 15686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3" name="public-stat-1">
            <a:extLst>
              <a:ext uri="{FF2B5EF4-FFF2-40B4-BE49-F238E27FC236}">
                <a16:creationId xmlns:a16="http://schemas.microsoft.com/office/drawing/2014/main" id="{52954FD5-B5E1-42EE-8AF0-0898E88A6CAF}"/>
              </a:ext>
            </a:extLst>
          </p:cNvPr>
          <p:cNvSpPr>
            <a:spLocks noGrp="1"/>
          </p:cNvSpPr>
          <p:nvPr/>
        </p:nvSpPr>
        <p:spPr>
          <a:xfrm>
            <a:off x="9001125" y="2543175"/>
            <a:ext cx="4048125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4" name="public-stat-value-1">
            <a:extLst>
              <a:ext uri="{FF2B5EF4-FFF2-40B4-BE49-F238E27FC236}">
                <a16:creationId xmlns:a16="http://schemas.microsoft.com/office/drawing/2014/main" id="{90E8A84C-5AD8-4763-8BA0-C61B5C8CEF3F}"/>
              </a:ext>
            </a:extLst>
          </p:cNvPr>
          <p:cNvSpPr>
            <a:spLocks noGrp="1"/>
          </p:cNvSpPr>
          <p:nvPr/>
        </p:nvSpPr>
        <p:spPr>
          <a:xfrm>
            <a:off x="9286875" y="2695575"/>
            <a:ext cx="1714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225" b="1">
                <a:solidFill>
                  <a:srgbClr val="52796F"/>
                </a:solidFill>
              </a:defRPr>
            </a:pPr>
            <a:r>
              <a:rPr sz="3225" b="1">
                <a:solidFill>
                  <a:srgbClr val="52796F"/>
                </a:solidFill>
              </a:rPr>
              <a:t>4,212</a:t>
            </a:r>
          </a:p>
        </p:txBody>
      </p:sp>
      <p:sp>
        <p:nvSpPr>
          <p:cNvPr id="15" name="public-stat-label-1">
            <a:extLst>
              <a:ext uri="{FF2B5EF4-FFF2-40B4-BE49-F238E27FC236}">
                <a16:creationId xmlns:a16="http://schemas.microsoft.com/office/drawing/2014/main" id="{DBC54B32-79B2-4DB7-9A2E-A6E8D58D0628}"/>
              </a:ext>
            </a:extLst>
          </p:cNvPr>
          <p:cNvSpPr>
            <a:spLocks noGrp="1"/>
          </p:cNvSpPr>
          <p:nvPr/>
        </p:nvSpPr>
        <p:spPr>
          <a:xfrm>
            <a:off x="11049000" y="28670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1C22"/>
                </a:solidFill>
              </a:defRPr>
            </a:pPr>
            <a:r>
              <a:rPr sz="1350" b="1">
                <a:solidFill>
                  <a:srgbClr val="171C22"/>
                </a:solidFill>
              </a:rPr>
              <a:t>지도 반영 CCTV</a:t>
            </a:r>
          </a:p>
        </p:txBody>
      </p:sp>
      <p:sp>
        <p:nvSpPr>
          <p:cNvPr id="16" name="public-stat-2-shadow">
            <a:extLst>
              <a:ext uri="{FF2B5EF4-FFF2-40B4-BE49-F238E27FC236}">
                <a16:creationId xmlns:a16="http://schemas.microsoft.com/office/drawing/2014/main" id="{5E6E7762-97D9-449D-8625-58D1571533C0}"/>
              </a:ext>
            </a:extLst>
          </p:cNvPr>
          <p:cNvSpPr>
            <a:spLocks noGrp="1"/>
          </p:cNvSpPr>
          <p:nvPr/>
        </p:nvSpPr>
        <p:spPr>
          <a:xfrm>
            <a:off x="9086850" y="3800475"/>
            <a:ext cx="4048125" cy="971550"/>
          </a:xfrm>
          <a:prstGeom prst="roundRect">
            <a:avLst>
              <a:gd name="adj" fmla="val 15686"/>
            </a:avLst>
          </a:prstGeom>
          <a:solidFill>
            <a:srgbClr val="B8CDD2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7" name="public-stat-2">
            <a:extLst>
              <a:ext uri="{FF2B5EF4-FFF2-40B4-BE49-F238E27FC236}">
                <a16:creationId xmlns:a16="http://schemas.microsoft.com/office/drawing/2014/main" id="{DE99C940-EB70-43B4-8C6E-842731E01711}"/>
              </a:ext>
            </a:extLst>
          </p:cNvPr>
          <p:cNvSpPr>
            <a:spLocks noGrp="1"/>
          </p:cNvSpPr>
          <p:nvPr/>
        </p:nvSpPr>
        <p:spPr>
          <a:xfrm>
            <a:off x="9001125" y="3705225"/>
            <a:ext cx="4048125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3335">
            <a:solidFill>
              <a:srgbClr val="565B60"/>
            </a:solidFill>
            <a:prstDash val="solid"/>
          </a:ln>
        </p:spPr>
      </p:sp>
      <p:sp>
        <p:nvSpPr>
          <p:cNvPr id="18" name="public-stat-value-2">
            <a:extLst>
              <a:ext uri="{FF2B5EF4-FFF2-40B4-BE49-F238E27FC236}">
                <a16:creationId xmlns:a16="http://schemas.microsoft.com/office/drawing/2014/main" id="{4AA2EB33-FABB-4E7E-998F-53CB6C8B6A66}"/>
              </a:ext>
            </a:extLst>
          </p:cNvPr>
          <p:cNvSpPr>
            <a:spLocks noGrp="1"/>
          </p:cNvSpPr>
          <p:nvPr/>
        </p:nvSpPr>
        <p:spPr>
          <a:xfrm>
            <a:off x="9286875" y="3857625"/>
            <a:ext cx="1714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225" b="1">
                <a:solidFill>
                  <a:srgbClr val="D96835"/>
                </a:solidFill>
              </a:defRPr>
            </a:pPr>
            <a:r>
              <a:rPr sz="3225" b="1">
                <a:solidFill>
                  <a:srgbClr val="D96835"/>
                </a:solidFill>
              </a:rPr>
              <a:t>40</a:t>
            </a:r>
          </a:p>
        </p:txBody>
      </p:sp>
      <p:sp>
        <p:nvSpPr>
          <p:cNvPr id="19" name="public-stat-label-2">
            <a:extLst>
              <a:ext uri="{FF2B5EF4-FFF2-40B4-BE49-F238E27FC236}">
                <a16:creationId xmlns:a16="http://schemas.microsoft.com/office/drawing/2014/main" id="{3E188D76-55DB-4F7B-9928-2F5765A555F9}"/>
              </a:ext>
            </a:extLst>
          </p:cNvPr>
          <p:cNvSpPr>
            <a:spLocks noGrp="1"/>
          </p:cNvSpPr>
          <p:nvPr/>
        </p:nvSpPr>
        <p:spPr>
          <a:xfrm>
            <a:off x="11049000" y="40290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1C22"/>
                </a:solidFill>
              </a:defRPr>
            </a:pPr>
            <a:r>
              <a:rPr sz="1350" b="1">
                <a:solidFill>
                  <a:srgbClr val="171C22"/>
                </a:solidFill>
              </a:rPr>
              <a:t>경찰시설</a:t>
            </a:r>
          </a:p>
        </p:txBody>
      </p:sp>
      <p:sp>
        <p:nvSpPr>
          <p:cNvPr id="20" name="final-message-box">
            <a:extLst>
              <a:ext uri="{FF2B5EF4-FFF2-40B4-BE49-F238E27FC236}">
                <a16:creationId xmlns:a16="http://schemas.microsoft.com/office/drawing/2014/main" id="{A1855979-E2C3-439A-BE8D-24C83C740101}"/>
              </a:ext>
            </a:extLst>
          </p:cNvPr>
          <p:cNvSpPr>
            <a:spLocks noGrp="1"/>
          </p:cNvSpPr>
          <p:nvPr/>
        </p:nvSpPr>
        <p:spPr>
          <a:xfrm>
            <a:off x="9001125" y="5000625"/>
            <a:ext cx="4048125" cy="1571625"/>
          </a:xfrm>
          <a:prstGeom prst="roundRect">
            <a:avLst>
              <a:gd name="adj" fmla="val 9697"/>
            </a:avLst>
          </a:prstGeom>
          <a:solidFill>
            <a:srgbClr val="E5EEE9"/>
          </a:solidFill>
          <a:ln w="13335">
            <a:solidFill>
              <a:srgbClr val="B7C8C1"/>
            </a:solidFill>
            <a:prstDash val="solid"/>
          </a:ln>
        </p:spPr>
      </p:sp>
      <p:sp>
        <p:nvSpPr>
          <p:cNvPr id="21" name="final-message-title">
            <a:extLst>
              <a:ext uri="{FF2B5EF4-FFF2-40B4-BE49-F238E27FC236}">
                <a16:creationId xmlns:a16="http://schemas.microsoft.com/office/drawing/2014/main" id="{F92EB3FC-8961-4930-A4E4-019A58B5438D}"/>
              </a:ext>
            </a:extLst>
          </p:cNvPr>
          <p:cNvSpPr>
            <a:spLocks noGrp="1"/>
          </p:cNvSpPr>
          <p:nvPr/>
        </p:nvSpPr>
        <p:spPr>
          <a:xfrm>
            <a:off x="9429750" y="5238750"/>
            <a:ext cx="3190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52796F"/>
                </a:solidFill>
              </a:defRPr>
            </a:pPr>
            <a:r>
              <a:rPr sz="2025" b="1">
                <a:solidFill>
                  <a:srgbClr val="52796F"/>
                </a:solidFill>
              </a:rPr>
              <a:t>LOCALHUB</a:t>
            </a:r>
          </a:p>
        </p:txBody>
      </p:sp>
      <p:sp>
        <p:nvSpPr>
          <p:cNvPr id="22" name="final-message">
            <a:extLst>
              <a:ext uri="{FF2B5EF4-FFF2-40B4-BE49-F238E27FC236}">
                <a16:creationId xmlns:a16="http://schemas.microsoft.com/office/drawing/2014/main" id="{1EF2BD75-75C2-4241-80E7-5C8DE7DBC3E1}"/>
              </a:ext>
            </a:extLst>
          </p:cNvPr>
          <p:cNvSpPr>
            <a:spLocks noGrp="1"/>
          </p:cNvSpPr>
          <p:nvPr/>
        </p:nvSpPr>
        <p:spPr>
          <a:xfrm>
            <a:off x="9429750" y="5715000"/>
            <a:ext cx="31908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8324A"/>
                </a:solidFill>
              </a:defRPr>
            </a:pPr>
            <a:r>
              <a:rPr sz="1575" b="1">
                <a:solidFill>
                  <a:srgbClr val="18324A"/>
                </a:solidFill>
              </a:rPr>
              <a:t>공공데이터로 보고,</a:t>
            </a:r>
          </a:p>
          <a:p>
            <a:pPr algn="ctr">
              <a:defRPr sz="1575" b="1">
                <a:solidFill>
                  <a:srgbClr val="18324A"/>
                </a:solidFill>
              </a:defRPr>
            </a:pPr>
            <a:r>
              <a:rPr sz="1575" b="1">
                <a:solidFill>
                  <a:srgbClr val="18324A"/>
                </a:solidFill>
              </a:rPr>
              <a:t>안전경로로 안내하고,</a:t>
            </a:r>
          </a:p>
          <a:p>
            <a:pPr algn="ctr">
              <a:defRPr sz="1575" b="1">
                <a:solidFill>
                  <a:srgbClr val="18324A"/>
                </a:solidFill>
              </a:defRPr>
            </a:pPr>
            <a:r>
              <a:rPr sz="1575" b="1">
                <a:solidFill>
                  <a:srgbClr val="18324A"/>
                </a:solidFill>
              </a:rPr>
              <a:t>주민과 함께 보완합니다.</a:t>
            </a:r>
          </a:p>
        </p:txBody>
      </p:sp>
      <p:sp>
        <p:nvSpPr>
          <p:cNvPr id="23" name="source">
            <a:extLst>
              <a:ext uri="{FF2B5EF4-FFF2-40B4-BE49-F238E27FC236}">
                <a16:creationId xmlns:a16="http://schemas.microsoft.com/office/drawing/2014/main" id="{31AECCF5-E7A0-42AC-88B0-730E12E4CC7E}"/>
              </a:ext>
            </a:extLst>
          </p:cNvPr>
          <p:cNvSpPr>
            <a:spLocks noGrp="1"/>
          </p:cNvSpPr>
          <p:nvPr/>
        </p:nvSpPr>
        <p:spPr>
          <a:xfrm>
            <a:off x="590550" y="7334250"/>
            <a:ext cx="12525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87078"/>
                </a:solidFill>
              </a:defRPr>
            </a:pPr>
            <a:r>
              <a:rPr sz="825" b="0">
                <a:solidFill>
                  <a:srgbClr val="687078"/>
                </a:solidFill>
              </a:rPr>
              <a:t>Source: LocalHub 배포 화면 캡처 | 2026-07-15 | https://jovial-phoenix-52d898.netlify.app/</a:t>
            </a:r>
          </a:p>
        </p:txBody>
      </p:sp>
    </p:spTree>
    <p:extLst>
      <p:ext uri="{BB962C8B-B14F-4D97-AF65-F5344CB8AC3E}">
        <p14:creationId xmlns:p14="http://schemas.microsoft.com/office/powerpoint/2010/main" val="2038328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>
            <a:extLst>
              <a:ext uri="{FF2B5EF4-FFF2-40B4-BE49-F238E27FC236}">
                <a16:creationId xmlns:a16="http://schemas.microsoft.com/office/drawing/2014/main" id="{C82B5A79-E119-48FD-A85C-9F1C2177EB56}"/>
              </a:ext>
            </a:extLst>
          </p:cNvPr>
          <p:cNvSpPr>
            <a:spLocks noGrp="1"/>
          </p:cNvSpPr>
          <p:nvPr/>
        </p:nvSpPr>
        <p:spPr>
          <a:xfrm>
            <a:off x="523875" y="419100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D96835"/>
                </a:solidFill>
              </a:defRPr>
            </a:pPr>
            <a:r>
              <a:rPr sz="2100" b="1" dirty="0">
                <a:solidFill>
                  <a:srgbClr val="D96835"/>
                </a:solidFill>
              </a:rPr>
              <a:t>DX.</a:t>
            </a:r>
            <a:r>
              <a:rPr lang="en-US" sz="2100" b="1" dirty="0">
                <a:solidFill>
                  <a:srgbClr val="D96835"/>
                </a:solidFill>
              </a:rPr>
              <a:t> </a:t>
            </a:r>
            <a:r>
              <a:rPr lang="ko-KR" altLang="en-US" sz="2100" b="1" dirty="0">
                <a:solidFill>
                  <a:srgbClr val="D96835"/>
                </a:solidFill>
              </a:rPr>
              <a:t>출처</a:t>
            </a:r>
            <a:endParaRPr sz="2100" b="1" dirty="0">
              <a:solidFill>
                <a:srgbClr val="D96835"/>
              </a:solidFill>
            </a:endParaRPr>
          </a:p>
        </p:txBody>
      </p:sp>
      <p:sp>
        <p:nvSpPr>
          <p:cNvPr id="3" name="header-rule">
            <a:extLst>
              <a:ext uri="{FF2B5EF4-FFF2-40B4-BE49-F238E27FC236}">
                <a16:creationId xmlns:a16="http://schemas.microsoft.com/office/drawing/2014/main" id="{898D5A5C-13B5-47AD-89EA-034A822C2C55}"/>
              </a:ext>
            </a:extLst>
          </p:cNvPr>
          <p:cNvSpPr>
            <a:spLocks noGrp="1"/>
          </p:cNvSpPr>
          <p:nvPr/>
        </p:nvSpPr>
        <p:spPr>
          <a:xfrm flipV="1">
            <a:off x="1736333" y="596328"/>
            <a:ext cx="5407417" cy="45719"/>
          </a:xfrm>
          <a:prstGeom prst="rect">
            <a:avLst/>
          </a:prstGeom>
          <a:solidFill>
            <a:srgbClr val="565B60"/>
          </a:solidFill>
          <a:ln w="0">
            <a:solidFill>
              <a:srgbClr val="565B60"/>
            </a:solidFill>
            <a:prstDash val="solid"/>
          </a:ln>
        </p:spPr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2F31A27B-3C64-445F-9CD4-6ED0EDC7D4B6}"/>
              </a:ext>
            </a:extLst>
          </p:cNvPr>
          <p:cNvSpPr>
            <a:spLocks noGrp="1"/>
          </p:cNvSpPr>
          <p:nvPr/>
        </p:nvSpPr>
        <p:spPr>
          <a:xfrm>
            <a:off x="7334250" y="342900"/>
            <a:ext cx="5857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550" b="1">
                <a:solidFill>
                  <a:srgbClr val="171C22"/>
                </a:solidFill>
              </a:defRPr>
            </a:pPr>
            <a:endParaRPr sz="2550" b="1" dirty="0">
              <a:solidFill>
                <a:srgbClr val="171C22"/>
              </a:solidFill>
            </a:endParaRPr>
          </a:p>
        </p:txBody>
      </p:sp>
      <p:sp>
        <p:nvSpPr>
          <p:cNvPr id="5" name="route-callout-title-0">
            <a:extLst>
              <a:ext uri="{FF2B5EF4-FFF2-40B4-BE49-F238E27FC236}">
                <a16:creationId xmlns:a16="http://schemas.microsoft.com/office/drawing/2014/main" id="{8229B4FB-3DC4-47CB-A37D-2AED7A680CA1}"/>
              </a:ext>
            </a:extLst>
          </p:cNvPr>
          <p:cNvSpPr>
            <a:spLocks noGrp="1"/>
          </p:cNvSpPr>
          <p:nvPr/>
        </p:nvSpPr>
        <p:spPr>
          <a:xfrm>
            <a:off x="928687" y="1427787"/>
            <a:ext cx="1105098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1C22"/>
                </a:solidFill>
              </a:defRPr>
            </a:pPr>
            <a:r>
              <a:rPr lang="en-US" sz="1575" b="1" dirty="0">
                <a:solidFill>
                  <a:srgbClr val="171C22"/>
                </a:solidFill>
              </a:rPr>
              <a:t>CCTV</a:t>
            </a:r>
            <a:r>
              <a:rPr lang="ko-KR" altLang="en-US" sz="1575" b="1" dirty="0">
                <a:solidFill>
                  <a:srgbClr val="171C22"/>
                </a:solidFill>
              </a:rPr>
              <a:t> 위치 데이터 </a:t>
            </a:r>
            <a:r>
              <a:rPr lang="en-US" altLang="ko-KR" sz="1575" b="1" dirty="0">
                <a:solidFill>
                  <a:srgbClr val="171C22"/>
                </a:solidFill>
              </a:rPr>
              <a:t>: </a:t>
            </a:r>
            <a:r>
              <a:rPr lang="ko-KR" altLang="en-US" sz="1575" b="1" dirty="0" err="1">
                <a:solidFill>
                  <a:srgbClr val="171C22"/>
                </a:solidFill>
              </a:rPr>
              <a:t>공공데이터포털</a:t>
            </a:r>
            <a:r>
              <a:rPr lang="ko-KR" altLang="en-US" sz="1575" b="1" dirty="0">
                <a:solidFill>
                  <a:srgbClr val="171C22"/>
                </a:solidFill>
              </a:rPr>
              <a:t> </a:t>
            </a:r>
            <a:r>
              <a:rPr lang="ko-KR" altLang="en-US" sz="1575" b="1" dirty="0" err="1">
                <a:solidFill>
                  <a:srgbClr val="171C22"/>
                </a:solidFill>
              </a:rPr>
              <a:t>전남광주</a:t>
            </a:r>
            <a:r>
              <a:rPr lang="ko-KR" altLang="en-US" sz="1575" b="1" dirty="0">
                <a:solidFill>
                  <a:srgbClr val="171C22"/>
                </a:solidFill>
              </a:rPr>
              <a:t> </a:t>
            </a:r>
            <a:r>
              <a:rPr lang="en-US" altLang="ko-KR" sz="1575" b="1" dirty="0">
                <a:solidFill>
                  <a:srgbClr val="171C22"/>
                </a:solidFill>
              </a:rPr>
              <a:t>CCTV </a:t>
            </a:r>
            <a:r>
              <a:rPr lang="ko-KR" altLang="en-US" sz="1575" b="1" dirty="0">
                <a:solidFill>
                  <a:srgbClr val="171C22"/>
                </a:solidFill>
              </a:rPr>
              <a:t>데이터 </a:t>
            </a:r>
            <a:r>
              <a:rPr lang="en-US" altLang="ko-KR" sz="1575" b="1" dirty="0">
                <a:solidFill>
                  <a:srgbClr val="171C22"/>
                </a:solidFill>
              </a:rPr>
              <a:t>(https://www.data.go.kr/data/15084631/fileData.do)</a:t>
            </a:r>
            <a:endParaRPr sz="1575" b="1" dirty="0">
              <a:solidFill>
                <a:srgbClr val="171C22"/>
              </a:solidFill>
            </a:endParaRPr>
          </a:p>
        </p:txBody>
      </p:sp>
      <p:sp>
        <p:nvSpPr>
          <p:cNvPr id="6" name="route-callout-num-0">
            <a:extLst>
              <a:ext uri="{FF2B5EF4-FFF2-40B4-BE49-F238E27FC236}">
                <a16:creationId xmlns:a16="http://schemas.microsoft.com/office/drawing/2014/main" id="{06185DE0-23DD-47AA-9C93-D51267429BFB}"/>
              </a:ext>
            </a:extLst>
          </p:cNvPr>
          <p:cNvSpPr>
            <a:spLocks noGrp="1"/>
          </p:cNvSpPr>
          <p:nvPr/>
        </p:nvSpPr>
        <p:spPr>
          <a:xfrm>
            <a:off x="690562" y="1427787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2796F"/>
                </a:solidFill>
              </a:defRPr>
            </a:pPr>
            <a:r>
              <a:rPr sz="1350" b="1" dirty="0">
                <a:solidFill>
                  <a:srgbClr val="52796F"/>
                </a:solidFill>
              </a:rPr>
              <a:t>01</a:t>
            </a:r>
          </a:p>
        </p:txBody>
      </p:sp>
      <p:sp>
        <p:nvSpPr>
          <p:cNvPr id="7" name="route-callout-title-0">
            <a:extLst>
              <a:ext uri="{FF2B5EF4-FFF2-40B4-BE49-F238E27FC236}">
                <a16:creationId xmlns:a16="http://schemas.microsoft.com/office/drawing/2014/main" id="{E142CE54-364A-4351-BDB6-7A29725126D9}"/>
              </a:ext>
            </a:extLst>
          </p:cNvPr>
          <p:cNvSpPr>
            <a:spLocks noGrp="1"/>
          </p:cNvSpPr>
          <p:nvPr/>
        </p:nvSpPr>
        <p:spPr>
          <a:xfrm>
            <a:off x="928686" y="1941174"/>
            <a:ext cx="12393613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1C22"/>
                </a:solidFill>
              </a:defRPr>
            </a:pPr>
            <a:r>
              <a:rPr lang="ko-KR" altLang="en-US" sz="1575" b="1" dirty="0">
                <a:solidFill>
                  <a:srgbClr val="171C22"/>
                </a:solidFill>
              </a:rPr>
              <a:t>지구대 </a:t>
            </a:r>
            <a:r>
              <a:rPr lang="en-US" altLang="ko-KR" sz="1575" b="1" dirty="0">
                <a:solidFill>
                  <a:srgbClr val="171C22"/>
                </a:solidFill>
              </a:rPr>
              <a:t>/ </a:t>
            </a:r>
            <a:r>
              <a:rPr lang="ko-KR" altLang="en-US" sz="1575" b="1" dirty="0">
                <a:solidFill>
                  <a:srgbClr val="171C22"/>
                </a:solidFill>
              </a:rPr>
              <a:t>파출소 위치 데이터 </a:t>
            </a:r>
            <a:r>
              <a:rPr lang="en-US" altLang="ko-KR" sz="1575" b="1" dirty="0">
                <a:solidFill>
                  <a:srgbClr val="171C22"/>
                </a:solidFill>
              </a:rPr>
              <a:t>: </a:t>
            </a:r>
            <a:r>
              <a:rPr lang="ko-KR" altLang="en-US" sz="1575" b="1" dirty="0" err="1">
                <a:solidFill>
                  <a:srgbClr val="171C22"/>
                </a:solidFill>
              </a:rPr>
              <a:t>공공데이터포털</a:t>
            </a:r>
            <a:r>
              <a:rPr lang="ko-KR" altLang="en-US" sz="1575" b="1" dirty="0">
                <a:solidFill>
                  <a:srgbClr val="171C22"/>
                </a:solidFill>
              </a:rPr>
              <a:t> </a:t>
            </a:r>
            <a:r>
              <a:rPr lang="ko-KR" altLang="en-US" sz="1575" b="1" dirty="0" err="1">
                <a:solidFill>
                  <a:srgbClr val="171C22"/>
                </a:solidFill>
              </a:rPr>
              <a:t>전남광주</a:t>
            </a:r>
            <a:r>
              <a:rPr lang="ko-KR" altLang="en-US" sz="1575" b="1" dirty="0">
                <a:solidFill>
                  <a:srgbClr val="171C22"/>
                </a:solidFill>
              </a:rPr>
              <a:t> 지구대 및 파출소 현황 </a:t>
            </a:r>
            <a:r>
              <a:rPr lang="en-US" altLang="ko-KR" sz="1575" b="1" dirty="0">
                <a:solidFill>
                  <a:srgbClr val="171C22"/>
                </a:solidFill>
              </a:rPr>
              <a:t>(https://www.data.go.kr/data/15099907/fileData.do)</a:t>
            </a:r>
            <a:endParaRPr sz="1575" b="1" dirty="0">
              <a:solidFill>
                <a:srgbClr val="171C22"/>
              </a:solidFill>
            </a:endParaRPr>
          </a:p>
        </p:txBody>
      </p:sp>
      <p:sp>
        <p:nvSpPr>
          <p:cNvPr id="8" name="route-callout-num-0">
            <a:extLst>
              <a:ext uri="{FF2B5EF4-FFF2-40B4-BE49-F238E27FC236}">
                <a16:creationId xmlns:a16="http://schemas.microsoft.com/office/drawing/2014/main" id="{A4FA4D2A-FFA4-4586-A246-491EB85BAE19}"/>
              </a:ext>
            </a:extLst>
          </p:cNvPr>
          <p:cNvSpPr>
            <a:spLocks noGrp="1"/>
          </p:cNvSpPr>
          <p:nvPr/>
        </p:nvSpPr>
        <p:spPr>
          <a:xfrm>
            <a:off x="690562" y="1941174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2796F"/>
                </a:solidFill>
              </a:defRPr>
            </a:pPr>
            <a:r>
              <a:rPr sz="1350" b="1" dirty="0">
                <a:solidFill>
                  <a:srgbClr val="52796F"/>
                </a:solidFill>
              </a:rPr>
              <a:t>0</a:t>
            </a:r>
            <a:r>
              <a:rPr lang="en-US" sz="1350" b="1" dirty="0">
                <a:solidFill>
                  <a:srgbClr val="52796F"/>
                </a:solidFill>
              </a:rPr>
              <a:t>2</a:t>
            </a:r>
            <a:endParaRPr sz="1350" b="1" dirty="0">
              <a:solidFill>
                <a:srgbClr val="52796F"/>
              </a:solidFill>
            </a:endParaRPr>
          </a:p>
        </p:txBody>
      </p:sp>
      <p:sp>
        <p:nvSpPr>
          <p:cNvPr id="9" name="route-callout-title-0">
            <a:extLst>
              <a:ext uri="{FF2B5EF4-FFF2-40B4-BE49-F238E27FC236}">
                <a16:creationId xmlns:a16="http://schemas.microsoft.com/office/drawing/2014/main" id="{0B4697F4-5666-47EC-98CD-4ABF70582AF5}"/>
              </a:ext>
            </a:extLst>
          </p:cNvPr>
          <p:cNvSpPr>
            <a:spLocks noGrp="1"/>
          </p:cNvSpPr>
          <p:nvPr/>
        </p:nvSpPr>
        <p:spPr>
          <a:xfrm>
            <a:off x="928686" y="2412609"/>
            <a:ext cx="12393613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1C22"/>
                </a:solidFill>
              </a:defRPr>
            </a:pPr>
            <a:r>
              <a:rPr lang="ko-KR" altLang="en-US" sz="1575" b="1" dirty="0">
                <a:solidFill>
                  <a:srgbClr val="171C22"/>
                </a:solidFill>
              </a:rPr>
              <a:t>경찰서 위치 데이터 </a:t>
            </a:r>
            <a:r>
              <a:rPr lang="en-US" altLang="ko-KR" sz="1575" b="1" dirty="0">
                <a:solidFill>
                  <a:srgbClr val="171C22"/>
                </a:solidFill>
              </a:rPr>
              <a:t>: </a:t>
            </a:r>
            <a:r>
              <a:rPr lang="ko-KR" altLang="en-US" sz="1575" b="1" dirty="0">
                <a:solidFill>
                  <a:srgbClr val="171C22"/>
                </a:solidFill>
              </a:rPr>
              <a:t>경찰청 전국 경찰관서 안내 </a:t>
            </a:r>
            <a:r>
              <a:rPr lang="en-US" altLang="ko-KR" sz="1575" b="1" dirty="0">
                <a:solidFill>
                  <a:srgbClr val="171C22"/>
                </a:solidFill>
              </a:rPr>
              <a:t>(https://www.police.go.kr/user/bbs/BD_selectBbsList.do?q_bbsCode=1038&amp;q_tab=5)</a:t>
            </a:r>
            <a:endParaRPr sz="1575" b="1" dirty="0">
              <a:solidFill>
                <a:srgbClr val="171C22"/>
              </a:solidFill>
            </a:endParaRPr>
          </a:p>
        </p:txBody>
      </p:sp>
      <p:sp>
        <p:nvSpPr>
          <p:cNvPr id="10" name="route-callout-num-0">
            <a:extLst>
              <a:ext uri="{FF2B5EF4-FFF2-40B4-BE49-F238E27FC236}">
                <a16:creationId xmlns:a16="http://schemas.microsoft.com/office/drawing/2014/main" id="{FBE859A9-A634-43C3-B5EE-8C94AE3598FA}"/>
              </a:ext>
            </a:extLst>
          </p:cNvPr>
          <p:cNvSpPr>
            <a:spLocks noGrp="1"/>
          </p:cNvSpPr>
          <p:nvPr/>
        </p:nvSpPr>
        <p:spPr>
          <a:xfrm>
            <a:off x="690562" y="2412609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2796F"/>
                </a:solidFill>
              </a:defRPr>
            </a:pPr>
            <a:r>
              <a:rPr sz="1350" b="1" dirty="0">
                <a:solidFill>
                  <a:srgbClr val="52796F"/>
                </a:solidFill>
              </a:rPr>
              <a:t>0</a:t>
            </a:r>
            <a:r>
              <a:rPr lang="en-US" sz="1350" b="1" dirty="0">
                <a:solidFill>
                  <a:srgbClr val="52796F"/>
                </a:solidFill>
              </a:rPr>
              <a:t>3</a:t>
            </a:r>
            <a:endParaRPr sz="1350" b="1" dirty="0">
              <a:solidFill>
                <a:srgbClr val="52796F"/>
              </a:solidFill>
            </a:endParaRPr>
          </a:p>
        </p:txBody>
      </p:sp>
      <p:sp>
        <p:nvSpPr>
          <p:cNvPr id="11" name="route-callout-title-0">
            <a:extLst>
              <a:ext uri="{FF2B5EF4-FFF2-40B4-BE49-F238E27FC236}">
                <a16:creationId xmlns:a16="http://schemas.microsoft.com/office/drawing/2014/main" id="{125D489D-6D11-4176-BF70-93B5A0DD3A5F}"/>
              </a:ext>
            </a:extLst>
          </p:cNvPr>
          <p:cNvSpPr>
            <a:spLocks noGrp="1"/>
          </p:cNvSpPr>
          <p:nvPr/>
        </p:nvSpPr>
        <p:spPr>
          <a:xfrm>
            <a:off x="928686" y="2864994"/>
            <a:ext cx="12393613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1C22"/>
                </a:solidFill>
              </a:defRPr>
            </a:pPr>
            <a:r>
              <a:rPr lang="ko-KR" altLang="en-US" sz="1575" b="1" dirty="0">
                <a:solidFill>
                  <a:srgbClr val="171C22"/>
                </a:solidFill>
              </a:rPr>
              <a:t>기사 데이터 </a:t>
            </a:r>
            <a:r>
              <a:rPr lang="en-US" altLang="ko-KR" sz="1575" b="1" dirty="0">
                <a:solidFill>
                  <a:srgbClr val="171C22"/>
                </a:solidFill>
              </a:rPr>
              <a:t>: </a:t>
            </a:r>
            <a:r>
              <a:rPr lang="ko-KR" altLang="en-US" sz="1575" b="1" dirty="0">
                <a:solidFill>
                  <a:srgbClr val="171C22"/>
                </a:solidFill>
              </a:rPr>
              <a:t>네이버 </a:t>
            </a:r>
            <a:r>
              <a:rPr lang="en-US" altLang="ko-KR" sz="1575" b="1" dirty="0">
                <a:solidFill>
                  <a:srgbClr val="171C22"/>
                </a:solidFill>
              </a:rPr>
              <a:t>API </a:t>
            </a:r>
            <a:r>
              <a:rPr lang="ko-KR" altLang="en-US" sz="1575" b="1" dirty="0">
                <a:solidFill>
                  <a:srgbClr val="171C22"/>
                </a:solidFill>
              </a:rPr>
              <a:t>이용한 </a:t>
            </a:r>
            <a:r>
              <a:rPr lang="ko-KR" altLang="en-US" sz="1575" b="1" dirty="0" err="1">
                <a:solidFill>
                  <a:srgbClr val="171C22"/>
                </a:solidFill>
              </a:rPr>
              <a:t>크롤링</a:t>
            </a:r>
            <a:r>
              <a:rPr lang="en-US" altLang="ko-KR" sz="1575" b="1" dirty="0">
                <a:solidFill>
                  <a:srgbClr val="171C22"/>
                </a:solidFill>
              </a:rPr>
              <a:t>(json </a:t>
            </a:r>
            <a:r>
              <a:rPr lang="ko-KR" altLang="en-US" sz="1575" b="1" dirty="0">
                <a:solidFill>
                  <a:srgbClr val="171C22"/>
                </a:solidFill>
              </a:rPr>
              <a:t>파일 내 출처 기입</a:t>
            </a:r>
            <a:r>
              <a:rPr lang="en-US" altLang="ko-KR" sz="1575" b="1" dirty="0">
                <a:solidFill>
                  <a:srgbClr val="171C22"/>
                </a:solidFill>
              </a:rPr>
              <a:t>)</a:t>
            </a:r>
            <a:endParaRPr sz="1575" b="1" dirty="0">
              <a:solidFill>
                <a:srgbClr val="171C22"/>
              </a:solidFill>
            </a:endParaRPr>
          </a:p>
        </p:txBody>
      </p:sp>
      <p:sp>
        <p:nvSpPr>
          <p:cNvPr id="12" name="route-callout-num-0">
            <a:extLst>
              <a:ext uri="{FF2B5EF4-FFF2-40B4-BE49-F238E27FC236}">
                <a16:creationId xmlns:a16="http://schemas.microsoft.com/office/drawing/2014/main" id="{697DC000-8787-42C2-BACE-70A4EB272813}"/>
              </a:ext>
            </a:extLst>
          </p:cNvPr>
          <p:cNvSpPr>
            <a:spLocks noGrp="1"/>
          </p:cNvSpPr>
          <p:nvPr/>
        </p:nvSpPr>
        <p:spPr>
          <a:xfrm>
            <a:off x="690562" y="2864994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2796F"/>
                </a:solidFill>
              </a:defRPr>
            </a:pPr>
            <a:r>
              <a:rPr sz="1350" b="1" dirty="0">
                <a:solidFill>
                  <a:srgbClr val="52796F"/>
                </a:solidFill>
              </a:rPr>
              <a:t>0</a:t>
            </a:r>
            <a:r>
              <a:rPr lang="en-US" sz="1350" b="1" dirty="0">
                <a:solidFill>
                  <a:srgbClr val="52796F"/>
                </a:solidFill>
              </a:rPr>
              <a:t>4</a:t>
            </a:r>
            <a:endParaRPr sz="1350" b="1" dirty="0">
              <a:solidFill>
                <a:srgbClr val="5279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242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>
            <a:extLst>
              <a:ext uri="{FF2B5EF4-FFF2-40B4-BE49-F238E27FC236}">
                <a16:creationId xmlns:a16="http://schemas.microsoft.com/office/drawing/2014/main" id="{D8A4B172-BE3C-437B-8203-D614A5663374}"/>
              </a:ext>
            </a:extLst>
          </p:cNvPr>
          <p:cNvSpPr>
            <a:spLocks noGrp="1"/>
          </p:cNvSpPr>
          <p:nvPr/>
        </p:nvSpPr>
        <p:spPr>
          <a:xfrm>
            <a:off x="4190206" y="3171031"/>
            <a:ext cx="5335588" cy="1373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D96835"/>
                </a:solidFill>
              </a:defRPr>
            </a:pPr>
            <a:r>
              <a:rPr lang="ko-KR" altLang="en-US" sz="7200" b="1" dirty="0">
                <a:solidFill>
                  <a:srgbClr val="D96835"/>
                </a:solidFill>
              </a:rPr>
              <a:t>감사합니다</a:t>
            </a:r>
            <a:r>
              <a:rPr lang="en-US" altLang="ko-KR" sz="7200" b="1" dirty="0">
                <a:solidFill>
                  <a:srgbClr val="D96835"/>
                </a:solidFill>
              </a:rPr>
              <a:t>.</a:t>
            </a:r>
            <a:endParaRPr sz="7200" b="1" dirty="0">
              <a:solidFill>
                <a:srgbClr val="D9683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79996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1052</Words>
  <Application>Microsoft Office PowerPoint</Application>
  <DocSecurity>0</DocSecurity>
  <PresentationFormat>사용자 지정</PresentationFormat>
  <Paragraphs>257</Paragraphs>
  <Slides>14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6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SSAFY</cp:lastModifiedBy>
  <cp:revision>2</cp:revision>
  <dcterms:created xsi:type="dcterms:W3CDTF">2026-07-15T03:10:21Z</dcterms:created>
  <dcterms:modified xsi:type="dcterms:W3CDTF">2026-07-15T04:39:03Z</dcterms:modified>
</cp:coreProperties>
</file>