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f6a6de0dd94393" /><Relationship Type="http://schemas.openxmlformats.org/officeDocument/2006/relationships/extended-properties" Target="/docProps/app.xml" Id="Rd99f03a1e2ca40d4" /><Relationship Type="http://schemas.openxmlformats.org/officeDocument/2006/relationships/officeDocument" Target="/ppt/presentation.xml" Id="R1ab00a53a50448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140e7bac64703"/>
  </p:sldMasterIdLst>
  <p:notesMasterIdLst>
    <p:notesMasterId xmlns:r="http://schemas.openxmlformats.org/officeDocument/2006/relationships" r:id="R1084b8b451804773"/>
  </p:notesMasterIdLst>
  <p:sldIdLst>
    <p:sldId xmlns:r="http://schemas.openxmlformats.org/officeDocument/2006/relationships" id="256" r:id="R58e7053719f54e01"/>
    <p:sldId xmlns:r="http://schemas.openxmlformats.org/officeDocument/2006/relationships" id="257" r:id="R7c7ebd7255b848e7"/>
    <p:sldId xmlns:r="http://schemas.openxmlformats.org/officeDocument/2006/relationships" id="258" r:id="R0023374f98694e3d"/>
    <p:sldId xmlns:r="http://schemas.openxmlformats.org/officeDocument/2006/relationships" id="259" r:id="Rd0649f1bd5df4dc6"/>
    <p:sldId xmlns:r="http://schemas.openxmlformats.org/officeDocument/2006/relationships" id="260" r:id="R3fb57cdaceaf4717"/>
    <p:sldId xmlns:r="http://schemas.openxmlformats.org/officeDocument/2006/relationships" id="261" r:id="R9f0f85769259483d"/>
    <p:sldId xmlns:r="http://schemas.openxmlformats.org/officeDocument/2006/relationships" id="262" r:id="R962eb27f11964f79"/>
    <p:sldId xmlns:r="http://schemas.openxmlformats.org/officeDocument/2006/relationships" id="263" r:id="Rd281b6fa08594298"/>
    <p:sldId xmlns:r="http://schemas.openxmlformats.org/officeDocument/2006/relationships" id="264" r:id="R50b34910e24747a3"/>
    <p:sldId xmlns:r="http://schemas.openxmlformats.org/officeDocument/2006/relationships" id="265" r:id="Rfcd5845ca8bc44ca"/>
    <p:sldId xmlns:r="http://schemas.openxmlformats.org/officeDocument/2006/relationships" id="266" r:id="R414139bfdb8647fc"/>
    <p:sldId xmlns:r="http://schemas.openxmlformats.org/officeDocument/2006/relationships" id="267" r:id="Rb7a3cf929aa144e8"/>
    <p:sldId xmlns:r="http://schemas.openxmlformats.org/officeDocument/2006/relationships" id="268" r:id="R1e064a0d135b4d14"/>
    <p:sldId xmlns:r="http://schemas.openxmlformats.org/officeDocument/2006/relationships" id="269" r:id="Rbffca6fd624540a1"/>
    <p:sldId xmlns:r="http://schemas.openxmlformats.org/officeDocument/2006/relationships" id="270" r:id="R0d4ea9f48f4941d1"/>
  </p:sldIdLst>
  <p:sldSz cx="13716000" cy="7715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ded5acb44e4478" /><Relationship Type="http://schemas.openxmlformats.org/officeDocument/2006/relationships/slideMaster" Target="/ppt/slideMasters/slideMaster1.xml" Id="R331140e7bac64703" /><Relationship Type="http://schemas.openxmlformats.org/officeDocument/2006/relationships/notesMaster" Target="/ppt/notesMasters/notesMaster1.xml" Id="R1084b8b451804773" /><Relationship Type="http://schemas.openxmlformats.org/officeDocument/2006/relationships/presProps" Target="/ppt/presProps.xml" Id="R1fc6796edbf148ad" /><Relationship Type="http://schemas.openxmlformats.org/officeDocument/2006/relationships/tableStyles" Target="/ppt/tableStyles.xml" Id="R1c24a52b4f9e4d8b" /><Relationship Type="http://schemas.openxmlformats.org/officeDocument/2006/relationships/slide" Target="/ppt/slides/slide1.xml" Id="R58e7053719f54e01" /><Relationship Type="http://schemas.openxmlformats.org/officeDocument/2006/relationships/slide" Target="/ppt/slides/slide2.xml" Id="R7c7ebd7255b848e7" /><Relationship Type="http://schemas.openxmlformats.org/officeDocument/2006/relationships/slide" Target="/ppt/slides/slide3.xml" Id="R0023374f98694e3d" /><Relationship Type="http://schemas.openxmlformats.org/officeDocument/2006/relationships/slide" Target="/ppt/slides/slide4.xml" Id="Rd0649f1bd5df4dc6" /><Relationship Type="http://schemas.openxmlformats.org/officeDocument/2006/relationships/slide" Target="/ppt/slides/slide5.xml" Id="R3fb57cdaceaf4717" /><Relationship Type="http://schemas.openxmlformats.org/officeDocument/2006/relationships/slide" Target="/ppt/slides/slide6.xml" Id="R9f0f85769259483d" /><Relationship Type="http://schemas.openxmlformats.org/officeDocument/2006/relationships/slide" Target="/ppt/slides/slide7.xml" Id="R962eb27f11964f79" /><Relationship Type="http://schemas.openxmlformats.org/officeDocument/2006/relationships/slide" Target="/ppt/slides/slide8.xml" Id="Rd281b6fa08594298" /><Relationship Type="http://schemas.openxmlformats.org/officeDocument/2006/relationships/slide" Target="/ppt/slides/slide9.xml" Id="R50b34910e24747a3" /><Relationship Type="http://schemas.openxmlformats.org/officeDocument/2006/relationships/slide" Target="/ppt/slides/slide10.xml" Id="Rfcd5845ca8bc44ca" /><Relationship Type="http://schemas.openxmlformats.org/officeDocument/2006/relationships/slide" Target="/ppt/slides/slide11.xml" Id="R414139bfdb8647fc" /><Relationship Type="http://schemas.openxmlformats.org/officeDocument/2006/relationships/slide" Target="/ppt/slides/slide12.xml" Id="Rb7a3cf929aa144e8" /><Relationship Type="http://schemas.openxmlformats.org/officeDocument/2006/relationships/slide" Target="/ppt/slides/slide13.xml" Id="R1e064a0d135b4d14" /><Relationship Type="http://schemas.openxmlformats.org/officeDocument/2006/relationships/slide" Target="/ppt/slides/slide14.xml" Id="Rbffca6fd624540a1" /><Relationship Type="http://schemas.openxmlformats.org/officeDocument/2006/relationships/slide" Target="/ppt/slides/slide15.xml" Id="R0d4ea9f48f49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949b7b7f034f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b179acb1a64bb2" /><Relationship Type="http://schemas.openxmlformats.org/officeDocument/2006/relationships/notesMaster" Target="/ppt/notesMasters/notesMaster1.xml" Id="R06a5a8e4cf8a45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cdc78a0b9487a" /><Relationship Type="http://schemas.openxmlformats.org/officeDocument/2006/relationships/notesMaster" Target="/ppt/notesMasters/notesMaster1.xml" Id="R3ebaf1702b4546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268a954caa4209" /><Relationship Type="http://schemas.openxmlformats.org/officeDocument/2006/relationships/notesMaster" Target="/ppt/notesMasters/notesMaster1.xml" Id="R6ca8a609da774a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c3292bc63347cd" /><Relationship Type="http://schemas.openxmlformats.org/officeDocument/2006/relationships/notesMaster" Target="/ppt/notesMasters/notesMaster1.xml" Id="R454f9a7fc6274a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d044414d654048" /><Relationship Type="http://schemas.openxmlformats.org/officeDocument/2006/relationships/notesMaster" Target="/ppt/notesMasters/notesMaster1.xml" Id="R4e9bb7486fb84f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9ea8089064e31" /><Relationship Type="http://schemas.openxmlformats.org/officeDocument/2006/relationships/notesMaster" Target="/ppt/notesMasters/notesMaster1.xml" Id="Ra4e6bb03caff48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1d2aba85e248db" /><Relationship Type="http://schemas.openxmlformats.org/officeDocument/2006/relationships/notesMaster" Target="/ppt/notesMasters/notesMaster1.xml" Id="R52ab9557ea864c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9cb832dc9444cd" /><Relationship Type="http://schemas.openxmlformats.org/officeDocument/2006/relationships/notesMaster" Target="/ppt/notesMasters/notesMaster1.xml" Id="R7297958a9ace42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d3938a319a4c5a" /><Relationship Type="http://schemas.openxmlformats.org/officeDocument/2006/relationships/notesMaster" Target="/ppt/notesMasters/notesMaster1.xml" Id="R1cee890dcaa2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215b4f98bd4b32" /><Relationship Type="http://schemas.openxmlformats.org/officeDocument/2006/relationships/notesMaster" Target="/ppt/notesMasters/notesMaster1.xml" Id="R0d11c775393f42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22c8f0e51243b9" /><Relationship Type="http://schemas.openxmlformats.org/officeDocument/2006/relationships/notesMaster" Target="/ppt/notesMasters/notesMaster1.xml" Id="R85e13a85d2b147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002740148a4922" /><Relationship Type="http://schemas.openxmlformats.org/officeDocument/2006/relationships/notesMaster" Target="/ppt/notesMasters/notesMaster1.xml" Id="R45b49d7435a441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ed01fc7b49441f" /><Relationship Type="http://schemas.openxmlformats.org/officeDocument/2006/relationships/notesMaster" Target="/ppt/notesMasters/notesMaster1.xml" Id="R126c91dbc1d440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203436a3a240c6" /><Relationship Type="http://schemas.openxmlformats.org/officeDocument/2006/relationships/notesMaster" Target="/ppt/notesMasters/notesMaster1.xml" Id="R9c4c29dedd4e43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5a767b6e234ebe" /><Relationship Type="http://schemas.openxmlformats.org/officeDocument/2006/relationships/notesMaster" Target="/ppt/notesMasters/notesMaster1.xml" Id="R532780de936649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440116aea48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7cc675f3274918" /><Relationship Type="http://schemas.openxmlformats.org/officeDocument/2006/relationships/slideLayout" Target="/ppt/slideLayouts/slideLayout1.xml" Id="R665fc0eb65cd49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5fc0eb65cd49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92a4f4c74d59" /><Relationship Type="http://schemas.openxmlformats.org/officeDocument/2006/relationships/notesSlide" Target="/ppt/notesSlides/notesSlide1.xml" Id="Rf94f75fbff6a40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9535c4d1f450b" /><Relationship Type="http://schemas.openxmlformats.org/officeDocument/2006/relationships/notesSlide" Target="/ppt/notesSlides/notesSlide2.xml" Id="Rdc2278ccd7114d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4615bee75483d" /><Relationship Type="http://schemas.openxmlformats.org/officeDocument/2006/relationships/notesSlide" Target="/ppt/notesSlides/notesSlide3.xml" Id="Re46c8cb254ad47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98c3f05f44fc4" /><Relationship Type="http://schemas.openxmlformats.org/officeDocument/2006/relationships/notesSlide" Target="/ppt/notesSlides/notesSlide4.xml" Id="Rf2478fece307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2f43d62dd45c3" /><Relationship Type="http://schemas.openxmlformats.org/officeDocument/2006/relationships/notesSlide" Target="/ppt/notesSlides/notesSlide5.xml" Id="R979c7492098c4c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a3cc2adc348ea" /><Relationship Type="http://schemas.openxmlformats.org/officeDocument/2006/relationships/notesSlide" Target="/ppt/notesSlides/notesSlide6.xml" Id="Rd576463c86d441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52255e61442e3" /><Relationship Type="http://schemas.openxmlformats.org/officeDocument/2006/relationships/image" Target="/ppt/media/image.png" Id="Rb7cc6756c745402c" /><Relationship Type="http://schemas.openxmlformats.org/officeDocument/2006/relationships/notesSlide" Target="/ppt/notesSlides/notesSlide7.xml" Id="R44a7ad2a79b847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25ef4e9ef4e33" /><Relationship Type="http://schemas.openxmlformats.org/officeDocument/2006/relationships/notesSlide" Target="/ppt/notesSlides/notesSlide8.xml" Id="R306806751f5c4e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b4e4bae2d4b69" /><Relationship Type="http://schemas.openxmlformats.org/officeDocument/2006/relationships/notesSlide" Target="/ppt/notesSlides/notesSlide9.xml" Id="R28993c5ede0945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b6e38859e4b1f" /><Relationship Type="http://schemas.openxmlformats.org/officeDocument/2006/relationships/image" Target="/ppt/media/image2.png" Id="R10847b3daf384cbe" /><Relationship Type="http://schemas.openxmlformats.org/officeDocument/2006/relationships/notesSlide" Target="/ppt/notesSlides/notesSlide10.xml" Id="R9cf7c915a1344a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c13e060a94e1c" /><Relationship Type="http://schemas.openxmlformats.org/officeDocument/2006/relationships/image" Target="/ppt/media/image3.png" Id="Re480c75133bd450b" /><Relationship Type="http://schemas.openxmlformats.org/officeDocument/2006/relationships/image" Target="/ppt/media/image4.png" Id="Re9e42e2f0dcb4966" /><Relationship Type="http://schemas.openxmlformats.org/officeDocument/2006/relationships/notesSlide" Target="/ppt/notesSlides/notesSlide11.xml" Id="R3f33dfc14b394d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a90796378438f" /><Relationship Type="http://schemas.openxmlformats.org/officeDocument/2006/relationships/image" Target="/ppt/media/image5.png" Id="Rf83357ee7f764217" /><Relationship Type="http://schemas.openxmlformats.org/officeDocument/2006/relationships/notesSlide" Target="/ppt/notesSlides/notesSlide12.xml" Id="Rd6ac4bb244474e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36ed3d8f9483a" /><Relationship Type="http://schemas.openxmlformats.org/officeDocument/2006/relationships/notesSlide" Target="/ppt/notesSlides/notesSlide13.xml" Id="R1f914d72f6b747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ff430ebf84dc4" /><Relationship Type="http://schemas.openxmlformats.org/officeDocument/2006/relationships/notesSlide" Target="/ppt/notesSlides/notesSlide14.xml" Id="Ra5281c4cb4ec40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502bebea544a4" /><Relationship Type="http://schemas.openxmlformats.org/officeDocument/2006/relationships/notesSlide" Target="/ppt/notesSlides/notesSlide15.xml" Id="R4c22af74228743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">
            <a:extLst xmlns:a="http://schemas.openxmlformats.org/drawingml/2006/main">
              <a:ext uri="{FF2B5EF4-FFF2-40B4-BE49-F238E27FC236}">
                <a16:creationId xmlns:a16="http://schemas.microsoft.com/office/drawing/2014/main" id="{B51BDF79-3B50-42BB-9FB5-E9623017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F4EFE7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A95AFBE-A651-4D5E-BC5D-032404B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78"/>
                </a:solidFill>
              </a:defRPr>
            </a:pPr>
            <a:r>
              <a:rPr sz="1200" b="1">
                <a:solidFill>
                  <a:srgbClr val="00A878"/>
                </a:solidFill>
              </a:rPr>
              <a:t>LOCALHUB · BX / CX / DX PROJECT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07225F20-CC01-49E5-96DF-3F83584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4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925EE6F0-3B72-4F6F-B7A9-5A77E4D2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231F"/>
                </a:solidFill>
              </a:defRPr>
            </a:pPr>
            <a:r>
              <a:rPr sz="4950" b="1">
                <a:solidFill>
                  <a:srgbClr val="17231F"/>
                </a:solidFill>
              </a:rPr>
              <a:t>밤길의 불안을</a:t>
            </a:r>
          </a:p>
        </p:txBody>
      </p:sp>
      <p:sp>
        <p:nvSpPr>
          <p:cNvPr id="5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C8C9FFE6-4168-4A55-B615-684591C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A878"/>
                </a:solidFill>
              </a:defRPr>
            </a:pPr>
            <a:r>
              <a:rPr sz="5700" b="1">
                <a:solidFill>
                  <a:srgbClr val="00A878"/>
                </a:solidFill>
              </a:rPr>
              <a:t>데이터로 읽다</a:t>
            </a:r>
          </a:p>
        </p:txBody>
      </p:sp>
      <p:sp>
        <p:nvSpPr>
          <p:cNvPr id="6" name="cover-sub">
            <a:extLst xmlns:a="http://schemas.openxmlformats.org/drawingml/2006/main">
              <a:ext uri="{FF2B5EF4-FFF2-40B4-BE49-F238E27FC236}">
                <a16:creationId xmlns:a16="http://schemas.microsoft.com/office/drawing/2014/main" id="{06863B20-36F2-4F80-AA2A-47D89B7E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06B"/>
                </a:solidFill>
              </a:defRPr>
            </a:pPr>
            <a:r>
              <a:rPr sz="2025" b="0">
                <a:solidFill>
                  <a:srgbClr val="62706B"/>
                </a:solidFill>
              </a:rPr>
              <a:t>워드클라우드에서 안전귀가 서비스까지</a:t>
            </a:r>
          </a:p>
        </p:txBody>
      </p:sp>
      <p:sp>
        <p:nvSpPr>
          <p:cNvPr id="7" name="cover-data">
            <a:extLst xmlns:a="http://schemas.openxmlformats.org/drawingml/2006/main">
              <a:ext uri="{FF2B5EF4-FFF2-40B4-BE49-F238E27FC236}">
                <a16:creationId xmlns:a16="http://schemas.microsoft.com/office/drawing/2014/main" id="{3C2BCDA7-EDE2-401C-AA4B-826462A8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04D"/>
                </a:solidFill>
              </a:defRPr>
            </a:pPr>
            <a:r>
              <a:rPr sz="1200" b="1">
                <a:solidFill>
                  <a:srgbClr val="FF704D"/>
                </a:solidFill>
              </a:rPr>
              <a:t>NAVER NEWS + BLOG  ·  2,257 DOCUMENTS</a:t>
            </a:r>
          </a:p>
        </p:txBody>
      </p:sp>
      <p:sp>
        <p:nvSpPr>
          <p:cNvPr id="8" name="cover-pipeline-panel">
            <a:extLst xmlns:a="http://schemas.openxmlformats.org/drawingml/2006/main">
              <a:ext uri="{FF2B5EF4-FFF2-40B4-BE49-F238E27FC236}">
                <a16:creationId xmlns:a16="http://schemas.microsoft.com/office/drawing/2014/main" id="{4A96E841-26DE-484C-BAC0-30D9AF89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00150"/>
            <a:ext cx="3333750" cy="4762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C8E2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over-pipe-line">
            <a:extLst xmlns:a="http://schemas.openxmlformats.org/drawingml/2006/main">
              <a:ext uri="{FF2B5EF4-FFF2-40B4-BE49-F238E27FC236}">
                <a16:creationId xmlns:a16="http://schemas.microsoft.com/office/drawing/2014/main" id="{5B89ED6A-83E3-46E8-ACE2-3D464716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6210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0" name="cover-node-0">
            <a:extLst xmlns:a="http://schemas.openxmlformats.org/drawingml/2006/main">
              <a:ext uri="{FF2B5EF4-FFF2-40B4-BE49-F238E27FC236}">
                <a16:creationId xmlns:a16="http://schemas.microsoft.com/office/drawing/2014/main" id="{D9BC90F0-6AB0-4D23-AA0B-0647C82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24322D"/>
            </a:solidFill>
            <a:prstDash val="solid"/>
          </a:ln>
        </p:spPr>
      </p:sp>
      <p:sp>
        <p:nvSpPr>
          <p:cNvPr id="11" name="cover-node-num-0">
            <a:extLst xmlns:a="http://schemas.openxmlformats.org/drawingml/2006/main">
              <a:ext uri="{FF2B5EF4-FFF2-40B4-BE49-F238E27FC236}">
                <a16:creationId xmlns:a16="http://schemas.microsoft.com/office/drawing/2014/main" id="{B30CC6D1-9CB8-4C3B-8FD7-3CC44BD2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428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01</a:t>
            </a:r>
          </a:p>
        </p:txBody>
      </p:sp>
      <p:sp>
        <p:nvSpPr>
          <p:cNvPr id="12" name="cover-node-text-0">
            <a:extLst xmlns:a="http://schemas.openxmlformats.org/drawingml/2006/main">
              <a:ext uri="{FF2B5EF4-FFF2-40B4-BE49-F238E27FC236}">
                <a16:creationId xmlns:a16="http://schemas.microsoft.com/office/drawing/2014/main" id="{D50E8EC9-6BF7-417D-8017-3FA0F66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764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322D"/>
                </a:solidFill>
              </a:defRPr>
            </a:pPr>
            <a:r>
              <a:rPr sz="2175" b="1">
                <a:solidFill>
                  <a:srgbClr val="24322D"/>
                </a:solidFill>
              </a:rPr>
              <a:t>DATA</a:t>
            </a:r>
          </a:p>
        </p:txBody>
      </p:sp>
      <p:sp>
        <p:nvSpPr>
          <p:cNvPr id="13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20CAF215-138A-4ECF-AE62-15D3DF9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098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00A878"/>
            </a:solidFill>
            <a:prstDash val="solid"/>
          </a:ln>
        </p:spPr>
      </p:sp>
      <p:sp>
        <p:nvSpPr>
          <p:cNvPr id="14" name="cover-node-num-1">
            <a:extLst xmlns:a="http://schemas.openxmlformats.org/drawingml/2006/main">
              <a:ext uri="{FF2B5EF4-FFF2-40B4-BE49-F238E27FC236}">
                <a16:creationId xmlns:a16="http://schemas.microsoft.com/office/drawing/2014/main" id="{E8E4AD75-A7CB-4A18-A322-A935F7D0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02</a:t>
            </a:r>
          </a:p>
        </p:txBody>
      </p:sp>
      <p:sp>
        <p:nvSpPr>
          <p:cNvPr id="15" name="cover-node-text-1">
            <a:extLst xmlns:a="http://schemas.openxmlformats.org/drawingml/2006/main">
              <a:ext uri="{FF2B5EF4-FFF2-40B4-BE49-F238E27FC236}">
                <a16:creationId xmlns:a16="http://schemas.microsoft.com/office/drawing/2014/main" id="{BAE7BF9A-02F2-42CA-A779-D281F700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24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A878"/>
                </a:solidFill>
              </a:defRPr>
            </a:pPr>
            <a:r>
              <a:rPr sz="2175" b="1">
                <a:solidFill>
                  <a:srgbClr val="00A878"/>
                </a:solidFill>
              </a:rPr>
              <a:t>INSIGHT</a:t>
            </a:r>
          </a:p>
        </p:txBody>
      </p:sp>
      <p:sp>
        <p:nvSpPr>
          <p:cNvPr id="16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11898218-228E-4877-9455-38AB9357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57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24322D"/>
            </a:solidFill>
            <a:prstDash val="solid"/>
          </a:ln>
        </p:spPr>
      </p:sp>
      <p:sp>
        <p:nvSpPr>
          <p:cNvPr id="17" name="cover-node-num-2">
            <a:extLst xmlns:a="http://schemas.openxmlformats.org/drawingml/2006/main">
              <a:ext uri="{FF2B5EF4-FFF2-40B4-BE49-F238E27FC236}">
                <a16:creationId xmlns:a16="http://schemas.microsoft.com/office/drawing/2014/main" id="{5A74CF1C-B21F-4E40-A62E-E687A30A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03</a:t>
            </a:r>
          </a:p>
        </p:txBody>
      </p:sp>
      <p:sp>
        <p:nvSpPr>
          <p:cNvPr id="18" name="cover-node-text-2">
            <a:extLst xmlns:a="http://schemas.openxmlformats.org/drawingml/2006/main">
              <a:ext uri="{FF2B5EF4-FFF2-40B4-BE49-F238E27FC236}">
                <a16:creationId xmlns:a16="http://schemas.microsoft.com/office/drawing/2014/main" id="{8F295CAF-A53A-46F6-BFA4-F03E1A49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719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322D"/>
                </a:solidFill>
              </a:defRPr>
            </a:pPr>
            <a:r>
              <a:rPr sz="2175" b="1">
                <a:solidFill>
                  <a:srgbClr val="24322D"/>
                </a:solidFill>
              </a:rPr>
              <a:t>PERSONA</a:t>
            </a:r>
          </a:p>
        </p:txBody>
      </p:sp>
      <p:sp>
        <p:nvSpPr>
          <p:cNvPr id="19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CF2FEF27-C168-47F7-B5F3-D255EEFD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05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FF704D"/>
            </a:solidFill>
            <a:prstDash val="solid"/>
          </a:ln>
        </p:spPr>
      </p:sp>
      <p:sp>
        <p:nvSpPr>
          <p:cNvPr id="20" name="cover-node-num-3">
            <a:extLst xmlns:a="http://schemas.openxmlformats.org/drawingml/2006/main">
              <a:ext uri="{FF2B5EF4-FFF2-40B4-BE49-F238E27FC236}">
                <a16:creationId xmlns:a16="http://schemas.microsoft.com/office/drawing/2014/main" id="{5FF70A01-9517-4A17-B8BE-47CAF261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06B"/>
                </a:solidFill>
              </a:defRPr>
            </a:pPr>
            <a:r>
              <a:rPr sz="1050" b="1">
                <a:solidFill>
                  <a:srgbClr val="62706B"/>
                </a:solidFill>
              </a:rPr>
              <a:t>04</a:t>
            </a:r>
          </a:p>
        </p:txBody>
      </p:sp>
      <p:sp>
        <p:nvSpPr>
          <p:cNvPr id="21" name="cover-node-text-3">
            <a:extLst xmlns:a="http://schemas.openxmlformats.org/drawingml/2006/main">
              <a:ext uri="{FF2B5EF4-FFF2-40B4-BE49-F238E27FC236}">
                <a16:creationId xmlns:a16="http://schemas.microsoft.com/office/drawing/2014/main" id="{F4035745-9B6A-4759-83BB-A23B48BC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96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704D"/>
                </a:solidFill>
              </a:defRPr>
            </a:pPr>
            <a:r>
              <a:rPr sz="2175" b="1">
                <a:solidFill>
                  <a:srgbClr val="FF704D"/>
                </a:solidFill>
              </a:rPr>
              <a:t>DX</a:t>
            </a:r>
          </a:p>
        </p:txBody>
      </p:sp>
      <p:sp>
        <p:nvSpPr>
          <p:cNvPr id="22" name="cover-team">
            <a:extLst xmlns:a="http://schemas.openxmlformats.org/drawingml/2006/main">
              <a:ext uri="{FF2B5EF4-FFF2-40B4-BE49-F238E27FC236}">
                <a16:creationId xmlns:a16="http://schemas.microsoft.com/office/drawing/2014/main" id="{61BDEEC8-1B63-4762-8F9F-E249D267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광주 2반  ·  정용철 / 김지명 / 전준혁</a:t>
            </a:r>
          </a:p>
        </p:txBody>
      </p:sp>
    </p:spTree>
    <p:extLst>
      <p:ext uri="{BB962C8B-B14F-4D97-AF65-F5344CB8AC3E}">
        <p14:creationId xmlns:p14="http://schemas.microsoft.com/office/powerpoint/2010/main" val="1218353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2">
            <a:extLst xmlns:a="http://schemas.openxmlformats.org/drawingml/2006/main">
              <a:ext uri="{FF2B5EF4-FFF2-40B4-BE49-F238E27FC236}">
                <a16:creationId xmlns:a16="http://schemas.microsoft.com/office/drawing/2014/main" id="{C8DCC003-F254-4072-8A65-AEDDD11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94910C51-9801-4EEE-B005-3DE88C97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FLOW</a:t>
            </a:r>
          </a:p>
        </p:txBody>
      </p:sp>
      <p:sp>
        <p:nvSpPr>
          <p:cNvPr id="3" name="header-line-2">
            <a:extLst xmlns:a="http://schemas.openxmlformats.org/drawingml/2006/main">
              <a:ext uri="{FF2B5EF4-FFF2-40B4-BE49-F238E27FC236}">
                <a16:creationId xmlns:a16="http://schemas.microsoft.com/office/drawing/2014/main" id="{B0DE7C0A-C390-4531-838F-70548D3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2">
            <a:extLst xmlns:a="http://schemas.openxmlformats.org/drawingml/2006/main">
              <a:ext uri="{FF2B5EF4-FFF2-40B4-BE49-F238E27FC236}">
                <a16:creationId xmlns:a16="http://schemas.microsoft.com/office/drawing/2014/main" id="{B242B383-8D24-4FB6-9BC2-8D44BB30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FEEC9084-2EDB-4A64-B070-BEA4C546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텍스트를 실제 서비스로 연결하는 네 단계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EE57C2BD-6285-4BB8-B14A-632EB94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02</a:t>
            </a:r>
          </a:p>
        </p:txBody>
      </p:sp>
      <p:sp>
        <p:nvSpPr>
          <p:cNvPr id="7" name="flow-num-0">
            <a:extLst xmlns:a="http://schemas.openxmlformats.org/drawingml/2006/main">
              <a:ext uri="{FF2B5EF4-FFF2-40B4-BE49-F238E27FC236}">
                <a16:creationId xmlns:a16="http://schemas.microsoft.com/office/drawing/2014/main" id="{1A85F82D-BAD2-4804-8E88-CDF97735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322D"/>
                </a:solidFill>
              </a:defRPr>
            </a:pPr>
            <a:r>
              <a:rPr sz="2400" b="1">
                <a:solidFill>
                  <a:srgbClr val="24322D"/>
                </a:solidFill>
              </a:rPr>
              <a:t>01</a:t>
            </a:r>
          </a:p>
        </p:txBody>
      </p:sp>
      <p:sp>
        <p:nvSpPr>
          <p:cNvPr id="8" name="flow-key-0">
            <a:extLst xmlns:a="http://schemas.openxmlformats.org/drawingml/2006/main">
              <a:ext uri="{FF2B5EF4-FFF2-40B4-BE49-F238E27FC236}">
                <a16:creationId xmlns:a16="http://schemas.microsoft.com/office/drawing/2014/main" id="{09B3C280-4C2C-4EBF-A825-41E34D1F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DATA</a:t>
            </a:r>
          </a:p>
        </p:txBody>
      </p:sp>
      <p:sp>
        <p:nvSpPr>
          <p:cNvPr id="9" name="flow-value-0">
            <a:extLst xmlns:a="http://schemas.openxmlformats.org/drawingml/2006/main">
              <a:ext uri="{FF2B5EF4-FFF2-40B4-BE49-F238E27FC236}">
                <a16:creationId xmlns:a16="http://schemas.microsoft.com/office/drawing/2014/main" id="{E1F95C3C-42A3-4EC0-90F7-0791E75C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31F"/>
                </a:solidFill>
              </a:defRPr>
            </a:pPr>
            <a:r>
              <a:rPr sz="3225" b="1">
                <a:solidFill>
                  <a:srgbClr val="17231F"/>
                </a:solidFill>
              </a:rPr>
              <a:t>2,257건</a:t>
            </a:r>
          </a:p>
        </p:txBody>
      </p:sp>
      <p:sp>
        <p:nvSpPr>
          <p:cNvPr id="10" name="flow-desc-0">
            <a:extLst xmlns:a="http://schemas.openxmlformats.org/drawingml/2006/main">
              <a:ext uri="{FF2B5EF4-FFF2-40B4-BE49-F238E27FC236}">
                <a16:creationId xmlns:a16="http://schemas.microsoft.com/office/drawing/2014/main" id="{1030B7F0-DE79-4FB1-BDD9-AE893466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뉴스·블로그 수집</a:t>
            </a:r>
          </a:p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중복 제거</a:t>
            </a:r>
          </a:p>
        </p:txBody>
      </p:sp>
      <p:sp>
        <p:nvSpPr>
          <p:cNvPr id="11" name="flow-accent-0">
            <a:extLst xmlns:a="http://schemas.openxmlformats.org/drawingml/2006/main">
              <a:ext uri="{FF2B5EF4-FFF2-40B4-BE49-F238E27FC236}">
                <a16:creationId xmlns:a16="http://schemas.microsoft.com/office/drawing/2014/main" id="{1CAEBAB4-40F5-43E8-AEA3-4C3FE6D2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D"/>
          </a:solidFill>
          <a:ln xmlns:a="http://schemas.openxmlformats.org/drawingml/2006/main" w="0">
            <a:solidFill>
              <a:srgbClr val="24322D"/>
            </a:solidFill>
            <a:prstDash val="solid"/>
          </a:ln>
        </p:spPr>
      </p:sp>
      <p:sp>
        <p:nvSpPr>
          <p:cNvPr id="12" name="flow-sep-1">
            <a:extLst xmlns:a="http://schemas.openxmlformats.org/drawingml/2006/main">
              <a:ext uri="{FF2B5EF4-FFF2-40B4-BE49-F238E27FC236}">
                <a16:creationId xmlns:a16="http://schemas.microsoft.com/office/drawing/2014/main" id="{8E229843-9EC3-4BBF-A993-1CE246ED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52625"/>
            <a:ext cx="95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C094F4CF-2351-4B8E-8B66-AB9AD9E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9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704D"/>
                </a:solidFill>
              </a:defRPr>
            </a:pPr>
            <a:r>
              <a:rPr sz="2400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4" name="flow-key-1">
            <a:extLst xmlns:a="http://schemas.openxmlformats.org/drawingml/2006/main">
              <a:ext uri="{FF2B5EF4-FFF2-40B4-BE49-F238E27FC236}">
                <a16:creationId xmlns:a16="http://schemas.microsoft.com/office/drawing/2014/main" id="{0D27BB3A-FF8B-484E-9969-A0EF7C40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INSIGHT</a:t>
            </a:r>
          </a:p>
        </p:txBody>
      </p:sp>
      <p:sp>
        <p:nvSpPr>
          <p:cNvPr id="15" name="flow-value-1">
            <a:extLst xmlns:a="http://schemas.openxmlformats.org/drawingml/2006/main">
              <a:ext uri="{FF2B5EF4-FFF2-40B4-BE49-F238E27FC236}">
                <a16:creationId xmlns:a16="http://schemas.microsoft.com/office/drawing/2014/main" id="{711362E6-2BCE-4674-8BE5-AF79C02E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9562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31F"/>
                </a:solidFill>
              </a:defRPr>
            </a:pPr>
            <a:r>
              <a:rPr sz="3225" b="1">
                <a:solidFill>
                  <a:srgbClr val="17231F"/>
                </a:solidFill>
              </a:rPr>
              <a:t>상위 50개</a:t>
            </a:r>
          </a:p>
        </p:txBody>
      </p:sp>
      <p:sp>
        <p:nvSpPr>
          <p:cNvPr id="16" name="flow-desc-1">
            <a:extLst xmlns:a="http://schemas.openxmlformats.org/drawingml/2006/main">
              <a:ext uri="{FF2B5EF4-FFF2-40B4-BE49-F238E27FC236}">
                <a16:creationId xmlns:a16="http://schemas.microsoft.com/office/drawing/2014/main" id="{9648DB0B-B24E-45B1-A21F-D783950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862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불용어 처리</a:t>
            </a:r>
          </a:p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워드클라우드</a:t>
            </a:r>
          </a:p>
        </p:txBody>
      </p:sp>
      <p:sp>
        <p:nvSpPr>
          <p:cNvPr id="17" name="flow-accent-1">
            <a:extLst xmlns:a="http://schemas.openxmlformats.org/drawingml/2006/main">
              <a:ext uri="{FF2B5EF4-FFF2-40B4-BE49-F238E27FC236}">
                <a16:creationId xmlns:a16="http://schemas.microsoft.com/office/drawing/2014/main" id="{9C01B268-D588-4D36-A2C3-12A5B264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429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18" name="flow-sep-2">
            <a:extLst xmlns:a="http://schemas.openxmlformats.org/drawingml/2006/main">
              <a:ext uri="{FF2B5EF4-FFF2-40B4-BE49-F238E27FC236}">
                <a16:creationId xmlns:a16="http://schemas.microsoft.com/office/drawing/2014/main" id="{6DDC1614-821C-4859-9A3C-6780BE5F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95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9" name="flow-num-2">
            <a:extLst xmlns:a="http://schemas.openxmlformats.org/drawingml/2006/main">
              <a:ext uri="{FF2B5EF4-FFF2-40B4-BE49-F238E27FC236}">
                <a16:creationId xmlns:a16="http://schemas.microsoft.com/office/drawing/2014/main" id="{CD094712-A0A9-47AE-A8C5-EECD8E7B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A878"/>
                </a:solidFill>
              </a:defRPr>
            </a:pPr>
            <a:r>
              <a:rPr sz="240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20" name="flow-key-2">
            <a:extLst xmlns:a="http://schemas.openxmlformats.org/drawingml/2006/main">
              <a:ext uri="{FF2B5EF4-FFF2-40B4-BE49-F238E27FC236}">
                <a16:creationId xmlns:a16="http://schemas.microsoft.com/office/drawing/2014/main" id="{F4E5C2F1-234D-4E8C-9D1B-305C671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PERSONA</a:t>
            </a:r>
          </a:p>
        </p:txBody>
      </p:sp>
      <p:sp>
        <p:nvSpPr>
          <p:cNvPr id="21" name="flow-value-2">
            <a:extLst xmlns:a="http://schemas.openxmlformats.org/drawingml/2006/main">
              <a:ext uri="{FF2B5EF4-FFF2-40B4-BE49-F238E27FC236}">
                <a16:creationId xmlns:a16="http://schemas.microsoft.com/office/drawing/2014/main" id="{929A72E8-9606-48FC-A44C-4B4D880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31F"/>
                </a:solidFill>
              </a:defRPr>
            </a:pPr>
            <a:r>
              <a:rPr sz="3225" b="1">
                <a:solidFill>
                  <a:srgbClr val="17231F"/>
                </a:solidFill>
              </a:rPr>
              <a:t>김지안</a:t>
            </a:r>
          </a:p>
        </p:txBody>
      </p:sp>
      <p:sp>
        <p:nvSpPr>
          <p:cNvPr id="22" name="flow-desc-2">
            <a:extLst xmlns:a="http://schemas.openxmlformats.org/drawingml/2006/main">
              <a:ext uri="{FF2B5EF4-FFF2-40B4-BE49-F238E27FC236}">
                <a16:creationId xmlns:a16="http://schemas.microsoft.com/office/drawing/2014/main" id="{DF49B1E2-51BC-45C5-9C5A-78D0450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페인포인트 정의</a:t>
            </a:r>
          </a:p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가상 페르소나 설정</a:t>
            </a:r>
          </a:p>
        </p:txBody>
      </p:sp>
      <p:sp>
        <p:nvSpPr>
          <p:cNvPr id="23" name="flow-accent-2">
            <a:extLst xmlns:a="http://schemas.openxmlformats.org/drawingml/2006/main">
              <a:ext uri="{FF2B5EF4-FFF2-40B4-BE49-F238E27FC236}">
                <a16:creationId xmlns:a16="http://schemas.microsoft.com/office/drawing/2014/main" id="{60D69985-28CE-4E58-9994-AA7EC6EF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29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24" name="flow-sep-3">
            <a:extLst xmlns:a="http://schemas.openxmlformats.org/drawingml/2006/main">
              <a:ext uri="{FF2B5EF4-FFF2-40B4-BE49-F238E27FC236}">
                <a16:creationId xmlns:a16="http://schemas.microsoft.com/office/drawing/2014/main" id="{801B75A0-27E7-42AB-B354-0CA430D9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52625"/>
            <a:ext cx="95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5" name="flow-num-3">
            <a:extLst xmlns:a="http://schemas.openxmlformats.org/drawingml/2006/main">
              <a:ext uri="{FF2B5EF4-FFF2-40B4-BE49-F238E27FC236}">
                <a16:creationId xmlns:a16="http://schemas.microsoft.com/office/drawing/2014/main" id="{3B6A6739-F16A-4433-956F-F088CE5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809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775E8"/>
                </a:solidFill>
              </a:defRPr>
            </a:pPr>
            <a:r>
              <a:rPr sz="2400" b="1">
                <a:solidFill>
                  <a:srgbClr val="4775E8"/>
                </a:solidFill>
              </a:rPr>
              <a:t>04</a:t>
            </a:r>
          </a:p>
        </p:txBody>
      </p:sp>
      <p:sp>
        <p:nvSpPr>
          <p:cNvPr id="26" name="flow-key-3">
            <a:extLst xmlns:a="http://schemas.openxmlformats.org/drawingml/2006/main">
              <a:ext uri="{FF2B5EF4-FFF2-40B4-BE49-F238E27FC236}">
                <a16:creationId xmlns:a16="http://schemas.microsoft.com/office/drawing/2014/main" id="{738CA9EA-E625-4E0B-97E7-D1A5EE3C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06B"/>
                </a:solidFill>
              </a:defRPr>
            </a:pPr>
            <a:r>
              <a:rPr sz="1200" b="1">
                <a:solidFill>
                  <a:srgbClr val="62706B"/>
                </a:solidFill>
              </a:rPr>
              <a:t>DX</a:t>
            </a:r>
          </a:p>
        </p:txBody>
      </p:sp>
      <p:sp>
        <p:nvSpPr>
          <p:cNvPr id="27" name="flow-value-3">
            <a:extLst xmlns:a="http://schemas.openxmlformats.org/drawingml/2006/main">
              <a:ext uri="{FF2B5EF4-FFF2-40B4-BE49-F238E27FC236}">
                <a16:creationId xmlns:a16="http://schemas.microsoft.com/office/drawing/2014/main" id="{C1D6CA96-0109-4152-B967-6BEFF98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9562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31F"/>
                </a:solidFill>
              </a:defRPr>
            </a:pPr>
            <a:r>
              <a:rPr sz="2625" b="1">
                <a:solidFill>
                  <a:srgbClr val="17231F"/>
                </a:solidFill>
              </a:rPr>
              <a:t>LocalHub</a:t>
            </a:r>
          </a:p>
        </p:txBody>
      </p:sp>
      <p:sp>
        <p:nvSpPr>
          <p:cNvPr id="28" name="flow-desc-3">
            <a:extLst xmlns:a="http://schemas.openxmlformats.org/drawingml/2006/main">
              <a:ext uri="{FF2B5EF4-FFF2-40B4-BE49-F238E27FC236}">
                <a16:creationId xmlns:a16="http://schemas.microsoft.com/office/drawing/2014/main" id="{5B03233C-D427-4738-B798-9730D794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2862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공공데이터 기반</a:t>
            </a:r>
          </a:p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안전귀가 서비스</a:t>
            </a:r>
          </a:p>
        </p:txBody>
      </p:sp>
      <p:sp>
        <p:nvSpPr>
          <p:cNvPr id="29" name="flow-accent-3">
            <a:extLst xmlns:a="http://schemas.openxmlformats.org/drawingml/2006/main">
              <a:ext uri="{FF2B5EF4-FFF2-40B4-BE49-F238E27FC236}">
                <a16:creationId xmlns:a16="http://schemas.microsoft.com/office/drawing/2014/main" id="{20BBE5A0-8419-42F9-A6B7-1637E48B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429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E8"/>
          </a:solidFill>
          <a:ln xmlns:a="http://schemas.openxmlformats.org/drawingml/2006/main" w="0">
            <a:solidFill>
              <a:srgbClr val="4775E8"/>
            </a:solidFill>
            <a:prstDash val="solid"/>
          </a:ln>
        </p:spPr>
      </p:sp>
      <p:sp>
        <p:nvSpPr>
          <p:cNvPr id="30" name="flow-close">
            <a:extLst xmlns:a="http://schemas.openxmlformats.org/drawingml/2006/main">
              <a:ext uri="{FF2B5EF4-FFF2-40B4-BE49-F238E27FC236}">
                <a16:creationId xmlns:a16="http://schemas.microsoft.com/office/drawing/2014/main" id="{2929D4C4-5DE8-4949-B784-AF756F4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247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1F"/>
                </a:solidFill>
              </a:defRPr>
            </a:pPr>
            <a:r>
              <a:rPr sz="1800" b="1">
                <a:solidFill>
                  <a:srgbClr val="17231F"/>
                </a:solidFill>
              </a:rPr>
              <a:t>반복되는 언어에서 고객 문제를 찾고, 그 문제를 해결하는 기능으로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80786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3">
            <a:extLst xmlns:a="http://schemas.openxmlformats.org/drawingml/2006/main">
              <a:ext uri="{FF2B5EF4-FFF2-40B4-BE49-F238E27FC236}">
                <a16:creationId xmlns:a16="http://schemas.microsoft.com/office/drawing/2014/main" id="{C7E59504-651D-4025-ABCC-C14F645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61925D91-0ADF-407A-8982-A08E47C1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BX · DATA COLLECTION</a:t>
            </a:r>
          </a:p>
        </p:txBody>
      </p:sp>
      <p:sp>
        <p:nvSpPr>
          <p:cNvPr id="3" name="header-line-3">
            <a:extLst xmlns:a="http://schemas.openxmlformats.org/drawingml/2006/main">
              <a:ext uri="{FF2B5EF4-FFF2-40B4-BE49-F238E27FC236}">
                <a16:creationId xmlns:a16="http://schemas.microsoft.com/office/drawing/2014/main" id="{C33C460E-93C1-46D4-A7F4-400FCAAE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3">
            <a:extLst xmlns:a="http://schemas.openxmlformats.org/drawingml/2006/main">
              <a:ext uri="{FF2B5EF4-FFF2-40B4-BE49-F238E27FC236}">
                <a16:creationId xmlns:a16="http://schemas.microsoft.com/office/drawing/2014/main" id="{5DE76431-C94A-4BCB-8524-E77B39FB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41B89CCB-EA03-48BF-9035-CA6CA43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밤길의 언어 2,257건을 모았습니다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1AAEF98B-BD1A-490A-A748-6066DBF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03</a:t>
            </a:r>
          </a:p>
        </p:txBody>
      </p:sp>
      <p:sp>
        <p:nvSpPr>
          <p:cNvPr id="7" name="collection-total">
            <a:extLst xmlns:a="http://schemas.openxmlformats.org/drawingml/2006/main">
              <a:ext uri="{FF2B5EF4-FFF2-40B4-BE49-F238E27FC236}">
                <a16:creationId xmlns:a16="http://schemas.microsoft.com/office/drawing/2014/main" id="{67AD8FBD-C153-49E7-9EED-BA0906AB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00A878"/>
                </a:solidFill>
              </a:defRPr>
            </a:pPr>
            <a:r>
              <a:rPr sz="6900" b="1">
                <a:solidFill>
                  <a:srgbClr val="00A878"/>
                </a:solidFill>
              </a:rPr>
              <a:t>2,257</a:t>
            </a:r>
          </a:p>
        </p:txBody>
      </p:sp>
      <p:sp>
        <p:nvSpPr>
          <p:cNvPr id="8" name="collection-unit">
            <a:extLst xmlns:a="http://schemas.openxmlformats.org/drawingml/2006/main">
              <a:ext uri="{FF2B5EF4-FFF2-40B4-BE49-F238E27FC236}">
                <a16:creationId xmlns:a16="http://schemas.microsoft.com/office/drawing/2014/main" id="{06B080C9-95DC-4359-9B99-025FF49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1F"/>
                </a:solidFill>
              </a:defRPr>
            </a:pPr>
            <a:r>
              <a:rPr sz="1650" b="0">
                <a:solidFill>
                  <a:srgbClr val="17231F"/>
                </a:solidFill>
              </a:rPr>
              <a:t>중복 제거 후 분석 문서</a:t>
            </a:r>
          </a:p>
        </p:txBody>
      </p:sp>
      <p:sp>
        <p:nvSpPr>
          <p:cNvPr id="9" name="collection-split">
            <a:extLst xmlns:a="http://schemas.openxmlformats.org/drawingml/2006/main">
              <a:ext uri="{FF2B5EF4-FFF2-40B4-BE49-F238E27FC236}">
                <a16:creationId xmlns:a16="http://schemas.microsoft.com/office/drawing/2014/main" id="{0D692BB9-C5B4-42AD-949A-93B83F7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04D"/>
                </a:solidFill>
              </a:defRPr>
            </a:pPr>
            <a:r>
              <a:rPr sz="1350" b="1">
                <a:solidFill>
                  <a:srgbClr val="FF704D"/>
                </a:solidFill>
              </a:rPr>
              <a:t>NEWS 1,100  /  BLOG 1,157</a:t>
            </a:r>
          </a:p>
        </p:txBody>
      </p:sp>
      <p:sp>
        <p:nvSpPr>
          <p:cNvPr id="10" name="collection-divider">
            <a:extLst xmlns:a="http://schemas.openxmlformats.org/drawingml/2006/main">
              <a:ext uri="{FF2B5EF4-FFF2-40B4-BE49-F238E27FC236}">
                <a16:creationId xmlns:a16="http://schemas.microsoft.com/office/drawing/2014/main" id="{E878948D-B44A-43B0-9FF0-17828F9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95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1" name="collection-query-title">
            <a:extLst xmlns:a="http://schemas.openxmlformats.org/drawingml/2006/main">
              <a:ext uri="{FF2B5EF4-FFF2-40B4-BE49-F238E27FC236}">
                <a16:creationId xmlns:a16="http://schemas.microsoft.com/office/drawing/2014/main" id="{3B2D5E11-A2B3-41B0-B6A5-1F239DB9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12개 검색어</a:t>
            </a:r>
          </a:p>
        </p:txBody>
      </p:sp>
      <p:sp>
        <p:nvSpPr>
          <p:cNvPr id="12" name="collection-query-sub">
            <a:extLst xmlns:a="http://schemas.openxmlformats.org/drawingml/2006/main">
              <a:ext uri="{FF2B5EF4-FFF2-40B4-BE49-F238E27FC236}">
                <a16:creationId xmlns:a16="http://schemas.microsoft.com/office/drawing/2014/main" id="{EB865C13-9F7E-4C78-9FA5-61E62A0E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안전시설 · 이동환경 · 귀가 경험</a:t>
            </a:r>
          </a:p>
        </p:txBody>
      </p:sp>
      <p:sp>
        <p:nvSpPr>
          <p:cNvPr id="13" name="query-num-0">
            <a:extLst xmlns:a="http://schemas.openxmlformats.org/drawingml/2006/main">
              <a:ext uri="{FF2B5EF4-FFF2-40B4-BE49-F238E27FC236}">
                <a16:creationId xmlns:a16="http://schemas.microsoft.com/office/drawing/2014/main" id="{6D5C8E21-691E-4327-80B9-252C891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4" name="query-0">
            <a:extLst xmlns:a="http://schemas.openxmlformats.org/drawingml/2006/main">
              <a:ext uri="{FF2B5EF4-FFF2-40B4-BE49-F238E27FC236}">
                <a16:creationId xmlns:a16="http://schemas.microsoft.com/office/drawing/2014/main" id="{ED75B115-C3D3-400E-BCCA-E21F3F06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야간 귀가 안전</a:t>
            </a:r>
          </a:p>
        </p:txBody>
      </p:sp>
      <p:sp>
        <p:nvSpPr>
          <p:cNvPr id="15" name="query-rule-0">
            <a:extLst xmlns:a="http://schemas.openxmlformats.org/drawingml/2006/main">
              <a:ext uri="{FF2B5EF4-FFF2-40B4-BE49-F238E27FC236}">
                <a16:creationId xmlns:a16="http://schemas.microsoft.com/office/drawing/2014/main" id="{383EC34D-C1E5-4CD0-8C0C-9F19BEB1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4327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6" name="query-num-1">
            <a:extLst xmlns:a="http://schemas.openxmlformats.org/drawingml/2006/main">
              <a:ext uri="{FF2B5EF4-FFF2-40B4-BE49-F238E27FC236}">
                <a16:creationId xmlns:a16="http://schemas.microsoft.com/office/drawing/2014/main" id="{0F8BE856-B861-4BD6-90D5-E65D003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52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17" name="query-1">
            <a:extLst xmlns:a="http://schemas.openxmlformats.org/drawingml/2006/main">
              <a:ext uri="{FF2B5EF4-FFF2-40B4-BE49-F238E27FC236}">
                <a16:creationId xmlns:a16="http://schemas.microsoft.com/office/drawing/2014/main" id="{4DCCF8A0-02D7-4267-AC56-2265D267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밤길 안전</a:t>
            </a:r>
          </a:p>
        </p:txBody>
      </p:sp>
      <p:sp>
        <p:nvSpPr>
          <p:cNvPr id="18" name="query-rule-1">
            <a:extLst xmlns:a="http://schemas.openxmlformats.org/drawingml/2006/main">
              <a:ext uri="{FF2B5EF4-FFF2-40B4-BE49-F238E27FC236}">
                <a16:creationId xmlns:a16="http://schemas.microsoft.com/office/drawing/2014/main" id="{A60C2260-231C-46B1-9D65-58CC415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4327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9" name="query-num-2">
            <a:extLst xmlns:a="http://schemas.openxmlformats.org/drawingml/2006/main">
              <a:ext uri="{FF2B5EF4-FFF2-40B4-BE49-F238E27FC236}">
                <a16:creationId xmlns:a16="http://schemas.microsoft.com/office/drawing/2014/main" id="{57EF59EE-820B-4953-8942-F54D5167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52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20" name="query-2">
            <a:extLst xmlns:a="http://schemas.openxmlformats.org/drawingml/2006/main">
              <a:ext uri="{FF2B5EF4-FFF2-40B4-BE49-F238E27FC236}">
                <a16:creationId xmlns:a16="http://schemas.microsoft.com/office/drawing/2014/main" id="{CE32E12B-8F72-48F8-A708-D9A5B2A9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여성 안심귀가</a:t>
            </a:r>
          </a:p>
        </p:txBody>
      </p:sp>
      <p:sp>
        <p:nvSpPr>
          <p:cNvPr id="21" name="query-rule-2">
            <a:extLst xmlns:a="http://schemas.openxmlformats.org/drawingml/2006/main">
              <a:ext uri="{FF2B5EF4-FFF2-40B4-BE49-F238E27FC236}">
                <a16:creationId xmlns:a16="http://schemas.microsoft.com/office/drawing/2014/main" id="{EAC7A980-B1AC-4CE2-9C9B-5D24831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4327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2" name="query-num-3">
            <a:extLst xmlns:a="http://schemas.openxmlformats.org/drawingml/2006/main">
              <a:ext uri="{FF2B5EF4-FFF2-40B4-BE49-F238E27FC236}">
                <a16:creationId xmlns:a16="http://schemas.microsoft.com/office/drawing/2014/main" id="{A766697B-BA96-4453-B067-0A925EB2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23" name="query-3">
            <a:extLst xmlns:a="http://schemas.openxmlformats.org/drawingml/2006/main">
              <a:ext uri="{FF2B5EF4-FFF2-40B4-BE49-F238E27FC236}">
                <a16:creationId xmlns:a16="http://schemas.microsoft.com/office/drawing/2014/main" id="{03FCF30C-09D3-4789-B91F-97EF3618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골목길 안전</a:t>
            </a:r>
          </a:p>
        </p:txBody>
      </p:sp>
      <p:sp>
        <p:nvSpPr>
          <p:cNvPr id="24" name="query-rule-3">
            <a:extLst xmlns:a="http://schemas.openxmlformats.org/drawingml/2006/main">
              <a:ext uri="{FF2B5EF4-FFF2-40B4-BE49-F238E27FC236}">
                <a16:creationId xmlns:a16="http://schemas.microsoft.com/office/drawing/2014/main" id="{409A2758-0FF8-4FC7-B5E9-693CC17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002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5" name="query-num-4">
            <a:extLst xmlns:a="http://schemas.openxmlformats.org/drawingml/2006/main">
              <a:ext uri="{FF2B5EF4-FFF2-40B4-BE49-F238E27FC236}">
                <a16:creationId xmlns:a16="http://schemas.microsoft.com/office/drawing/2014/main" id="{C20A30C4-CD41-4FF9-B2AB-36A36F92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19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05</a:t>
            </a:r>
          </a:p>
        </p:txBody>
      </p:sp>
      <p:sp>
        <p:nvSpPr>
          <p:cNvPr id="26" name="query-4">
            <a:extLst xmlns:a="http://schemas.openxmlformats.org/drawingml/2006/main">
              <a:ext uri="{FF2B5EF4-FFF2-40B4-BE49-F238E27FC236}">
                <a16:creationId xmlns:a16="http://schemas.microsoft.com/office/drawing/2014/main" id="{E734D761-AF23-4D86-A564-26B5359F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19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CCTV 사각지대</a:t>
            </a:r>
          </a:p>
        </p:txBody>
      </p:sp>
      <p:sp>
        <p:nvSpPr>
          <p:cNvPr id="27" name="query-rule-4">
            <a:extLst xmlns:a="http://schemas.openxmlformats.org/drawingml/2006/main">
              <a:ext uri="{FF2B5EF4-FFF2-40B4-BE49-F238E27FC236}">
                <a16:creationId xmlns:a16="http://schemas.microsoft.com/office/drawing/2014/main" id="{4CBFB302-92A2-4F1E-8D24-A9012D48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1002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8" name="query-num-5">
            <a:extLst xmlns:a="http://schemas.openxmlformats.org/drawingml/2006/main">
              <a:ext uri="{FF2B5EF4-FFF2-40B4-BE49-F238E27FC236}">
                <a16:creationId xmlns:a16="http://schemas.microsoft.com/office/drawing/2014/main" id="{6994FE5B-F451-47F2-8EAA-0F071219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06</a:t>
            </a:r>
          </a:p>
        </p:txBody>
      </p:sp>
      <p:sp>
        <p:nvSpPr>
          <p:cNvPr id="29" name="query-5">
            <a:extLst xmlns:a="http://schemas.openxmlformats.org/drawingml/2006/main">
              <a:ext uri="{FF2B5EF4-FFF2-40B4-BE49-F238E27FC236}">
                <a16:creationId xmlns:a16="http://schemas.microsoft.com/office/drawing/2014/main" id="{081CE942-FF7D-43E7-9695-960E5EB7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가로등 어두운 골목</a:t>
            </a:r>
          </a:p>
        </p:txBody>
      </p:sp>
      <p:sp>
        <p:nvSpPr>
          <p:cNvPr id="30" name="query-rule-5">
            <a:extLst xmlns:a="http://schemas.openxmlformats.org/drawingml/2006/main">
              <a:ext uri="{FF2B5EF4-FFF2-40B4-BE49-F238E27FC236}">
                <a16:creationId xmlns:a16="http://schemas.microsoft.com/office/drawing/2014/main" id="{9BBA8753-F6AF-4226-9B97-32625F25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1002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31" name="query-num-6">
            <a:extLst xmlns:a="http://schemas.openxmlformats.org/drawingml/2006/main">
              <a:ext uri="{FF2B5EF4-FFF2-40B4-BE49-F238E27FC236}">
                <a16:creationId xmlns:a16="http://schemas.microsoft.com/office/drawing/2014/main" id="{9CBC3E1E-6F9F-4262-9E0E-65828FA8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07</a:t>
            </a:r>
          </a:p>
        </p:txBody>
      </p:sp>
      <p:sp>
        <p:nvSpPr>
          <p:cNvPr id="32" name="query-6">
            <a:extLst xmlns:a="http://schemas.openxmlformats.org/drawingml/2006/main">
              <a:ext uri="{FF2B5EF4-FFF2-40B4-BE49-F238E27FC236}">
                <a16:creationId xmlns:a16="http://schemas.microsoft.com/office/drawing/2014/main" id="{DA3B523D-ED2F-451D-B6EB-C30BFBD6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안전한 귀가 경로</a:t>
            </a:r>
          </a:p>
        </p:txBody>
      </p:sp>
      <p:sp>
        <p:nvSpPr>
          <p:cNvPr id="33" name="query-rule-6">
            <a:extLst xmlns:a="http://schemas.openxmlformats.org/drawingml/2006/main">
              <a:ext uri="{FF2B5EF4-FFF2-40B4-BE49-F238E27FC236}">
                <a16:creationId xmlns:a16="http://schemas.microsoft.com/office/drawing/2014/main" id="{AE0CF794-E80C-4DD9-AF60-2E9CF04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7677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34" name="query-num-7">
            <a:extLst xmlns:a="http://schemas.openxmlformats.org/drawingml/2006/main">
              <a:ext uri="{FF2B5EF4-FFF2-40B4-BE49-F238E27FC236}">
                <a16:creationId xmlns:a16="http://schemas.microsoft.com/office/drawing/2014/main" id="{2CB167A5-0825-40DA-8104-91C7A4D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08</a:t>
            </a:r>
          </a:p>
        </p:txBody>
      </p:sp>
      <p:sp>
        <p:nvSpPr>
          <p:cNvPr id="35" name="query-7">
            <a:extLst xmlns:a="http://schemas.openxmlformats.org/drawingml/2006/main">
              <a:ext uri="{FF2B5EF4-FFF2-40B4-BE49-F238E27FC236}">
                <a16:creationId xmlns:a16="http://schemas.microsoft.com/office/drawing/2014/main" id="{8169560E-0EC9-451B-8629-ACB2668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86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보행자 야간 안전</a:t>
            </a:r>
          </a:p>
        </p:txBody>
      </p:sp>
      <p:sp>
        <p:nvSpPr>
          <p:cNvPr id="36" name="query-rule-7">
            <a:extLst xmlns:a="http://schemas.openxmlformats.org/drawingml/2006/main">
              <a:ext uri="{FF2B5EF4-FFF2-40B4-BE49-F238E27FC236}">
                <a16:creationId xmlns:a16="http://schemas.microsoft.com/office/drawing/2014/main" id="{00E55A4A-6CB3-4443-A43B-01D929A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7677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37" name="query-num-8">
            <a:extLst xmlns:a="http://schemas.openxmlformats.org/drawingml/2006/main">
              <a:ext uri="{FF2B5EF4-FFF2-40B4-BE49-F238E27FC236}">
                <a16:creationId xmlns:a16="http://schemas.microsoft.com/office/drawing/2014/main" id="{174BC686-3D75-4342-B853-D1EF0A76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09</a:t>
            </a:r>
          </a:p>
        </p:txBody>
      </p:sp>
      <p:sp>
        <p:nvSpPr>
          <p:cNvPr id="38" name="query-8">
            <a:extLst xmlns:a="http://schemas.openxmlformats.org/drawingml/2006/main">
              <a:ext uri="{FF2B5EF4-FFF2-40B4-BE49-F238E27FC236}">
                <a16:creationId xmlns:a16="http://schemas.microsoft.com/office/drawing/2014/main" id="{A240CACF-0ADE-4C0F-ADD8-A6994859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86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치안 취약지역</a:t>
            </a:r>
          </a:p>
        </p:txBody>
      </p:sp>
      <p:sp>
        <p:nvSpPr>
          <p:cNvPr id="39" name="query-rule-8">
            <a:extLst xmlns:a="http://schemas.openxmlformats.org/drawingml/2006/main">
              <a:ext uri="{FF2B5EF4-FFF2-40B4-BE49-F238E27FC236}">
                <a16:creationId xmlns:a16="http://schemas.microsoft.com/office/drawing/2014/main" id="{527E6698-8AE1-4FD0-8C22-8F5BF44F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67677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0" name="query-num-9">
            <a:extLst xmlns:a="http://schemas.openxmlformats.org/drawingml/2006/main">
              <a:ext uri="{FF2B5EF4-FFF2-40B4-BE49-F238E27FC236}">
                <a16:creationId xmlns:a16="http://schemas.microsoft.com/office/drawing/2014/main" id="{143CC42B-6F51-4BF3-96AC-3E3A17AE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10</a:t>
            </a:r>
          </a:p>
        </p:txBody>
      </p:sp>
      <p:sp>
        <p:nvSpPr>
          <p:cNvPr id="41" name="query-9">
            <a:extLst xmlns:a="http://schemas.openxmlformats.org/drawingml/2006/main">
              <a:ext uri="{FF2B5EF4-FFF2-40B4-BE49-F238E27FC236}">
                <a16:creationId xmlns:a16="http://schemas.microsoft.com/office/drawing/2014/main" id="{D0A2705B-5FDD-45FD-9BEF-78F758D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1인 가구 귀가 안전</a:t>
            </a:r>
          </a:p>
        </p:txBody>
      </p:sp>
      <p:sp>
        <p:nvSpPr>
          <p:cNvPr id="42" name="query-rule-9">
            <a:extLst xmlns:a="http://schemas.openxmlformats.org/drawingml/2006/main">
              <a:ext uri="{FF2B5EF4-FFF2-40B4-BE49-F238E27FC236}">
                <a16:creationId xmlns:a16="http://schemas.microsoft.com/office/drawing/2014/main" id="{A2097523-33C5-4274-A5AA-3C2B27E0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4352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3" name="query-num-10">
            <a:extLst xmlns:a="http://schemas.openxmlformats.org/drawingml/2006/main">
              <a:ext uri="{FF2B5EF4-FFF2-40B4-BE49-F238E27FC236}">
                <a16:creationId xmlns:a16="http://schemas.microsoft.com/office/drawing/2014/main" id="{FBAA74C6-4F4C-49EB-B100-386D4003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530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11</a:t>
            </a:r>
          </a:p>
        </p:txBody>
      </p:sp>
      <p:sp>
        <p:nvSpPr>
          <p:cNvPr id="44" name="query-10">
            <a:extLst xmlns:a="http://schemas.openxmlformats.org/drawingml/2006/main">
              <a:ext uri="{FF2B5EF4-FFF2-40B4-BE49-F238E27FC236}">
                <a16:creationId xmlns:a16="http://schemas.microsoft.com/office/drawing/2014/main" id="{76F474FC-10E7-4825-BD60-DE5BB8E3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안심귀가 서비스</a:t>
            </a:r>
          </a:p>
        </p:txBody>
      </p:sp>
      <p:sp>
        <p:nvSpPr>
          <p:cNvPr id="45" name="query-rule-10">
            <a:extLst xmlns:a="http://schemas.openxmlformats.org/drawingml/2006/main">
              <a:ext uri="{FF2B5EF4-FFF2-40B4-BE49-F238E27FC236}">
                <a16:creationId xmlns:a16="http://schemas.microsoft.com/office/drawing/2014/main" id="{9B6E7DCF-F413-4E19-9910-C76602B9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4352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6" name="query-num-11">
            <a:extLst xmlns:a="http://schemas.openxmlformats.org/drawingml/2006/main">
              <a:ext uri="{FF2B5EF4-FFF2-40B4-BE49-F238E27FC236}">
                <a16:creationId xmlns:a16="http://schemas.microsoft.com/office/drawing/2014/main" id="{425AA3C5-BD60-4933-B9F3-794B338F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12</a:t>
            </a:r>
          </a:p>
        </p:txBody>
      </p:sp>
      <p:sp>
        <p:nvSpPr>
          <p:cNvPr id="47" name="query-11">
            <a:extLst xmlns:a="http://schemas.openxmlformats.org/drawingml/2006/main">
              <a:ext uri="{FF2B5EF4-FFF2-40B4-BE49-F238E27FC236}">
                <a16:creationId xmlns:a16="http://schemas.microsoft.com/office/drawing/2014/main" id="{BB882C55-ED8B-44F9-A7B6-F708AB2E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1F"/>
                </a:solidFill>
              </a:defRPr>
            </a:pPr>
            <a:r>
              <a:rPr sz="1200" b="1">
                <a:solidFill>
                  <a:srgbClr val="17231F"/>
                </a:solidFill>
              </a:rPr>
              <a:t>범죄예방 환경설계</a:t>
            </a:r>
          </a:p>
        </p:txBody>
      </p:sp>
      <p:sp>
        <p:nvSpPr>
          <p:cNvPr id="48" name="query-rule-11">
            <a:extLst xmlns:a="http://schemas.openxmlformats.org/drawingml/2006/main">
              <a:ext uri="{FF2B5EF4-FFF2-40B4-BE49-F238E27FC236}">
                <a16:creationId xmlns:a16="http://schemas.microsoft.com/office/drawing/2014/main" id="{184BEE19-73EF-4270-A3EA-BFA45C2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43525"/>
            <a:ext cx="185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9" name="collection-note-bg">
            <a:extLst xmlns:a="http://schemas.openxmlformats.org/drawingml/2006/main">
              <a:ext uri="{FF2B5EF4-FFF2-40B4-BE49-F238E27FC236}">
                <a16:creationId xmlns:a16="http://schemas.microsoft.com/office/drawing/2014/main" id="{46BD1C15-A0FD-4BC3-9AB8-F0D47FAB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DD8"/>
            </a:solidFill>
            <a:prstDash val="solid"/>
          </a:ln>
        </p:spPr>
      </p:sp>
      <p:sp>
        <p:nvSpPr>
          <p:cNvPr id="50" name="collection-note">
            <a:extLst xmlns:a="http://schemas.openxmlformats.org/drawingml/2006/main">
              <a:ext uri="{FF2B5EF4-FFF2-40B4-BE49-F238E27FC236}">
                <a16:creationId xmlns:a16="http://schemas.microsoft.com/office/drawing/2014/main" id="{F82D82C7-3EE2-43FF-A1E8-CF8A52A6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검색 API의 제목·요약문을 수집했습니다.</a:t>
            </a:r>
          </a:p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검색어 기반 탐색 분석이므로 전체 국민 여론으로 일반화하지 않습니다.</a:t>
            </a:r>
          </a:p>
        </p:txBody>
      </p:sp>
      <p:sp>
        <p:nvSpPr>
          <p:cNvPr id="51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A0AD2371-52E0-449F-8F91-03ABE7CF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52" name="footer-3">
            <a:extLst xmlns:a="http://schemas.openxmlformats.org/drawingml/2006/main">
              <a:ext uri="{FF2B5EF4-FFF2-40B4-BE49-F238E27FC236}">
                <a16:creationId xmlns:a16="http://schemas.microsoft.com/office/drawing/2014/main" id="{44011B73-16D9-4710-B424-57CC63E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네이버 뉴스·블로그 검색 API | 수집일 2026-07-14 | 12개 검색어, 중복 제거 후 2,257건</a:t>
            </a:r>
          </a:p>
        </p:txBody>
      </p:sp>
    </p:spTree>
    <p:extLst>
      <p:ext uri="{BB962C8B-B14F-4D97-AF65-F5344CB8AC3E}">
        <p14:creationId xmlns:p14="http://schemas.microsoft.com/office/powerpoint/2010/main" val="2069001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4">
            <a:extLst xmlns:a="http://schemas.openxmlformats.org/drawingml/2006/main">
              <a:ext uri="{FF2B5EF4-FFF2-40B4-BE49-F238E27FC236}">
                <a16:creationId xmlns:a16="http://schemas.microsoft.com/office/drawing/2014/main" id="{27AB9189-3431-4351-9BAE-E108EDD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35EF39ED-90A2-4619-B36A-BB5EE39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BX · DATA PREPROCESSING</a:t>
            </a:r>
          </a:p>
        </p:txBody>
      </p:sp>
      <p:sp>
        <p:nvSpPr>
          <p:cNvPr id="3" name="header-line-4">
            <a:extLst xmlns:a="http://schemas.openxmlformats.org/drawingml/2006/main">
              <a:ext uri="{FF2B5EF4-FFF2-40B4-BE49-F238E27FC236}">
                <a16:creationId xmlns:a16="http://schemas.microsoft.com/office/drawing/2014/main" id="{EB180470-3660-404B-9661-0B3CBCBD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4">
            <a:extLst xmlns:a="http://schemas.openxmlformats.org/drawingml/2006/main">
              <a:ext uri="{FF2B5EF4-FFF2-40B4-BE49-F238E27FC236}">
                <a16:creationId xmlns:a16="http://schemas.microsoft.com/office/drawing/2014/main" id="{F27C110F-BE1A-4F8B-9335-D55B7418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72FA8B57-7B76-4F12-B03A-D1CE36F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고객 경험을 설명하는 단어만 남겼습니다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87A2123D-90EC-40F3-ACAB-E5C05F84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04</a:t>
            </a:r>
          </a:p>
        </p:txBody>
      </p:sp>
      <p:sp>
        <p:nvSpPr>
          <p:cNvPr id="7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4C289252-C55C-48AA-9314-4B89F8B8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8" name="process-node-0">
            <a:extLst xmlns:a="http://schemas.openxmlformats.org/drawingml/2006/main">
              <a:ext uri="{FF2B5EF4-FFF2-40B4-BE49-F238E27FC236}">
                <a16:creationId xmlns:a16="http://schemas.microsoft.com/office/drawing/2014/main" id="{450C8075-8077-414F-8EC2-F992635C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00A878"/>
            </a:solidFill>
            <a:prstDash val="solid"/>
          </a:ln>
        </p:spPr>
      </p:sp>
      <p:sp>
        <p:nvSpPr>
          <p:cNvPr id="9" name="process-num-0">
            <a:extLst xmlns:a="http://schemas.openxmlformats.org/drawingml/2006/main">
              <a:ext uri="{FF2B5EF4-FFF2-40B4-BE49-F238E27FC236}">
                <a16:creationId xmlns:a16="http://schemas.microsoft.com/office/drawing/2014/main" id="{75DBD787-FC61-40A7-8783-8EB44739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146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0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94300067-F146-40B9-88CC-E27CA1D5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텍스트 정리</a:t>
            </a:r>
          </a:p>
        </p:txBody>
      </p:sp>
      <p:sp>
        <p:nvSpPr>
          <p:cNvPr id="11" name="process-desc-0">
            <a:extLst xmlns:a="http://schemas.openxmlformats.org/drawingml/2006/main">
              <a:ext uri="{FF2B5EF4-FFF2-40B4-BE49-F238E27FC236}">
                <a16:creationId xmlns:a16="http://schemas.microsoft.com/office/drawing/2014/main" id="{9CFB726A-9B56-4F37-BDED-6F124BFE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HTML 태그·특수문자 제거</a:t>
            </a:r>
          </a:p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제목과 요약문 결합</a:t>
            </a:r>
          </a:p>
        </p:txBody>
      </p:sp>
      <p:sp>
        <p:nvSpPr>
          <p:cNvPr id="12" name="process-accent-0">
            <a:extLst xmlns:a="http://schemas.openxmlformats.org/drawingml/2006/main">
              <a:ext uri="{FF2B5EF4-FFF2-40B4-BE49-F238E27FC236}">
                <a16:creationId xmlns:a16="http://schemas.microsoft.com/office/drawing/2014/main" id="{A7CA1C99-BCED-4F7E-B230-C4BCD3FB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13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682419A9-4014-42AE-960B-030973D3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00A878"/>
            </a:solidFill>
            <a:prstDash val="solid"/>
          </a:ln>
        </p:spPr>
      </p:sp>
      <p:sp>
        <p:nvSpPr>
          <p:cNvPr id="14" name="process-num-1">
            <a:extLst xmlns:a="http://schemas.openxmlformats.org/drawingml/2006/main">
              <a:ext uri="{FF2B5EF4-FFF2-40B4-BE49-F238E27FC236}">
                <a16:creationId xmlns:a16="http://schemas.microsoft.com/office/drawing/2014/main" id="{7E266822-6926-40E2-B2CE-B497FC49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146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15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AD930BA2-946B-4C0E-8470-1E22BDE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29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중복 제거</a:t>
            </a:r>
          </a:p>
        </p:txBody>
      </p:sp>
      <p:sp>
        <p:nvSpPr>
          <p:cNvPr id="16" name="process-desc-1">
            <a:extLst xmlns:a="http://schemas.openxmlformats.org/drawingml/2006/main">
              <a:ext uri="{FF2B5EF4-FFF2-40B4-BE49-F238E27FC236}">
                <a16:creationId xmlns:a16="http://schemas.microsoft.com/office/drawing/2014/main" id="{3CE44B7A-7768-40DD-9A8D-DAE01997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481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동일 제목·링크 제거</a:t>
            </a:r>
          </a:p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2,257건 확정</a:t>
            </a:r>
          </a:p>
        </p:txBody>
      </p:sp>
      <p:sp>
        <p:nvSpPr>
          <p:cNvPr id="17" name="process-accent-1">
            <a:extLst xmlns:a="http://schemas.openxmlformats.org/drawingml/2006/main">
              <a:ext uri="{FF2B5EF4-FFF2-40B4-BE49-F238E27FC236}">
                <a16:creationId xmlns:a16="http://schemas.microsoft.com/office/drawing/2014/main" id="{EA15A07A-E810-4D29-BFC7-C2A4254E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720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18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218EBDFA-463E-4EF0-B66D-014D2264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FF704D"/>
            </a:solidFill>
            <a:prstDash val="solid"/>
          </a:ln>
        </p:spPr>
      </p:sp>
      <p:sp>
        <p:nvSpPr>
          <p:cNvPr id="19" name="process-num-2">
            <a:extLst xmlns:a="http://schemas.openxmlformats.org/drawingml/2006/main">
              <a:ext uri="{FF2B5EF4-FFF2-40B4-BE49-F238E27FC236}">
                <a16:creationId xmlns:a16="http://schemas.microsoft.com/office/drawing/2014/main" id="{F0123C81-667B-45ED-8DBE-0A96F518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7146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20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443676ED-9504-442A-B0DC-8B9953D3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불용어 처리</a:t>
            </a:r>
          </a:p>
        </p:txBody>
      </p:sp>
      <p:sp>
        <p:nvSpPr>
          <p:cNvPr id="21" name="process-desc-2">
            <a:extLst xmlns:a="http://schemas.openxmlformats.org/drawingml/2006/main">
              <a:ext uri="{FF2B5EF4-FFF2-40B4-BE49-F238E27FC236}">
                <a16:creationId xmlns:a16="http://schemas.microsoft.com/office/drawing/2014/main" id="{FD83100E-9EB5-47E0-B756-1B6D3234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481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조사·접속사·일반어 제거</a:t>
            </a:r>
          </a:p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도메인 불용어 추가</a:t>
            </a:r>
          </a:p>
        </p:txBody>
      </p:sp>
      <p:sp>
        <p:nvSpPr>
          <p:cNvPr id="22" name="process-accent-2">
            <a:extLst xmlns:a="http://schemas.openxmlformats.org/drawingml/2006/main">
              <a:ext uri="{FF2B5EF4-FFF2-40B4-BE49-F238E27FC236}">
                <a16:creationId xmlns:a16="http://schemas.microsoft.com/office/drawing/2014/main" id="{6B16CB52-C588-4F0A-A549-CF0C990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720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23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6E2AD5A2-22EC-4FF0-8E86-A291D88B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647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00A878"/>
            </a:solidFill>
            <a:prstDash val="solid"/>
          </a:ln>
        </p:spPr>
      </p:sp>
      <p:sp>
        <p:nvSpPr>
          <p:cNvPr id="24" name="process-num-3">
            <a:extLst xmlns:a="http://schemas.openxmlformats.org/drawingml/2006/main">
              <a:ext uri="{FF2B5EF4-FFF2-40B4-BE49-F238E27FC236}">
                <a16:creationId xmlns:a16="http://schemas.microsoft.com/office/drawing/2014/main" id="{82EAFE73-6DEE-4EDD-998F-9E9DF361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146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25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6AE83751-963E-4AB7-BE89-B305A15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429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빈도 분석</a:t>
            </a:r>
          </a:p>
        </p:txBody>
      </p:sp>
      <p:sp>
        <p:nvSpPr>
          <p:cNvPr id="26" name="process-desc-3">
            <a:extLst xmlns:a="http://schemas.openxmlformats.org/drawingml/2006/main">
              <a:ext uri="{FF2B5EF4-FFF2-40B4-BE49-F238E27FC236}">
                <a16:creationId xmlns:a16="http://schemas.microsoft.com/office/drawing/2014/main" id="{66BC2CAD-2224-4433-9058-F01F1A6D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0481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의미 있는 핵심어 집계</a:t>
            </a:r>
          </a:p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상위 50개 선정</a:t>
            </a:r>
          </a:p>
        </p:txBody>
      </p:sp>
      <p:sp>
        <p:nvSpPr>
          <p:cNvPr id="27" name="process-accent-3">
            <a:extLst xmlns:a="http://schemas.openxmlformats.org/drawingml/2006/main">
              <a:ext uri="{FF2B5EF4-FFF2-40B4-BE49-F238E27FC236}">
                <a16:creationId xmlns:a16="http://schemas.microsoft.com/office/drawing/2014/main" id="{68D7FF3B-B19D-480C-96E4-E9FA9667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9720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28" name="stopword-label-bar">
            <a:extLst xmlns:a="http://schemas.openxmlformats.org/drawingml/2006/main">
              <a:ext uri="{FF2B5EF4-FFF2-40B4-BE49-F238E27FC236}">
                <a16:creationId xmlns:a16="http://schemas.microsoft.com/office/drawing/2014/main" id="{4B060A3E-65AB-4DAB-B6D3-0065821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29" name="stopword-label">
            <a:extLst xmlns:a="http://schemas.openxmlformats.org/drawingml/2006/main">
              <a:ext uri="{FF2B5EF4-FFF2-40B4-BE49-F238E27FC236}">
                <a16:creationId xmlns:a16="http://schemas.microsoft.com/office/drawing/2014/main" id="{A4BEC88A-35CE-42BF-9510-B0B5F1D7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불용어 제거 예시</a:t>
            </a:r>
          </a:p>
        </p:txBody>
      </p:sp>
      <p:sp>
        <p:nvSpPr>
          <p:cNvPr id="30" name="stopwords">
            <a:extLst xmlns:a="http://schemas.openxmlformats.org/drawingml/2006/main">
              <a:ext uri="{FF2B5EF4-FFF2-40B4-BE49-F238E27FC236}">
                <a16:creationId xmlns:a16="http://schemas.microsoft.com/office/drawing/2014/main" id="{4EE7059D-4EEE-4F22-BA82-D16B6767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816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06B"/>
                </a:solidFill>
              </a:defRPr>
            </a:pPr>
            <a:r>
              <a:rPr sz="1425" b="0">
                <a:solidFill>
                  <a:srgbClr val="62706B"/>
                </a:solidFill>
              </a:rPr>
              <a:t>그리고  ·  대한  ·  관련  ·  제공  ·  기사  ·  블로그  ·  이번  ·  최근</a:t>
            </a:r>
          </a:p>
        </p:txBody>
      </p:sp>
      <p:sp>
        <p:nvSpPr>
          <p:cNvPr id="31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BEEC5164-73DB-4B33-AC8B-7AE4AF7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32" name="footer-4">
            <a:extLst xmlns:a="http://schemas.openxmlformats.org/drawingml/2006/main">
              <a:ext uri="{FF2B5EF4-FFF2-40B4-BE49-F238E27FC236}">
                <a16:creationId xmlns:a16="http://schemas.microsoft.com/office/drawing/2014/main" id="{741BDB37-70BE-4BE1-AD3F-C1E5313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분석 단위: 네이버 검색 API 제목·요약문 | 불용어: 일반어 + 야간 귀가 도메인 맞춤 목록</a:t>
            </a:r>
          </a:p>
        </p:txBody>
      </p:sp>
    </p:spTree>
    <p:extLst>
      <p:ext uri="{BB962C8B-B14F-4D97-AF65-F5344CB8AC3E}">
        <p14:creationId xmlns:p14="http://schemas.microsoft.com/office/powerpoint/2010/main" val="340369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5">
            <a:extLst xmlns:a="http://schemas.openxmlformats.org/drawingml/2006/main">
              <a:ext uri="{FF2B5EF4-FFF2-40B4-BE49-F238E27FC236}">
                <a16:creationId xmlns:a16="http://schemas.microsoft.com/office/drawing/2014/main" id="{E8168169-B34E-492B-9085-9C72F7D2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0">
            <a:solidFill>
              <a:srgbClr val="FFF7F1"/>
            </a:solidFill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51473A3C-E39A-4FA8-8C41-FBC5CEE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KEYWORD ANALYSIS</a:t>
            </a:r>
          </a:p>
        </p:txBody>
      </p:sp>
      <p:sp>
        <p:nvSpPr>
          <p:cNvPr id="3" name="header-line-5">
            <a:extLst xmlns:a="http://schemas.openxmlformats.org/drawingml/2006/main">
              <a:ext uri="{FF2B5EF4-FFF2-40B4-BE49-F238E27FC236}">
                <a16:creationId xmlns:a16="http://schemas.microsoft.com/office/drawing/2014/main" id="{2C013E27-69BE-4935-8F13-D6DDAA75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5">
            <a:extLst xmlns:a="http://schemas.openxmlformats.org/drawingml/2006/main">
              <a:ext uri="{FF2B5EF4-FFF2-40B4-BE49-F238E27FC236}">
                <a16:creationId xmlns:a16="http://schemas.microsoft.com/office/drawing/2014/main" id="{43D9C3F7-C410-4DBE-9CB8-0C1A06CC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AA5F3D00-614A-497D-813F-BDD39B17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불안은 CCTV·가로등·사각지대로 구체화됐습니다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E1C249C3-BF5A-4558-90CF-1C8FC36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05</a:t>
            </a:r>
          </a:p>
        </p:txBody>
      </p:sp>
      <p:sp>
        <p:nvSpPr>
          <p:cNvPr id="7" name="cloud-guide">
            <a:extLst xmlns:a="http://schemas.openxmlformats.org/drawingml/2006/main">
              <a:ext uri="{FF2B5EF4-FFF2-40B4-BE49-F238E27FC236}">
                <a16:creationId xmlns:a16="http://schemas.microsoft.com/office/drawing/2014/main" id="{B51DC53A-E86B-48CF-B99C-4371196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66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06B"/>
                </a:solidFill>
              </a:defRPr>
            </a:pPr>
            <a:r>
              <a:rPr sz="975" b="1">
                <a:solidFill>
                  <a:srgbClr val="62706B"/>
                </a:solidFill>
              </a:rPr>
              <a:t>WORD SIZE = FREQUENCY  ·  TOP 50</a:t>
            </a:r>
          </a:p>
        </p:txBody>
      </p:sp>
      <p:sp>
        <p:nvSpPr>
          <p:cNvPr id="8" name="cloud-0-0">
            <a:extLst xmlns:a="http://schemas.openxmlformats.org/drawingml/2006/main">
              <a:ext uri="{FF2B5EF4-FFF2-40B4-BE49-F238E27FC236}">
                <a16:creationId xmlns:a16="http://schemas.microsoft.com/office/drawing/2014/main" id="{EE62DE27-74E9-483A-B83E-5211F5D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324" y="1685925"/>
            <a:ext cx="75735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27" b="0">
                <a:solidFill>
                  <a:srgbClr val="4775E8"/>
                </a:solidFill>
              </a:defRPr>
            </a:pPr>
            <a:r>
              <a:rPr sz="1927" b="0">
                <a:solidFill>
                  <a:srgbClr val="4775E8"/>
                </a:solidFill>
              </a:rPr>
              <a:t>주민</a:t>
            </a:r>
          </a:p>
        </p:txBody>
      </p:sp>
      <p:sp>
        <p:nvSpPr>
          <p:cNvPr id="9" name="cloud-0-1">
            <a:extLst xmlns:a="http://schemas.openxmlformats.org/drawingml/2006/main">
              <a:ext uri="{FF2B5EF4-FFF2-40B4-BE49-F238E27FC236}">
                <a16:creationId xmlns:a16="http://schemas.microsoft.com/office/drawing/2014/main" id="{B49F7AAA-0749-4D90-A7C2-254C2393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225" y="16859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17" b="0">
                <a:solidFill>
                  <a:srgbClr val="17231F"/>
                </a:solidFill>
              </a:defRPr>
            </a:pPr>
            <a:r>
              <a:rPr sz="1817" b="0">
                <a:solidFill>
                  <a:srgbClr val="17231F"/>
                </a:solidFill>
              </a:rPr>
              <a:t>AI</a:t>
            </a:r>
          </a:p>
        </p:txBody>
      </p:sp>
      <p:sp>
        <p:nvSpPr>
          <p:cNvPr id="10" name="cloud-0-2">
            <a:extLst xmlns:a="http://schemas.openxmlformats.org/drawingml/2006/main">
              <a:ext uri="{FF2B5EF4-FFF2-40B4-BE49-F238E27FC236}">
                <a16:creationId xmlns:a16="http://schemas.microsoft.com/office/drawing/2014/main" id="{C55CCDD4-C6ED-481E-AAB0-C05D4BB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325" y="1685925"/>
            <a:ext cx="73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34" b="0">
                <a:solidFill>
                  <a:srgbClr val="17231F"/>
                </a:solidFill>
              </a:defRPr>
            </a:pPr>
            <a:r>
              <a:rPr sz="1834" b="0">
                <a:solidFill>
                  <a:srgbClr val="17231F"/>
                </a:solidFill>
              </a:rPr>
              <a:t>순찰</a:t>
            </a:r>
          </a:p>
        </p:txBody>
      </p:sp>
      <p:sp>
        <p:nvSpPr>
          <p:cNvPr id="11" name="cloud-0-3">
            <a:extLst xmlns:a="http://schemas.openxmlformats.org/drawingml/2006/main">
              <a:ext uri="{FF2B5EF4-FFF2-40B4-BE49-F238E27FC236}">
                <a16:creationId xmlns:a16="http://schemas.microsoft.com/office/drawing/2014/main" id="{01DE7CC9-5DB6-4F14-BE69-0E8ADA9A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50" y="1685925"/>
            <a:ext cx="7301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28" b="0">
                <a:solidFill>
                  <a:srgbClr val="4775E8"/>
                </a:solidFill>
              </a:defRPr>
            </a:pPr>
            <a:r>
              <a:rPr sz="1828" b="0">
                <a:solidFill>
                  <a:srgbClr val="4775E8"/>
                </a:solidFill>
              </a:rPr>
              <a:t>점검</a:t>
            </a:r>
          </a:p>
        </p:txBody>
      </p:sp>
      <p:sp>
        <p:nvSpPr>
          <p:cNvPr id="12" name="cloud-0-4">
            <a:extLst xmlns:a="http://schemas.openxmlformats.org/drawingml/2006/main">
              <a:ext uri="{FF2B5EF4-FFF2-40B4-BE49-F238E27FC236}">
                <a16:creationId xmlns:a16="http://schemas.microsoft.com/office/drawing/2014/main" id="{F2580269-EE9D-40C0-AA40-B4334BE8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101" y="1685925"/>
            <a:ext cx="73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34" b="0">
                <a:solidFill>
                  <a:srgbClr val="17231F"/>
                </a:solidFill>
              </a:defRPr>
            </a:pPr>
            <a:r>
              <a:rPr sz="1834" b="0">
                <a:solidFill>
                  <a:srgbClr val="17231F"/>
                </a:solidFill>
              </a:rPr>
              <a:t>주변</a:t>
            </a:r>
          </a:p>
        </p:txBody>
      </p:sp>
      <p:sp>
        <p:nvSpPr>
          <p:cNvPr id="13" name="cloud-1-0">
            <a:extLst xmlns:a="http://schemas.openxmlformats.org/drawingml/2006/main">
              <a:ext uri="{FF2B5EF4-FFF2-40B4-BE49-F238E27FC236}">
                <a16:creationId xmlns:a16="http://schemas.microsoft.com/office/drawing/2014/main" id="{C2D3DE0D-9B3A-48C8-B0EE-A3BBA9D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47" y="2133600"/>
            <a:ext cx="7345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44" b="0">
                <a:solidFill>
                  <a:srgbClr val="4775E8"/>
                </a:solidFill>
              </a:defRPr>
            </a:pPr>
            <a:r>
              <a:rPr sz="1844" b="0">
                <a:solidFill>
                  <a:srgbClr val="4775E8"/>
                </a:solidFill>
              </a:rPr>
              <a:t>생활</a:t>
            </a:r>
          </a:p>
        </p:txBody>
      </p:sp>
      <p:sp>
        <p:nvSpPr>
          <p:cNvPr id="14" name="cloud-1-1">
            <a:extLst xmlns:a="http://schemas.openxmlformats.org/drawingml/2006/main">
              <a:ext uri="{FF2B5EF4-FFF2-40B4-BE49-F238E27FC236}">
                <a16:creationId xmlns:a16="http://schemas.microsoft.com/office/drawing/2014/main" id="{E25C58F2-F20F-4F99-9FC3-89C26ED8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107" y="2133600"/>
            <a:ext cx="7345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44" b="0">
                <a:solidFill>
                  <a:srgbClr val="17231F"/>
                </a:solidFill>
              </a:defRPr>
            </a:pPr>
            <a:r>
              <a:rPr sz="1844" b="0">
                <a:solidFill>
                  <a:srgbClr val="17231F"/>
                </a:solidFill>
              </a:rPr>
              <a:t>시간</a:t>
            </a:r>
          </a:p>
        </p:txBody>
      </p:sp>
      <p:sp>
        <p:nvSpPr>
          <p:cNvPr id="15" name="cloud-1-2">
            <a:extLst xmlns:a="http://schemas.openxmlformats.org/drawingml/2006/main">
              <a:ext uri="{FF2B5EF4-FFF2-40B4-BE49-F238E27FC236}">
                <a16:creationId xmlns:a16="http://schemas.microsoft.com/office/drawing/2014/main" id="{9D06DB46-6772-4B6F-8D9D-09FA4619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166" y="2133600"/>
            <a:ext cx="74032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65" b="0">
                <a:solidFill>
                  <a:srgbClr val="17231F"/>
                </a:solidFill>
              </a:defRPr>
            </a:pPr>
            <a:r>
              <a:rPr sz="1865" b="0">
                <a:solidFill>
                  <a:srgbClr val="17231F"/>
                </a:solidFill>
              </a:rPr>
              <a:t>택시</a:t>
            </a:r>
          </a:p>
        </p:txBody>
      </p:sp>
      <p:sp>
        <p:nvSpPr>
          <p:cNvPr id="16" name="cloud-1-3">
            <a:extLst xmlns:a="http://schemas.openxmlformats.org/drawingml/2006/main">
              <a:ext uri="{FF2B5EF4-FFF2-40B4-BE49-F238E27FC236}">
                <a16:creationId xmlns:a16="http://schemas.microsoft.com/office/drawing/2014/main" id="{C00FE42F-D19C-4064-8230-0C2BDC82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9" y="2133600"/>
            <a:ext cx="76565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4775E8"/>
                </a:solidFill>
              </a:defRPr>
            </a:pPr>
            <a:r>
              <a:rPr sz="1958" b="0">
                <a:solidFill>
                  <a:srgbClr val="4775E8"/>
                </a:solidFill>
              </a:rPr>
              <a:t>운영</a:t>
            </a:r>
          </a:p>
        </p:txBody>
      </p:sp>
      <p:sp>
        <p:nvSpPr>
          <p:cNvPr id="17" name="cloud-1-4">
            <a:extLst xmlns:a="http://schemas.openxmlformats.org/drawingml/2006/main">
              <a:ext uri="{FF2B5EF4-FFF2-40B4-BE49-F238E27FC236}">
                <a16:creationId xmlns:a16="http://schemas.microsoft.com/office/drawing/2014/main" id="{5E0A69FE-5C53-4312-8D41-B65B6D63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44" y="2133600"/>
            <a:ext cx="130270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8" b="0">
                <a:solidFill>
                  <a:srgbClr val="17231F"/>
                </a:solidFill>
              </a:defRPr>
            </a:pPr>
            <a:r>
              <a:rPr sz="1958" b="0">
                <a:solidFill>
                  <a:srgbClr val="17231F"/>
                </a:solidFill>
              </a:rPr>
              <a:t>대리운전</a:t>
            </a:r>
          </a:p>
        </p:txBody>
      </p:sp>
      <p:sp>
        <p:nvSpPr>
          <p:cNvPr id="18" name="cloud-2-0">
            <a:extLst xmlns:a="http://schemas.openxmlformats.org/drawingml/2006/main">
              <a:ext uri="{FF2B5EF4-FFF2-40B4-BE49-F238E27FC236}">
                <a16:creationId xmlns:a16="http://schemas.microsoft.com/office/drawing/2014/main" id="{25D44553-F291-44C6-A2C6-BC0E04E1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76" y="2581275"/>
            <a:ext cx="136477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85" b="1">
                <a:solidFill>
                  <a:srgbClr val="4775E8"/>
                </a:solidFill>
              </a:defRPr>
            </a:pPr>
            <a:r>
              <a:rPr sz="2485" b="1">
                <a:solidFill>
                  <a:srgbClr val="4775E8"/>
                </a:solidFill>
              </a:rPr>
              <a:t>CPTED</a:t>
            </a:r>
          </a:p>
        </p:txBody>
      </p:sp>
      <p:sp>
        <p:nvSpPr>
          <p:cNvPr id="19" name="cloud-2-1">
            <a:extLst xmlns:a="http://schemas.openxmlformats.org/drawingml/2006/main">
              <a:ext uri="{FF2B5EF4-FFF2-40B4-BE49-F238E27FC236}">
                <a16:creationId xmlns:a16="http://schemas.microsoft.com/office/drawing/2014/main" id="{8E65BAD9-2195-4E30-B456-CD918E83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501" y="2581275"/>
            <a:ext cx="82188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63" b="0">
                <a:solidFill>
                  <a:srgbClr val="17231F"/>
                </a:solidFill>
              </a:defRPr>
            </a:pPr>
            <a:r>
              <a:rPr sz="2163" b="0">
                <a:solidFill>
                  <a:srgbClr val="17231F"/>
                </a:solidFill>
              </a:rPr>
              <a:t>이동</a:t>
            </a:r>
          </a:p>
        </p:txBody>
      </p:sp>
      <p:sp>
        <p:nvSpPr>
          <p:cNvPr id="20" name="cloud-2-2">
            <a:extLst xmlns:a="http://schemas.openxmlformats.org/drawingml/2006/main">
              <a:ext uri="{FF2B5EF4-FFF2-40B4-BE49-F238E27FC236}">
                <a16:creationId xmlns:a16="http://schemas.microsoft.com/office/drawing/2014/main" id="{17E7CDCD-8D8E-47D5-9E48-EDB253B1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938" y="2581275"/>
            <a:ext cx="154671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3" b="1">
                <a:solidFill>
                  <a:srgbClr val="17231F"/>
                </a:solidFill>
              </a:defRPr>
            </a:pPr>
            <a:r>
              <a:rPr sz="2403" b="1">
                <a:solidFill>
                  <a:srgbClr val="17231F"/>
                </a:solidFill>
              </a:rPr>
              <a:t>취약지역</a:t>
            </a:r>
          </a:p>
        </p:txBody>
      </p:sp>
      <p:sp>
        <p:nvSpPr>
          <p:cNvPr id="21" name="cloud-2-3">
            <a:extLst xmlns:a="http://schemas.openxmlformats.org/drawingml/2006/main">
              <a:ext uri="{FF2B5EF4-FFF2-40B4-BE49-F238E27FC236}">
                <a16:creationId xmlns:a16="http://schemas.microsoft.com/office/drawing/2014/main" id="{EF08CF03-44F2-4105-B842-7F0CEAD8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198" y="2581275"/>
            <a:ext cx="865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2" b="0">
                <a:solidFill>
                  <a:srgbClr val="4775E8"/>
                </a:solidFill>
              </a:defRPr>
            </a:pPr>
            <a:r>
              <a:rPr sz="2322" b="0">
                <a:solidFill>
                  <a:srgbClr val="4775E8"/>
                </a:solidFill>
              </a:rPr>
              <a:t>환경</a:t>
            </a:r>
          </a:p>
        </p:txBody>
      </p:sp>
      <p:sp>
        <p:nvSpPr>
          <p:cNvPr id="22" name="cloud-2-4">
            <a:extLst xmlns:a="http://schemas.openxmlformats.org/drawingml/2006/main">
              <a:ext uri="{FF2B5EF4-FFF2-40B4-BE49-F238E27FC236}">
                <a16:creationId xmlns:a16="http://schemas.microsoft.com/office/drawing/2014/main" id="{0224B27C-D597-4A4F-88FA-1F8E545A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312" y="2581275"/>
            <a:ext cx="89451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28" b="1">
                <a:solidFill>
                  <a:srgbClr val="17231F"/>
                </a:solidFill>
              </a:defRPr>
            </a:pPr>
            <a:r>
              <a:rPr sz="2428" b="1">
                <a:solidFill>
                  <a:srgbClr val="17231F"/>
                </a:solidFill>
              </a:rPr>
              <a:t>경로</a:t>
            </a:r>
          </a:p>
        </p:txBody>
      </p:sp>
      <p:sp>
        <p:nvSpPr>
          <p:cNvPr id="23" name="cloud-3-0">
            <a:extLst xmlns:a="http://schemas.openxmlformats.org/drawingml/2006/main">
              <a:ext uri="{FF2B5EF4-FFF2-40B4-BE49-F238E27FC236}">
                <a16:creationId xmlns:a16="http://schemas.microsoft.com/office/drawing/2014/main" id="{5F9ADA2A-8EB7-4064-AC87-83220BF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490" y="3028950"/>
            <a:ext cx="144487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17" b="0">
                <a:solidFill>
                  <a:srgbClr val="4775E8"/>
                </a:solidFill>
              </a:defRPr>
            </a:pPr>
            <a:r>
              <a:rPr sz="2217" b="0">
                <a:solidFill>
                  <a:srgbClr val="4775E8"/>
                </a:solidFill>
              </a:rPr>
              <a:t>스카우트</a:t>
            </a:r>
          </a:p>
        </p:txBody>
      </p:sp>
      <p:sp>
        <p:nvSpPr>
          <p:cNvPr id="24" name="cloud-3-1">
            <a:extLst xmlns:a="http://schemas.openxmlformats.org/drawingml/2006/main">
              <a:ext uri="{FF2B5EF4-FFF2-40B4-BE49-F238E27FC236}">
                <a16:creationId xmlns:a16="http://schemas.microsoft.com/office/drawing/2014/main" id="{6A145C17-E4BE-428D-A800-75831370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918" y="3028950"/>
            <a:ext cx="82811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85" b="0">
                <a:solidFill>
                  <a:srgbClr val="17231F"/>
                </a:solidFill>
              </a:defRPr>
            </a:pPr>
            <a:r>
              <a:rPr sz="2185" b="0">
                <a:solidFill>
                  <a:srgbClr val="17231F"/>
                </a:solidFill>
              </a:rPr>
              <a:t>예방</a:t>
            </a:r>
          </a:p>
        </p:txBody>
      </p:sp>
      <p:sp>
        <p:nvSpPr>
          <p:cNvPr id="25" name="cloud-3-2">
            <a:extLst xmlns:a="http://schemas.openxmlformats.org/drawingml/2006/main">
              <a:ext uri="{FF2B5EF4-FFF2-40B4-BE49-F238E27FC236}">
                <a16:creationId xmlns:a16="http://schemas.microsoft.com/office/drawing/2014/main" id="{6249E41A-AF3F-4C28-A978-CD9D115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581" y="3028950"/>
            <a:ext cx="141517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63" b="0">
                <a:solidFill>
                  <a:srgbClr val="17231F"/>
                </a:solidFill>
              </a:defRPr>
            </a:pPr>
            <a:r>
              <a:rPr sz="2163" b="0">
                <a:solidFill>
                  <a:srgbClr val="17231F"/>
                </a:solidFill>
              </a:rPr>
              <a:t>환경설계</a:t>
            </a:r>
          </a:p>
        </p:txBody>
      </p:sp>
      <p:sp>
        <p:nvSpPr>
          <p:cNvPr id="26" name="cloud-3-3">
            <a:extLst xmlns:a="http://schemas.openxmlformats.org/drawingml/2006/main">
              <a:ext uri="{FF2B5EF4-FFF2-40B4-BE49-F238E27FC236}">
                <a16:creationId xmlns:a16="http://schemas.microsoft.com/office/drawing/2014/main" id="{8BEBC780-2A06-4B79-A27D-416E356F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305" y="3028950"/>
            <a:ext cx="81180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26" b="0">
                <a:solidFill>
                  <a:srgbClr val="4775E8"/>
                </a:solidFill>
              </a:defRPr>
            </a:pPr>
            <a:r>
              <a:rPr sz="2126" b="0">
                <a:solidFill>
                  <a:srgbClr val="4775E8"/>
                </a:solidFill>
              </a:rPr>
              <a:t>취약</a:t>
            </a:r>
          </a:p>
        </p:txBody>
      </p:sp>
      <p:sp>
        <p:nvSpPr>
          <p:cNvPr id="27" name="cloud-3-4">
            <a:extLst xmlns:a="http://schemas.openxmlformats.org/drawingml/2006/main">
              <a:ext uri="{FF2B5EF4-FFF2-40B4-BE49-F238E27FC236}">
                <a16:creationId xmlns:a16="http://schemas.microsoft.com/office/drawing/2014/main" id="{B010DBAB-C5EE-4BD6-915E-34EDB6B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59" y="3028950"/>
            <a:ext cx="80285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93" b="0">
                <a:solidFill>
                  <a:srgbClr val="17231F"/>
                </a:solidFill>
              </a:defRPr>
            </a:pPr>
            <a:r>
              <a:rPr sz="2093" b="0">
                <a:solidFill>
                  <a:srgbClr val="17231F"/>
                </a:solidFill>
              </a:rPr>
              <a:t>LED</a:t>
            </a:r>
          </a:p>
        </p:txBody>
      </p:sp>
      <p:sp>
        <p:nvSpPr>
          <p:cNvPr id="28" name="cloud-4-0">
            <a:extLst xmlns:a="http://schemas.openxmlformats.org/drawingml/2006/main">
              <a:ext uri="{FF2B5EF4-FFF2-40B4-BE49-F238E27FC236}">
                <a16:creationId xmlns:a16="http://schemas.microsoft.com/office/drawing/2014/main" id="{C9C62DD0-9C35-49EE-9F88-EE5D1B7F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827" y="3486150"/>
            <a:ext cx="192217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87" b="1">
                <a:solidFill>
                  <a:srgbClr val="FF704D"/>
                </a:solidFill>
              </a:defRPr>
            </a:pPr>
            <a:r>
              <a:rPr sz="3087" b="1">
                <a:solidFill>
                  <a:srgbClr val="FF704D"/>
                </a:solidFill>
              </a:rPr>
              <a:t>사각지대</a:t>
            </a:r>
          </a:p>
        </p:txBody>
      </p:sp>
      <p:sp>
        <p:nvSpPr>
          <p:cNvPr id="29" name="cloud-4-1">
            <a:extLst xmlns:a="http://schemas.openxmlformats.org/drawingml/2006/main">
              <a:ext uri="{FF2B5EF4-FFF2-40B4-BE49-F238E27FC236}">
                <a16:creationId xmlns:a16="http://schemas.microsoft.com/office/drawing/2014/main" id="{42EB1FA8-B8EE-4E04-B22D-33A0C5B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553" y="3486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0A878"/>
                </a:solidFill>
              </a:defRPr>
            </a:pPr>
            <a:r>
              <a:rPr sz="3750" b="1">
                <a:solidFill>
                  <a:srgbClr val="00A878"/>
                </a:solidFill>
              </a:rPr>
              <a:t>CCTV</a:t>
            </a:r>
          </a:p>
        </p:txBody>
      </p:sp>
      <p:sp>
        <p:nvSpPr>
          <p:cNvPr id="30" name="cloud-4-2">
            <a:extLst xmlns:a="http://schemas.openxmlformats.org/drawingml/2006/main">
              <a:ext uri="{FF2B5EF4-FFF2-40B4-BE49-F238E27FC236}">
                <a16:creationId xmlns:a16="http://schemas.microsoft.com/office/drawing/2014/main" id="{82B0CF0C-39AB-434D-BAC1-74D74C3F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303" y="3486150"/>
            <a:ext cx="120954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76" b="1">
                <a:solidFill>
                  <a:srgbClr val="00A878"/>
                </a:solidFill>
              </a:defRPr>
            </a:pPr>
            <a:r>
              <a:rPr sz="3576" b="1">
                <a:solidFill>
                  <a:srgbClr val="00A878"/>
                </a:solidFill>
              </a:rPr>
              <a:t>안심</a:t>
            </a:r>
          </a:p>
        </p:txBody>
      </p:sp>
      <p:sp>
        <p:nvSpPr>
          <p:cNvPr id="31" name="cloud-4-3">
            <a:extLst xmlns:a="http://schemas.openxmlformats.org/drawingml/2006/main">
              <a:ext uri="{FF2B5EF4-FFF2-40B4-BE49-F238E27FC236}">
                <a16:creationId xmlns:a16="http://schemas.microsoft.com/office/drawing/2014/main" id="{C6E2A421-2AB8-4419-9D2A-4225DB5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400" y="3486150"/>
            <a:ext cx="111618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36" b="1">
                <a:solidFill>
                  <a:srgbClr val="FF704D"/>
                </a:solidFill>
              </a:defRPr>
            </a:pPr>
            <a:r>
              <a:rPr sz="3236" b="1">
                <a:solidFill>
                  <a:srgbClr val="FF704D"/>
                </a:solidFill>
              </a:rPr>
              <a:t>치안</a:t>
            </a:r>
          </a:p>
        </p:txBody>
      </p:sp>
      <p:sp>
        <p:nvSpPr>
          <p:cNvPr id="32" name="cloud-4-4">
            <a:extLst xmlns:a="http://schemas.openxmlformats.org/drawingml/2006/main">
              <a:ext uri="{FF2B5EF4-FFF2-40B4-BE49-F238E27FC236}">
                <a16:creationId xmlns:a16="http://schemas.microsoft.com/office/drawing/2014/main" id="{CAD12C9A-294C-457F-85BC-F2DCE060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131" y="3486150"/>
            <a:ext cx="151604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29" b="1">
                <a:solidFill>
                  <a:srgbClr val="FF704D"/>
                </a:solidFill>
              </a:defRPr>
            </a:pPr>
            <a:r>
              <a:rPr sz="3129" b="1">
                <a:solidFill>
                  <a:srgbClr val="FF704D"/>
                </a:solidFill>
              </a:rPr>
              <a:t>가로등</a:t>
            </a:r>
          </a:p>
        </p:txBody>
      </p:sp>
      <p:sp>
        <p:nvSpPr>
          <p:cNvPr id="33" name="cloud-5-0">
            <a:extLst xmlns:a="http://schemas.openxmlformats.org/drawingml/2006/main">
              <a:ext uri="{FF2B5EF4-FFF2-40B4-BE49-F238E27FC236}">
                <a16:creationId xmlns:a16="http://schemas.microsoft.com/office/drawing/2014/main" id="{F5B79740-C1C3-4108-B765-EA4A4CB5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586" y="4057650"/>
            <a:ext cx="148428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52" b="1">
                <a:solidFill>
                  <a:srgbClr val="FF704D"/>
                </a:solidFill>
              </a:defRPr>
            </a:pPr>
            <a:r>
              <a:rPr sz="3052" b="1">
                <a:solidFill>
                  <a:srgbClr val="FF704D"/>
                </a:solidFill>
              </a:rPr>
              <a:t>골목길</a:t>
            </a:r>
          </a:p>
        </p:txBody>
      </p:sp>
      <p:sp>
        <p:nvSpPr>
          <p:cNvPr id="34" name="cloud-5-1">
            <a:extLst xmlns:a="http://schemas.openxmlformats.org/drawingml/2006/main">
              <a:ext uri="{FF2B5EF4-FFF2-40B4-BE49-F238E27FC236}">
                <a16:creationId xmlns:a16="http://schemas.microsoft.com/office/drawing/2014/main" id="{5F68CF84-D98F-4DD2-858E-412F531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420" y="4057650"/>
            <a:ext cx="108115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08" b="1">
                <a:solidFill>
                  <a:srgbClr val="FF704D"/>
                </a:solidFill>
              </a:defRPr>
            </a:pPr>
            <a:r>
              <a:rPr sz="3108" b="1">
                <a:solidFill>
                  <a:srgbClr val="FF704D"/>
                </a:solidFill>
              </a:rPr>
              <a:t>밤길</a:t>
            </a:r>
          </a:p>
        </p:txBody>
      </p:sp>
      <p:sp>
        <p:nvSpPr>
          <p:cNvPr id="35" name="cloud-5-2">
            <a:extLst xmlns:a="http://schemas.openxmlformats.org/drawingml/2006/main">
              <a:ext uri="{FF2B5EF4-FFF2-40B4-BE49-F238E27FC236}">
                <a16:creationId xmlns:a16="http://schemas.microsoft.com/office/drawing/2014/main" id="{7A120E82-2837-4138-A7F8-56D8682B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124" y="4057650"/>
            <a:ext cx="108115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08" b="1">
                <a:solidFill>
                  <a:srgbClr val="FF704D"/>
                </a:solidFill>
              </a:defRPr>
            </a:pPr>
            <a:r>
              <a:rPr sz="3108" b="1">
                <a:solidFill>
                  <a:srgbClr val="FF704D"/>
                </a:solidFill>
              </a:rPr>
              <a:t>범죄</a:t>
            </a:r>
          </a:p>
        </p:txBody>
      </p:sp>
      <p:sp>
        <p:nvSpPr>
          <p:cNvPr id="36" name="cloud-5-3">
            <a:extLst xmlns:a="http://schemas.openxmlformats.org/drawingml/2006/main">
              <a:ext uri="{FF2B5EF4-FFF2-40B4-BE49-F238E27FC236}">
                <a16:creationId xmlns:a16="http://schemas.microsoft.com/office/drawing/2014/main" id="{C78EF4EF-0087-4DDA-AB06-D1CF80AD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828" y="4057650"/>
            <a:ext cx="146086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95" b="1">
                <a:solidFill>
                  <a:srgbClr val="FF704D"/>
                </a:solidFill>
              </a:defRPr>
            </a:pPr>
            <a:r>
              <a:rPr sz="2995" b="1">
                <a:solidFill>
                  <a:srgbClr val="FF704D"/>
                </a:solidFill>
              </a:rPr>
              <a:t>보행자</a:t>
            </a:r>
          </a:p>
        </p:txBody>
      </p:sp>
      <p:sp>
        <p:nvSpPr>
          <p:cNvPr id="37" name="cloud-5-4">
            <a:extLst xmlns:a="http://schemas.openxmlformats.org/drawingml/2006/main">
              <a:ext uri="{FF2B5EF4-FFF2-40B4-BE49-F238E27FC236}">
                <a16:creationId xmlns:a16="http://schemas.microsoft.com/office/drawing/2014/main" id="{783628B3-95BA-4EDC-B56A-74D15BDF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240" y="4057650"/>
            <a:ext cx="142517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08" b="1">
                <a:solidFill>
                  <a:srgbClr val="17231F"/>
                </a:solidFill>
              </a:defRPr>
            </a:pPr>
            <a:r>
              <a:rPr sz="2908" b="1">
                <a:solidFill>
                  <a:srgbClr val="17231F"/>
                </a:solidFill>
              </a:rPr>
              <a:t>어두운</a:t>
            </a:r>
          </a:p>
        </p:txBody>
      </p:sp>
      <p:sp>
        <p:nvSpPr>
          <p:cNvPr id="38" name="cloud-6-0">
            <a:extLst xmlns:a="http://schemas.openxmlformats.org/drawingml/2006/main">
              <a:ext uri="{FF2B5EF4-FFF2-40B4-BE49-F238E27FC236}">
                <a16:creationId xmlns:a16="http://schemas.microsoft.com/office/drawing/2014/main" id="{0755F37D-4358-4DF4-854C-B9C4E5D5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413" y="4629150"/>
            <a:ext cx="140098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49" b="1">
                <a:solidFill>
                  <a:srgbClr val="4775E8"/>
                </a:solidFill>
              </a:defRPr>
            </a:pPr>
            <a:r>
              <a:rPr sz="2849" b="1">
                <a:solidFill>
                  <a:srgbClr val="4775E8"/>
                </a:solidFill>
              </a:rPr>
              <a:t>안전한</a:t>
            </a:r>
          </a:p>
        </p:txBody>
      </p:sp>
      <p:sp>
        <p:nvSpPr>
          <p:cNvPr id="39" name="cloud-6-1">
            <a:extLst xmlns:a="http://schemas.openxmlformats.org/drawingml/2006/main">
              <a:ext uri="{FF2B5EF4-FFF2-40B4-BE49-F238E27FC236}">
                <a16:creationId xmlns:a16="http://schemas.microsoft.com/office/drawing/2014/main" id="{9D70CBE4-6BB5-4734-AEE8-0123257B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950" y="4629150"/>
            <a:ext cx="174669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7" b="1">
                <a:solidFill>
                  <a:srgbClr val="17231F"/>
                </a:solidFill>
              </a:defRPr>
            </a:pPr>
            <a:r>
              <a:rPr sz="2767" b="1">
                <a:solidFill>
                  <a:srgbClr val="17231F"/>
                </a:solidFill>
              </a:rPr>
              <a:t>안심귀가</a:t>
            </a:r>
          </a:p>
        </p:txBody>
      </p:sp>
      <p:sp>
        <p:nvSpPr>
          <p:cNvPr id="40" name="cloud-6-2">
            <a:extLst xmlns:a="http://schemas.openxmlformats.org/drawingml/2006/main">
              <a:ext uri="{FF2B5EF4-FFF2-40B4-BE49-F238E27FC236}">
                <a16:creationId xmlns:a16="http://schemas.microsoft.com/office/drawing/2014/main" id="{F8978D71-0BF0-4BA5-9C0B-5718B445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192" y="4629150"/>
            <a:ext cx="210804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41" b="1">
                <a:solidFill>
                  <a:srgbClr val="17231F"/>
                </a:solidFill>
              </a:defRPr>
            </a:pPr>
            <a:r>
              <a:rPr sz="2741" b="1">
                <a:solidFill>
                  <a:srgbClr val="17231F"/>
                </a:solidFill>
              </a:rPr>
              <a:t>1인 가구</a:t>
            </a:r>
          </a:p>
        </p:txBody>
      </p:sp>
      <p:sp>
        <p:nvSpPr>
          <p:cNvPr id="41" name="cloud-6-3">
            <a:extLst xmlns:a="http://schemas.openxmlformats.org/drawingml/2006/main">
              <a:ext uri="{FF2B5EF4-FFF2-40B4-BE49-F238E27FC236}">
                <a16:creationId xmlns:a16="http://schemas.microsoft.com/office/drawing/2014/main" id="{AEB8B024-6C92-4119-A91C-03E92AE9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783" y="4629150"/>
            <a:ext cx="17238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25" b="1">
                <a:solidFill>
                  <a:srgbClr val="4775E8"/>
                </a:solidFill>
              </a:defRPr>
            </a:pPr>
            <a:r>
              <a:rPr sz="2725" b="1">
                <a:solidFill>
                  <a:srgbClr val="4775E8"/>
                </a:solidFill>
              </a:rPr>
              <a:t>범죄예방</a:t>
            </a:r>
          </a:p>
        </p:txBody>
      </p:sp>
      <p:sp>
        <p:nvSpPr>
          <p:cNvPr id="42" name="cloud-6-4">
            <a:extLst xmlns:a="http://schemas.openxmlformats.org/drawingml/2006/main">
              <a:ext uri="{FF2B5EF4-FFF2-40B4-BE49-F238E27FC236}">
                <a16:creationId xmlns:a16="http://schemas.microsoft.com/office/drawing/2014/main" id="{572CAAFE-4354-47CF-8A55-0B035393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133" y="4629150"/>
            <a:ext cx="96145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72" b="1">
                <a:solidFill>
                  <a:srgbClr val="17231F"/>
                </a:solidFill>
              </a:defRPr>
            </a:pPr>
            <a:r>
              <a:rPr sz="2672" b="1">
                <a:solidFill>
                  <a:srgbClr val="17231F"/>
                </a:solidFill>
              </a:rPr>
              <a:t>설치</a:t>
            </a:r>
          </a:p>
        </p:txBody>
      </p:sp>
      <p:sp>
        <p:nvSpPr>
          <p:cNvPr id="43" name="cloud-7-0">
            <a:extLst xmlns:a="http://schemas.openxmlformats.org/drawingml/2006/main">
              <a:ext uri="{FF2B5EF4-FFF2-40B4-BE49-F238E27FC236}">
                <a16:creationId xmlns:a16="http://schemas.microsoft.com/office/drawing/2014/main" id="{9C68EF5C-3391-41D4-B966-649EA25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875" y="5200650"/>
            <a:ext cx="108804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89" b="0">
                <a:solidFill>
                  <a:srgbClr val="4775E8"/>
                </a:solidFill>
              </a:defRPr>
            </a:pPr>
            <a:r>
              <a:rPr sz="2089" b="0">
                <a:solidFill>
                  <a:srgbClr val="4775E8"/>
                </a:solidFill>
              </a:rPr>
              <a:t>귀갓길</a:t>
            </a:r>
          </a:p>
        </p:txBody>
      </p:sp>
      <p:sp>
        <p:nvSpPr>
          <p:cNvPr id="44" name="cloud-7-1">
            <a:extLst xmlns:a="http://schemas.openxmlformats.org/drawingml/2006/main">
              <a:ext uri="{FF2B5EF4-FFF2-40B4-BE49-F238E27FC236}">
                <a16:creationId xmlns:a16="http://schemas.microsoft.com/office/drawing/2014/main" id="{DA9D46A1-178A-49E8-976C-1DBF631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467" y="5200650"/>
            <a:ext cx="79376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60" b="0">
                <a:solidFill>
                  <a:srgbClr val="17231F"/>
                </a:solidFill>
              </a:defRPr>
            </a:pPr>
            <a:r>
              <a:rPr sz="2060" b="0">
                <a:solidFill>
                  <a:srgbClr val="17231F"/>
                </a:solidFill>
              </a:rPr>
              <a:t>강화</a:t>
            </a:r>
          </a:p>
        </p:txBody>
      </p:sp>
      <p:sp>
        <p:nvSpPr>
          <p:cNvPr id="45" name="cloud-7-2">
            <a:extLst xmlns:a="http://schemas.openxmlformats.org/drawingml/2006/main">
              <a:ext uri="{FF2B5EF4-FFF2-40B4-BE49-F238E27FC236}">
                <a16:creationId xmlns:a16="http://schemas.microsoft.com/office/drawing/2014/main" id="{E63C29A6-CF0E-4A0F-8AF9-0951FFF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787" y="5200650"/>
            <a:ext cx="78983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46" b="0">
                <a:solidFill>
                  <a:srgbClr val="17231F"/>
                </a:solidFill>
              </a:defRPr>
            </a:pPr>
            <a:r>
              <a:rPr sz="2046" b="0">
                <a:solidFill>
                  <a:srgbClr val="17231F"/>
                </a:solidFill>
              </a:rPr>
              <a:t>현장</a:t>
            </a:r>
          </a:p>
        </p:txBody>
      </p:sp>
      <p:sp>
        <p:nvSpPr>
          <p:cNvPr id="46" name="cloud-7-3">
            <a:extLst xmlns:a="http://schemas.openxmlformats.org/drawingml/2006/main">
              <a:ext uri="{FF2B5EF4-FFF2-40B4-BE49-F238E27FC236}">
                <a16:creationId xmlns:a16="http://schemas.microsoft.com/office/drawing/2014/main" id="{898DD035-75DE-483D-8222-84ECDFFD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173" y="5200650"/>
            <a:ext cx="106451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31" b="0">
                <a:solidFill>
                  <a:srgbClr val="4775E8"/>
                </a:solidFill>
              </a:defRPr>
            </a:pPr>
            <a:r>
              <a:rPr sz="2031" b="0">
                <a:solidFill>
                  <a:srgbClr val="4775E8"/>
                </a:solidFill>
              </a:rPr>
              <a:t>태양광</a:t>
            </a:r>
          </a:p>
        </p:txBody>
      </p:sp>
      <p:sp>
        <p:nvSpPr>
          <p:cNvPr id="47" name="cloud-7-4">
            <a:extLst xmlns:a="http://schemas.openxmlformats.org/drawingml/2006/main">
              <a:ext uri="{FF2B5EF4-FFF2-40B4-BE49-F238E27FC236}">
                <a16:creationId xmlns:a16="http://schemas.microsoft.com/office/drawing/2014/main" id="{B6DC3622-DB8C-49A7-9BEB-44FFA77A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236" y="5200650"/>
            <a:ext cx="7818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17" b="0">
                <a:solidFill>
                  <a:srgbClr val="17231F"/>
                </a:solidFill>
              </a:defRPr>
            </a:pPr>
            <a:r>
              <a:rPr sz="2017" b="0">
                <a:solidFill>
                  <a:srgbClr val="17231F"/>
                </a:solidFill>
              </a:rPr>
              <a:t>늦은</a:t>
            </a:r>
          </a:p>
        </p:txBody>
      </p:sp>
      <p:sp>
        <p:nvSpPr>
          <p:cNvPr id="48" name="cloud-8-0">
            <a:extLst xmlns:a="http://schemas.openxmlformats.org/drawingml/2006/main">
              <a:ext uri="{FF2B5EF4-FFF2-40B4-BE49-F238E27FC236}">
                <a16:creationId xmlns:a16="http://schemas.microsoft.com/office/drawing/2014/main" id="{CC8F9F45-D1A3-47D2-B281-D4208A0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513" y="5772150"/>
            <a:ext cx="103005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48" b="0">
                <a:solidFill>
                  <a:srgbClr val="4775E8"/>
                </a:solidFill>
              </a:defRPr>
            </a:pPr>
            <a:r>
              <a:rPr sz="1948" b="0">
                <a:solidFill>
                  <a:srgbClr val="4775E8"/>
                </a:solidFill>
              </a:rPr>
              <a:t>청소년</a:t>
            </a:r>
          </a:p>
        </p:txBody>
      </p:sp>
      <p:sp>
        <p:nvSpPr>
          <p:cNvPr id="49" name="cloud-8-1">
            <a:extLst xmlns:a="http://schemas.openxmlformats.org/drawingml/2006/main">
              <a:ext uri="{FF2B5EF4-FFF2-40B4-BE49-F238E27FC236}">
                <a16:creationId xmlns:a16="http://schemas.microsoft.com/office/drawing/2014/main" id="{9E7BE16F-DA89-46F2-A9B7-F21C702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115" y="5772150"/>
            <a:ext cx="76013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38" b="0">
                <a:solidFill>
                  <a:srgbClr val="17231F"/>
                </a:solidFill>
              </a:defRPr>
            </a:pPr>
            <a:r>
              <a:rPr sz="1938" b="0">
                <a:solidFill>
                  <a:srgbClr val="17231F"/>
                </a:solidFill>
              </a:rPr>
              <a:t>보행</a:t>
            </a:r>
          </a:p>
        </p:txBody>
      </p:sp>
      <p:sp>
        <p:nvSpPr>
          <p:cNvPr id="50" name="cloud-8-2">
            <a:extLst xmlns:a="http://schemas.openxmlformats.org/drawingml/2006/main">
              <a:ext uri="{FF2B5EF4-FFF2-40B4-BE49-F238E27FC236}">
                <a16:creationId xmlns:a16="http://schemas.microsoft.com/office/drawing/2014/main" id="{F38B4CD2-2ECF-4F97-B283-204614F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798" y="5772150"/>
            <a:ext cx="75735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27" b="0">
                <a:solidFill>
                  <a:srgbClr val="17231F"/>
                </a:solidFill>
              </a:defRPr>
            </a:pPr>
            <a:r>
              <a:rPr sz="1927" b="0">
                <a:solidFill>
                  <a:srgbClr val="17231F"/>
                </a:solidFill>
              </a:rPr>
              <a:t>개선</a:t>
            </a:r>
          </a:p>
        </p:txBody>
      </p:sp>
      <p:sp>
        <p:nvSpPr>
          <p:cNvPr id="51" name="cloud-8-3">
            <a:extLst xmlns:a="http://schemas.openxmlformats.org/drawingml/2006/main">
              <a:ext uri="{FF2B5EF4-FFF2-40B4-BE49-F238E27FC236}">
                <a16:creationId xmlns:a16="http://schemas.microsoft.com/office/drawing/2014/main" id="{04D4D170-CA30-48E4-8534-EC7F3730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699" y="5772150"/>
            <a:ext cx="75032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2" b="0">
                <a:solidFill>
                  <a:srgbClr val="4775E8"/>
                </a:solidFill>
              </a:defRPr>
            </a:pPr>
            <a:r>
              <a:rPr sz="1902" b="0">
                <a:solidFill>
                  <a:srgbClr val="4775E8"/>
                </a:solidFill>
              </a:rPr>
              <a:t>사고</a:t>
            </a:r>
          </a:p>
        </p:txBody>
      </p:sp>
      <p:sp>
        <p:nvSpPr>
          <p:cNvPr id="52" name="cloud-8-4">
            <a:extLst xmlns:a="http://schemas.openxmlformats.org/drawingml/2006/main">
              <a:ext uri="{FF2B5EF4-FFF2-40B4-BE49-F238E27FC236}">
                <a16:creationId xmlns:a16="http://schemas.microsoft.com/office/drawing/2014/main" id="{42AC60F3-0AA0-4E0B-913B-BA70F887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577" y="5772150"/>
            <a:ext cx="74891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97" b="0">
                <a:solidFill>
                  <a:srgbClr val="17231F"/>
                </a:solidFill>
              </a:defRPr>
            </a:pPr>
            <a:r>
              <a:rPr sz="1897" b="0">
                <a:solidFill>
                  <a:srgbClr val="17231F"/>
                </a:solidFill>
              </a:rPr>
              <a:t>조성</a:t>
            </a:r>
          </a:p>
        </p:txBody>
      </p:sp>
      <p:sp>
        <p:nvSpPr>
          <p:cNvPr id="53" name="cloud-9-0">
            <a:extLst xmlns:a="http://schemas.openxmlformats.org/drawingml/2006/main">
              <a:ext uri="{FF2B5EF4-FFF2-40B4-BE49-F238E27FC236}">
                <a16:creationId xmlns:a16="http://schemas.microsoft.com/office/drawing/2014/main" id="{50E86BEF-9434-4E31-BFF7-D3D62BC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444" y="6267450"/>
            <a:ext cx="74891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97" b="0">
                <a:solidFill>
                  <a:srgbClr val="4775E8"/>
                </a:solidFill>
              </a:defRPr>
            </a:pPr>
            <a:r>
              <a:rPr sz="1897" b="0">
                <a:solidFill>
                  <a:srgbClr val="4775E8"/>
                </a:solidFill>
              </a:rPr>
              <a:t>차량</a:t>
            </a:r>
          </a:p>
        </p:txBody>
      </p:sp>
      <p:sp>
        <p:nvSpPr>
          <p:cNvPr id="54" name="cloud-9-1">
            <a:extLst xmlns:a="http://schemas.openxmlformats.org/drawingml/2006/main">
              <a:ext uri="{FF2B5EF4-FFF2-40B4-BE49-F238E27FC236}">
                <a16:creationId xmlns:a16="http://schemas.microsoft.com/office/drawing/2014/main" id="{C9977A7F-D413-429A-A92B-23C7920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905" y="6267450"/>
            <a:ext cx="100693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92" b="0">
                <a:solidFill>
                  <a:srgbClr val="17231F"/>
                </a:solidFill>
              </a:defRPr>
            </a:pPr>
            <a:r>
              <a:rPr sz="1892" b="0">
                <a:solidFill>
                  <a:srgbClr val="17231F"/>
                </a:solidFill>
              </a:rPr>
              <a:t>스마트</a:t>
            </a:r>
          </a:p>
        </p:txBody>
      </p:sp>
      <p:sp>
        <p:nvSpPr>
          <p:cNvPr id="55" name="cloud-9-2">
            <a:extLst xmlns:a="http://schemas.openxmlformats.org/drawingml/2006/main">
              <a:ext uri="{FF2B5EF4-FFF2-40B4-BE49-F238E27FC236}">
                <a16:creationId xmlns:a16="http://schemas.microsoft.com/office/drawing/2014/main" id="{7AACA758-EA52-442E-BF38-E7BC648D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390" y="6267450"/>
            <a:ext cx="100693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92" b="0">
                <a:solidFill>
                  <a:srgbClr val="17231F"/>
                </a:solidFill>
              </a:defRPr>
            </a:pPr>
            <a:r>
              <a:rPr sz="1892" b="0">
                <a:solidFill>
                  <a:srgbClr val="17231F"/>
                </a:solidFill>
              </a:rPr>
              <a:t>셉테드</a:t>
            </a:r>
          </a:p>
        </p:txBody>
      </p:sp>
      <p:sp>
        <p:nvSpPr>
          <p:cNvPr id="56" name="cloud-9-3">
            <a:extLst xmlns:a="http://schemas.openxmlformats.org/drawingml/2006/main">
              <a:ext uri="{FF2B5EF4-FFF2-40B4-BE49-F238E27FC236}">
                <a16:creationId xmlns:a16="http://schemas.microsoft.com/office/drawing/2014/main" id="{54B750E1-A7AC-4844-B590-54EFF117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875" y="6267450"/>
            <a:ext cx="74606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86" b="0">
                <a:solidFill>
                  <a:srgbClr val="4775E8"/>
                </a:solidFill>
              </a:defRPr>
            </a:pPr>
            <a:r>
              <a:rPr sz="1886" b="0">
                <a:solidFill>
                  <a:srgbClr val="4775E8"/>
                </a:solidFill>
              </a:rPr>
              <a:t>동행</a:t>
            </a:r>
          </a:p>
        </p:txBody>
      </p:sp>
      <p:sp>
        <p:nvSpPr>
          <p:cNvPr id="57" name="cloud-9-4">
            <a:extLst xmlns:a="http://schemas.openxmlformats.org/drawingml/2006/main">
              <a:ext uri="{FF2B5EF4-FFF2-40B4-BE49-F238E27FC236}">
                <a16:creationId xmlns:a16="http://schemas.microsoft.com/office/drawing/2014/main" id="{C5BB0E94-A5E9-49C8-95E1-8A36F036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491" y="6267450"/>
            <a:ext cx="74606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86" b="0">
                <a:solidFill>
                  <a:srgbClr val="17231F"/>
                </a:solidFill>
              </a:defRPr>
            </a:pPr>
            <a:r>
              <a:rPr sz="1886" b="0">
                <a:solidFill>
                  <a:srgbClr val="17231F"/>
                </a:solidFill>
              </a:rPr>
              <a:t>학생</a:t>
            </a:r>
          </a:p>
        </p:txBody>
      </p:sp>
      <p:sp>
        <p:nvSpPr>
          <p:cNvPr id="58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22539906-77FE-4E5F-95CA-0E96F786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59" name="footer-5">
            <a:extLst xmlns:a="http://schemas.openxmlformats.org/drawingml/2006/main">
              <a:ext uri="{FF2B5EF4-FFF2-40B4-BE49-F238E27FC236}">
                <a16:creationId xmlns:a16="http://schemas.microsoft.com/office/drawing/2014/main" id="{6C53B632-CCEB-4929-85A6-0F4AFB2A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네이버 뉴스·블로그 검색 API 2,257건 | 일반어·중복어 제거 후 빈도 집계</a:t>
            </a:r>
          </a:p>
        </p:txBody>
      </p:sp>
    </p:spTree>
    <p:extLst>
      <p:ext uri="{BB962C8B-B14F-4D97-AF65-F5344CB8AC3E}">
        <p14:creationId xmlns:p14="http://schemas.microsoft.com/office/powerpoint/2010/main" val="1122285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6">
            <a:extLst xmlns:a="http://schemas.openxmlformats.org/drawingml/2006/main">
              <a:ext uri="{FF2B5EF4-FFF2-40B4-BE49-F238E27FC236}">
                <a16:creationId xmlns:a16="http://schemas.microsoft.com/office/drawing/2014/main" id="{115825B8-CCAD-4083-8F20-84596C32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0D8482F7-5F0A-4DCF-93BF-C4650EB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PAIN POINTS</a:t>
            </a:r>
          </a:p>
        </p:txBody>
      </p:sp>
      <p:sp>
        <p:nvSpPr>
          <p:cNvPr id="3" name="header-line-6">
            <a:extLst xmlns:a="http://schemas.openxmlformats.org/drawingml/2006/main">
              <a:ext uri="{FF2B5EF4-FFF2-40B4-BE49-F238E27FC236}">
                <a16:creationId xmlns:a16="http://schemas.microsoft.com/office/drawing/2014/main" id="{A9A8D383-2128-4E90-A1F7-DD19B150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6">
            <a:extLst xmlns:a="http://schemas.openxmlformats.org/drawingml/2006/main">
              <a:ext uri="{FF2B5EF4-FFF2-40B4-BE49-F238E27FC236}">
                <a16:creationId xmlns:a16="http://schemas.microsoft.com/office/drawing/2014/main" id="{F28B9C19-5C36-4C20-A846-4402B57F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104502A6-ABFC-4514-9CD3-D34B3F1B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반복된 단어는 세 가지 고객 문제를 가리켰습니다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FE109331-9F8E-4BF4-988B-1A26B38A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06</a:t>
            </a:r>
          </a:p>
        </p:txBody>
      </p:sp>
      <p:sp>
        <p:nvSpPr>
          <p:cNvPr id="7" name="pain-num-0">
            <a:extLst xmlns:a="http://schemas.openxmlformats.org/drawingml/2006/main">
              <a:ext uri="{FF2B5EF4-FFF2-40B4-BE49-F238E27FC236}">
                <a16:creationId xmlns:a16="http://schemas.microsoft.com/office/drawing/2014/main" id="{0F202BCD-B607-4F27-8504-561BD27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A878"/>
                </a:solidFill>
              </a:defRPr>
            </a:pPr>
            <a:r>
              <a:rPr sz="345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8" name="pain-title-0">
            <a:extLst xmlns:a="http://schemas.openxmlformats.org/drawingml/2006/main">
              <a:ext uri="{FF2B5EF4-FFF2-40B4-BE49-F238E27FC236}">
                <a16:creationId xmlns:a16="http://schemas.microsoft.com/office/drawing/2014/main" id="{F85DA130-A09F-4BBD-A2C0-4BD151D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F"/>
                </a:solidFill>
              </a:defRPr>
            </a:pPr>
            <a:r>
              <a:rPr sz="2325" b="1">
                <a:solidFill>
                  <a:srgbClr val="17231F"/>
                </a:solidFill>
              </a:rPr>
              <a:t>안전시설 공백</a:t>
            </a:r>
          </a:p>
        </p:txBody>
      </p:sp>
      <p:sp>
        <p:nvSpPr>
          <p:cNvPr id="9" name="pain-desc-0">
            <a:extLst xmlns:a="http://schemas.openxmlformats.org/drawingml/2006/main">
              <a:ext uri="{FF2B5EF4-FFF2-40B4-BE49-F238E27FC236}">
                <a16:creationId xmlns:a16="http://schemas.microsoft.com/office/drawing/2014/main" id="{A90A7A6F-C0AE-4E48-B4D0-A91BE5E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CCTV와 가로등이 보이지 않는 구간에서</a:t>
            </a:r>
          </a:p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안전을 판단할 근거가 부족합니다.</a:t>
            </a:r>
          </a:p>
        </p:txBody>
      </p:sp>
      <p:sp>
        <p:nvSpPr>
          <p:cNvPr id="10" name="pain-accent-0">
            <a:extLst xmlns:a="http://schemas.openxmlformats.org/drawingml/2006/main">
              <a:ext uri="{FF2B5EF4-FFF2-40B4-BE49-F238E27FC236}">
                <a16:creationId xmlns:a16="http://schemas.microsoft.com/office/drawing/2014/main" id="{16077246-E375-4850-84B8-AE1994DE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11" name="pain-evidence-0">
            <a:extLst xmlns:a="http://schemas.openxmlformats.org/drawingml/2006/main">
              <a:ext uri="{FF2B5EF4-FFF2-40B4-BE49-F238E27FC236}">
                <a16:creationId xmlns:a16="http://schemas.microsoft.com/office/drawing/2014/main" id="{300C9AEC-79FE-45E1-8759-94534A04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CCTV 588  ·  가로등 399  ·  사각지대 387</a:t>
            </a:r>
          </a:p>
        </p:txBody>
      </p:sp>
      <p:sp>
        <p:nvSpPr>
          <p:cNvPr id="12" name="pain-divider-1">
            <a:extLst xmlns:a="http://schemas.openxmlformats.org/drawingml/2006/main">
              <a:ext uri="{FF2B5EF4-FFF2-40B4-BE49-F238E27FC236}">
                <a16:creationId xmlns:a16="http://schemas.microsoft.com/office/drawing/2014/main" id="{1ABA7A9D-BA7E-4164-9851-6C1B2612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3" name="pain-num-1">
            <a:extLst xmlns:a="http://schemas.openxmlformats.org/drawingml/2006/main">
              <a:ext uri="{FF2B5EF4-FFF2-40B4-BE49-F238E27FC236}">
                <a16:creationId xmlns:a16="http://schemas.microsoft.com/office/drawing/2014/main" id="{7D1AA338-5636-4BF6-9D62-32BCC3CA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57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704D"/>
                </a:solidFill>
              </a:defRPr>
            </a:pPr>
            <a:r>
              <a:rPr sz="3450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4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C0B72694-A561-4192-9510-6A13B28F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F"/>
                </a:solidFill>
              </a:defRPr>
            </a:pPr>
            <a:r>
              <a:rPr sz="2325" b="1">
                <a:solidFill>
                  <a:srgbClr val="17231F"/>
                </a:solidFill>
              </a:rPr>
              <a:t>어두운 이동환경</a:t>
            </a:r>
          </a:p>
        </p:txBody>
      </p:sp>
      <p:sp>
        <p:nvSpPr>
          <p:cNvPr id="15" name="pain-desc-1">
            <a:extLst xmlns:a="http://schemas.openxmlformats.org/drawingml/2006/main">
              <a:ext uri="{FF2B5EF4-FFF2-40B4-BE49-F238E27FC236}">
                <a16:creationId xmlns:a16="http://schemas.microsoft.com/office/drawing/2014/main" id="{CF48D823-2ED0-4BD9-B960-AC0C096B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밤길과 골목길은 반복적으로</a:t>
            </a:r>
          </a:p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위험·불안의 상황과 함께 언급됩니다.</a:t>
            </a:r>
          </a:p>
        </p:txBody>
      </p:sp>
      <p:sp>
        <p:nvSpPr>
          <p:cNvPr id="16" name="pain-accent-1">
            <a:extLst xmlns:a="http://schemas.openxmlformats.org/drawingml/2006/main">
              <a:ext uri="{FF2B5EF4-FFF2-40B4-BE49-F238E27FC236}">
                <a16:creationId xmlns:a16="http://schemas.microsoft.com/office/drawing/2014/main" id="{7D0E741B-88F9-44A4-874C-34BE111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53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17" name="pain-evidence-1">
            <a:extLst xmlns:a="http://schemas.openxmlformats.org/drawingml/2006/main">
              <a:ext uri="{FF2B5EF4-FFF2-40B4-BE49-F238E27FC236}">
                <a16:creationId xmlns:a16="http://schemas.microsoft.com/office/drawing/2014/main" id="{F996D0DF-A7BA-4EDA-8403-3C14B05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9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밤길 393  ·  골목길 377  ·  어두운 337</a:t>
            </a:r>
          </a:p>
        </p:txBody>
      </p:sp>
      <p:sp>
        <p:nvSpPr>
          <p:cNvPr id="18" name="pain-divider-2">
            <a:extLst xmlns:a="http://schemas.openxmlformats.org/drawingml/2006/main">
              <a:ext uri="{FF2B5EF4-FFF2-40B4-BE49-F238E27FC236}">
                <a16:creationId xmlns:a16="http://schemas.microsoft.com/office/drawing/2014/main" id="{E7E0042F-9A41-4984-8EF3-B674C333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050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9" name="pain-num-2">
            <a:extLst xmlns:a="http://schemas.openxmlformats.org/drawingml/2006/main">
              <a:ext uri="{FF2B5EF4-FFF2-40B4-BE49-F238E27FC236}">
                <a16:creationId xmlns:a16="http://schemas.microsoft.com/office/drawing/2014/main" id="{C9112ED1-C2E3-4839-8CB7-8B1C26AF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57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775E8"/>
                </a:solidFill>
              </a:defRPr>
            </a:pPr>
            <a:r>
              <a:rPr sz="3450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20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4E1DFF96-380E-4140-81C8-CCBFAC4B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F"/>
                </a:solidFill>
              </a:defRPr>
            </a:pPr>
            <a:r>
              <a:rPr sz="2325" b="1">
                <a:solidFill>
                  <a:srgbClr val="17231F"/>
                </a:solidFill>
              </a:rPr>
              <a:t>경로 판단 불안</a:t>
            </a:r>
          </a:p>
        </p:txBody>
      </p:sp>
      <p:sp>
        <p:nvSpPr>
          <p:cNvPr id="21" name="pain-desc-2">
            <a:extLst xmlns:a="http://schemas.openxmlformats.org/drawingml/2006/main">
              <a:ext uri="{FF2B5EF4-FFF2-40B4-BE49-F238E27FC236}">
                <a16:creationId xmlns:a16="http://schemas.microsoft.com/office/drawing/2014/main" id="{ACAC6CD0-EF0C-4356-8A1C-FE92B087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목적지까지 가는 길은 보여도</a:t>
            </a:r>
          </a:p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어느 길이 더 안심되는지는 알기 어렵습니다.</a:t>
            </a:r>
          </a:p>
        </p:txBody>
      </p:sp>
      <p:sp>
        <p:nvSpPr>
          <p:cNvPr id="22" name="pain-accent-2">
            <a:extLst xmlns:a="http://schemas.openxmlformats.org/drawingml/2006/main">
              <a:ext uri="{FF2B5EF4-FFF2-40B4-BE49-F238E27FC236}">
                <a16:creationId xmlns:a16="http://schemas.microsoft.com/office/drawing/2014/main" id="{F7E2ED5F-8223-4EE0-9193-127A4A14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53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E8"/>
          </a:solidFill>
          <a:ln xmlns:a="http://schemas.openxmlformats.org/drawingml/2006/main" w="0">
            <a:solidFill>
              <a:srgbClr val="4775E8"/>
            </a:solidFill>
            <a:prstDash val="solid"/>
          </a:ln>
        </p:spPr>
      </p:sp>
      <p:sp>
        <p:nvSpPr>
          <p:cNvPr id="23" name="pain-evidence-2">
            <a:extLst xmlns:a="http://schemas.openxmlformats.org/drawingml/2006/main">
              <a:ext uri="{FF2B5EF4-FFF2-40B4-BE49-F238E27FC236}">
                <a16:creationId xmlns:a16="http://schemas.microsoft.com/office/drawing/2014/main" id="{21B44B58-B516-45EA-9CFF-82F77F1C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19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5E8"/>
                </a:solidFill>
              </a:defRPr>
            </a:pPr>
            <a:r>
              <a:rPr sz="1125" b="1">
                <a:solidFill>
                  <a:srgbClr val="4775E8"/>
                </a:solidFill>
              </a:rPr>
              <a:t>안심 533  ·  치안 430  ·  경로 213</a:t>
            </a:r>
          </a:p>
        </p:txBody>
      </p:sp>
      <p:sp>
        <p:nvSpPr>
          <p:cNvPr id="24" name="pain-close-bg">
            <a:extLst xmlns:a="http://schemas.openxmlformats.org/drawingml/2006/main">
              <a:ext uri="{FF2B5EF4-FFF2-40B4-BE49-F238E27FC236}">
                <a16:creationId xmlns:a16="http://schemas.microsoft.com/office/drawing/2014/main" id="{A525C8EF-5855-4DE0-A9C4-51F14C96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2534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DD8"/>
            </a:solidFill>
            <a:prstDash val="solid"/>
          </a:ln>
        </p:spPr>
      </p:sp>
      <p:sp>
        <p:nvSpPr>
          <p:cNvPr id="25" name="pain-close">
            <a:extLst xmlns:a="http://schemas.openxmlformats.org/drawingml/2006/main">
              <a:ext uri="{FF2B5EF4-FFF2-40B4-BE49-F238E27FC236}">
                <a16:creationId xmlns:a16="http://schemas.microsoft.com/office/drawing/2014/main" id="{63123401-C021-471C-BC3E-294F0386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1200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핵심 문제는 ‘범죄 정보 부족’보다 ‘지금 가는 길을 판단할 근거 부족’에 가깝습니다.</a:t>
            </a:r>
          </a:p>
        </p:txBody>
      </p:sp>
      <p:sp>
        <p:nvSpPr>
          <p:cNvPr id="26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EF92ACA-72A2-4018-B56D-FB9DFA3E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7" name="footer-6">
            <a:extLst xmlns:a="http://schemas.openxmlformats.org/drawingml/2006/main">
              <a:ext uri="{FF2B5EF4-FFF2-40B4-BE49-F238E27FC236}">
                <a16:creationId xmlns:a16="http://schemas.microsoft.com/office/drawing/2014/main" id="{25A58364-38CA-466B-ADA9-298BD8DD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해석 기준: 상위 핵심어의 의미 범주와 동시 등장 맥락을 기반으로 페인포인트 구성</a:t>
            </a:r>
          </a:p>
        </p:txBody>
      </p:sp>
    </p:spTree>
    <p:extLst>
      <p:ext uri="{BB962C8B-B14F-4D97-AF65-F5344CB8AC3E}">
        <p14:creationId xmlns:p14="http://schemas.microsoft.com/office/powerpoint/2010/main" val="329664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7">
            <a:extLst xmlns:a="http://schemas.openxmlformats.org/drawingml/2006/main">
              <a:ext uri="{FF2B5EF4-FFF2-40B4-BE49-F238E27FC236}">
                <a16:creationId xmlns:a16="http://schemas.microsoft.com/office/drawing/2014/main" id="{6A5D4AD9-4B17-4279-A888-E61CB2F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solidFill>
              <a:srgbClr val="F2F7F4"/>
            </a:solidFill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6D68E636-B3E6-4908-8254-3695C28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TARGET CUSTOMER</a:t>
            </a:r>
          </a:p>
        </p:txBody>
      </p:sp>
      <p:sp>
        <p:nvSpPr>
          <p:cNvPr id="3" name="header-line-7">
            <a:extLst xmlns:a="http://schemas.openxmlformats.org/drawingml/2006/main">
              <a:ext uri="{FF2B5EF4-FFF2-40B4-BE49-F238E27FC236}">
                <a16:creationId xmlns:a16="http://schemas.microsoft.com/office/drawing/2014/main" id="{432D8C37-5927-4A12-B9A9-59407431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7">
            <a:extLst xmlns:a="http://schemas.openxmlformats.org/drawingml/2006/main">
              <a:ext uri="{FF2B5EF4-FFF2-40B4-BE49-F238E27FC236}">
                <a16:creationId xmlns:a16="http://schemas.microsoft.com/office/drawing/2014/main" id="{EFA7FD29-FF2B-49DC-809D-98C21B9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FFB5EC79-4CEE-4532-8A04-44DCA528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텍스트 분석 결과를 한 명의 고객으로 구체화했습니다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3056B120-27DC-41B2-B5C6-21CCB4C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07</a:t>
            </a:r>
          </a:p>
        </p:txBody>
      </p:sp>
      <p:sp>
        <p:nvSpPr>
          <p:cNvPr id="7" name="persona-frame">
            <a:extLst xmlns:a="http://schemas.openxmlformats.org/drawingml/2006/main">
              <a:ext uri="{FF2B5EF4-FFF2-40B4-BE49-F238E27FC236}">
                <a16:creationId xmlns:a16="http://schemas.microsoft.com/office/drawing/2014/main" id="{2FD9F862-4E97-4BB4-BD28-3080D34F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390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DD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c6756c745402c"/>
          <a:srcRect xmlns:a="http://schemas.openxmlformats.org/drawingml/2006/main" l="0" t="2225" r="0" b="2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95475"/>
            <a:ext cx="3638550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persona-fictional">
            <a:extLst xmlns:a="http://schemas.openxmlformats.org/drawingml/2006/main">
              <a:ext uri="{FF2B5EF4-FFF2-40B4-BE49-F238E27FC236}">
                <a16:creationId xmlns:a16="http://schemas.microsoft.com/office/drawing/2014/main" id="{29C0D493-4F7F-4D7A-B552-582827B3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78"/>
                </a:solidFill>
              </a:defRPr>
            </a:pPr>
            <a:r>
              <a:rPr sz="900" b="1">
                <a:solidFill>
                  <a:srgbClr val="00A878"/>
                </a:solidFill>
              </a:rPr>
              <a:t>AI-GENERATED FICTIONAL PERSONA</a:t>
            </a:r>
          </a:p>
        </p:txBody>
      </p:sp>
      <p:sp>
        <p:nvSpPr>
          <p:cNvPr id="10" name="persona-name">
            <a:extLst xmlns:a="http://schemas.openxmlformats.org/drawingml/2006/main">
              <a:ext uri="{FF2B5EF4-FFF2-40B4-BE49-F238E27FC236}">
                <a16:creationId xmlns:a16="http://schemas.microsoft.com/office/drawing/2014/main" id="{459F7F69-1EEE-44A6-92D0-5EA18A3E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F"/>
                </a:solidFill>
              </a:defRPr>
            </a:pPr>
            <a:r>
              <a:rPr sz="3600" b="1">
                <a:solidFill>
                  <a:srgbClr val="17231F"/>
                </a:solidFill>
              </a:rPr>
              <a:t>김지안</a:t>
            </a:r>
          </a:p>
        </p:txBody>
      </p:sp>
      <p:sp>
        <p:nvSpPr>
          <p:cNvPr id="11" name="persona-age">
            <a:extLst xmlns:a="http://schemas.openxmlformats.org/drawingml/2006/main">
              <a:ext uri="{FF2B5EF4-FFF2-40B4-BE49-F238E27FC236}">
                <a16:creationId xmlns:a16="http://schemas.microsoft.com/office/drawing/2014/main" id="{A3EA5EC6-C1DF-4178-9A80-3DA32104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479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B"/>
                </a:solidFill>
              </a:defRPr>
            </a:pPr>
            <a:r>
              <a:rPr sz="1500" b="0">
                <a:solidFill>
                  <a:srgbClr val="62706B"/>
                </a:solidFill>
              </a:rPr>
              <a:t>24세  ·  대학생  ·  1인 가구  ·  야간 도보 귀가</a:t>
            </a:r>
          </a:p>
        </p:txBody>
      </p:sp>
      <p:sp>
        <p:nvSpPr>
          <p:cNvPr id="12" name="persona-situation-label-bar">
            <a:extLst xmlns:a="http://schemas.openxmlformats.org/drawingml/2006/main">
              <a:ext uri="{FF2B5EF4-FFF2-40B4-BE49-F238E27FC236}">
                <a16:creationId xmlns:a16="http://schemas.microsoft.com/office/drawing/2014/main" id="{4C3710E3-B80F-44CB-9ED9-83C2809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0425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13" name="persona-situation-label">
            <a:extLst xmlns:a="http://schemas.openxmlformats.org/drawingml/2006/main">
              <a:ext uri="{FF2B5EF4-FFF2-40B4-BE49-F238E27FC236}">
                <a16:creationId xmlns:a16="http://schemas.microsoft.com/office/drawing/2014/main" id="{3DD3F867-6E22-432F-8401-671B3413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3909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SITUATION</a:t>
            </a:r>
          </a:p>
        </p:txBody>
      </p:sp>
      <p:sp>
        <p:nvSpPr>
          <p:cNvPr id="14" name="persona-situation">
            <a:extLst xmlns:a="http://schemas.openxmlformats.org/drawingml/2006/main">
              <a:ext uri="{FF2B5EF4-FFF2-40B4-BE49-F238E27FC236}">
                <a16:creationId xmlns:a16="http://schemas.microsoft.com/office/drawing/2014/main" id="{6D5A3FED-A350-457C-9C6C-F2FB5D8E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38575"/>
            <a:ext cx="742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F"/>
                </a:solidFill>
              </a:defRPr>
            </a:pPr>
            <a:r>
              <a:rPr sz="1425" b="0">
                <a:solidFill>
                  <a:srgbClr val="17231F"/>
                </a:solidFill>
              </a:rPr>
              <a:t>밤 10시 이후 지하철역에서 자취방까지</a:t>
            </a:r>
          </a:p>
          <a:p xmlns:a="http://schemas.openxmlformats.org/drawingml/2006/main">
            <a:pPr algn="l">
              <a:defRPr sz="1425" b="0">
                <a:solidFill>
                  <a:srgbClr val="17231F"/>
                </a:solidFill>
              </a:defRPr>
            </a:pPr>
            <a:r>
              <a:rPr sz="1425" b="0">
                <a:solidFill>
                  <a:srgbClr val="17231F"/>
                </a:solidFill>
              </a:rPr>
              <a:t>약 15분을 걸어 귀가합니다.</a:t>
            </a:r>
          </a:p>
        </p:txBody>
      </p:sp>
      <p:sp>
        <p:nvSpPr>
          <p:cNvPr id="15" name="persona-goal-label-bar">
            <a:extLst xmlns:a="http://schemas.openxmlformats.org/drawingml/2006/main">
              <a:ext uri="{FF2B5EF4-FFF2-40B4-BE49-F238E27FC236}">
                <a16:creationId xmlns:a16="http://schemas.microsoft.com/office/drawing/2014/main" id="{2DC94220-0CED-430B-BFC8-836CDBC6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62500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16" name="persona-goal-label">
            <a:extLst xmlns:a="http://schemas.openxmlformats.org/drawingml/2006/main">
              <a:ext uri="{FF2B5EF4-FFF2-40B4-BE49-F238E27FC236}">
                <a16:creationId xmlns:a16="http://schemas.microsoft.com/office/drawing/2014/main" id="{3E600A65-9C80-43DF-B779-8E7BF931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52975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GOAL</a:t>
            </a:r>
          </a:p>
        </p:txBody>
      </p:sp>
      <p:sp>
        <p:nvSpPr>
          <p:cNvPr id="17" name="persona-goal">
            <a:extLst xmlns:a="http://schemas.openxmlformats.org/drawingml/2006/main">
              <a:ext uri="{FF2B5EF4-FFF2-40B4-BE49-F238E27FC236}">
                <a16:creationId xmlns:a16="http://schemas.microsoft.com/office/drawing/2014/main" id="{FB5D9367-67B3-4F3B-97BA-9359364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816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1F"/>
                </a:solidFill>
              </a:defRPr>
            </a:pPr>
            <a:r>
              <a:rPr sz="1500" b="1">
                <a:solidFill>
                  <a:srgbClr val="17231F"/>
                </a:solidFill>
              </a:rPr>
              <a:t>빠른 길보다 안심할 수 있는 길을 선택하고 싶습니다.</a:t>
            </a:r>
          </a:p>
        </p:txBody>
      </p:sp>
      <p:sp>
        <p:nvSpPr>
          <p:cNvPr id="18" name="persona-pain">
            <a:extLst xmlns:a="http://schemas.openxmlformats.org/drawingml/2006/main">
              <a:ext uri="{FF2B5EF4-FFF2-40B4-BE49-F238E27FC236}">
                <a16:creationId xmlns:a16="http://schemas.microsoft.com/office/drawing/2014/main" id="{59134BF8-4C6B-4CCF-8722-9F98EFAB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53125"/>
            <a:ext cx="757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CCTV·가로등 위치를 알기 어렵다  /  위험구간 전 대체 경로를 찾기 어렵다  /  정보를 따로 확인해야 한다</a:t>
            </a:r>
          </a:p>
        </p:txBody>
      </p:sp>
      <p:sp>
        <p:nvSpPr>
          <p:cNvPr id="19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4A35788-EB77-4281-B9A4-66CB80AB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0" name="footer-7">
            <a:extLst xmlns:a="http://schemas.openxmlformats.org/drawingml/2006/main">
              <a:ext uri="{FF2B5EF4-FFF2-40B4-BE49-F238E27FC236}">
                <a16:creationId xmlns:a16="http://schemas.microsoft.com/office/drawing/2014/main" id="{34CBE46C-99EC-403F-9002-1E271C8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Persona synthesis: 워드클라우드 상위 핵심어와 페인포인트를 기반으로 구성한 가상 인물</a:t>
            </a:r>
          </a:p>
        </p:txBody>
      </p:sp>
    </p:spTree>
    <p:extLst>
      <p:ext uri="{BB962C8B-B14F-4D97-AF65-F5344CB8AC3E}">
        <p14:creationId xmlns:p14="http://schemas.microsoft.com/office/powerpoint/2010/main" val="1399418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8">
            <a:extLst xmlns:a="http://schemas.openxmlformats.org/drawingml/2006/main">
              <a:ext uri="{FF2B5EF4-FFF2-40B4-BE49-F238E27FC236}">
                <a16:creationId xmlns:a16="http://schemas.microsoft.com/office/drawing/2014/main" id="{13F876C8-92D3-4A18-8198-BA1FE02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2"/>
          </a:solidFill>
          <a:ln xmlns:a="http://schemas.openxmlformats.org/drawingml/2006/main" w="0">
            <a:solidFill>
              <a:srgbClr val="EEF7F2"/>
            </a:solidFill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48222180-4B26-4313-AE8A-5BEFC4C9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CX · CUSTOMER NEEDS</a:t>
            </a:r>
          </a:p>
        </p:txBody>
      </p:sp>
      <p:sp>
        <p:nvSpPr>
          <p:cNvPr id="3" name="header-line-8">
            <a:extLst xmlns:a="http://schemas.openxmlformats.org/drawingml/2006/main">
              <a:ext uri="{FF2B5EF4-FFF2-40B4-BE49-F238E27FC236}">
                <a16:creationId xmlns:a16="http://schemas.microsoft.com/office/drawing/2014/main" id="{866FDED7-421E-4A10-8705-60B004F5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8">
            <a:extLst xmlns:a="http://schemas.openxmlformats.org/drawingml/2006/main">
              <a:ext uri="{FF2B5EF4-FFF2-40B4-BE49-F238E27FC236}">
                <a16:creationId xmlns:a16="http://schemas.microsoft.com/office/drawing/2014/main" id="{6EACD863-28C1-416C-BDC5-C6587C4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BD7EFD33-BFD7-47E7-A2BA-883D1CA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고객에게 필요한 것은 ‘길을 결정할 근거’입니다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C898BECF-0DEC-40AC-A1DB-35E3630A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08</a:t>
            </a:r>
          </a:p>
        </p:txBody>
      </p:sp>
      <p:sp>
        <p:nvSpPr>
          <p:cNvPr id="7" name="needs-lead">
            <a:extLst xmlns:a="http://schemas.openxmlformats.org/drawingml/2006/main">
              <a:ext uri="{FF2B5EF4-FFF2-40B4-BE49-F238E27FC236}">
                <a16:creationId xmlns:a16="http://schemas.microsoft.com/office/drawing/2014/main" id="{6DB3EAB0-4FDF-4B89-A382-CCD519BB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6B"/>
                </a:solidFill>
              </a:defRPr>
            </a:pPr>
            <a:r>
              <a:rPr sz="1650" b="0">
                <a:solidFill>
                  <a:srgbClr val="62706B"/>
                </a:solidFill>
              </a:rPr>
              <a:t>김지안의 귀가 여정에는 세 번의 판단 순간이 있습니다.</a:t>
            </a:r>
          </a:p>
        </p:txBody>
      </p:sp>
      <p:sp>
        <p:nvSpPr>
          <p:cNvPr id="8" name="needs-line">
            <a:extLst xmlns:a="http://schemas.openxmlformats.org/drawingml/2006/main">
              <a:ext uri="{FF2B5EF4-FFF2-40B4-BE49-F238E27FC236}">
                <a16:creationId xmlns:a16="http://schemas.microsoft.com/office/drawing/2014/main" id="{20B4660A-6AB8-4CE4-817D-D24E0F97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9" name="need-node-0">
            <a:extLst xmlns:a="http://schemas.openxmlformats.org/drawingml/2006/main">
              <a:ext uri="{FF2B5EF4-FFF2-40B4-BE49-F238E27FC236}">
                <a16:creationId xmlns:a16="http://schemas.microsoft.com/office/drawing/2014/main" id="{16FC4065-F7FC-4EC2-801D-A2400E4B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00A878"/>
            </a:solidFill>
            <a:prstDash val="solid"/>
          </a:ln>
        </p:spPr>
      </p:sp>
      <p:sp>
        <p:nvSpPr>
          <p:cNvPr id="10" name="need-node-text-0">
            <a:extLst xmlns:a="http://schemas.openxmlformats.org/drawingml/2006/main">
              <a:ext uri="{FF2B5EF4-FFF2-40B4-BE49-F238E27FC236}">
                <a16:creationId xmlns:a16="http://schemas.microsoft.com/office/drawing/2014/main" id="{F9BAE32D-F006-40D2-A47E-7DA811C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1" name="need-phase-0">
            <a:extLst xmlns:a="http://schemas.openxmlformats.org/drawingml/2006/main">
              <a:ext uri="{FF2B5EF4-FFF2-40B4-BE49-F238E27FC236}">
                <a16:creationId xmlns:a16="http://schemas.microsoft.com/office/drawing/2014/main" id="{EE983037-3206-4EB0-9690-D6DC6114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78"/>
                </a:solidFill>
              </a:defRPr>
            </a:pPr>
            <a:r>
              <a:rPr sz="1200" b="1">
                <a:solidFill>
                  <a:srgbClr val="00A878"/>
                </a:solidFill>
              </a:rPr>
              <a:t>출발 전</a:t>
            </a:r>
          </a:p>
        </p:txBody>
      </p:sp>
      <p:sp>
        <p:nvSpPr>
          <p:cNvPr id="12" name="need-title-0">
            <a:extLst xmlns:a="http://schemas.openxmlformats.org/drawingml/2006/main">
              <a:ext uri="{FF2B5EF4-FFF2-40B4-BE49-F238E27FC236}">
                <a16:creationId xmlns:a16="http://schemas.microsoft.com/office/drawing/2014/main" id="{9C706FD4-637A-4F94-9375-1372F81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 경로 비교</a:t>
            </a:r>
          </a:p>
        </p:txBody>
      </p:sp>
      <p:sp>
        <p:nvSpPr>
          <p:cNvPr id="13" name="need-desc-0">
            <a:extLst xmlns:a="http://schemas.openxmlformats.org/drawingml/2006/main">
              <a:ext uri="{FF2B5EF4-FFF2-40B4-BE49-F238E27FC236}">
                <a16:creationId xmlns:a16="http://schemas.microsoft.com/office/drawing/2014/main" id="{F2CB1212-0221-4881-B9A3-E88FFD50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최단거리와 안전한 길의</a:t>
            </a:r>
          </a:p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차이를 확인</a:t>
            </a:r>
          </a:p>
        </p:txBody>
      </p:sp>
      <p:sp>
        <p:nvSpPr>
          <p:cNvPr id="14" name="need-node-1">
            <a:extLst xmlns:a="http://schemas.openxmlformats.org/drawingml/2006/main">
              <a:ext uri="{FF2B5EF4-FFF2-40B4-BE49-F238E27FC236}">
                <a16:creationId xmlns:a16="http://schemas.microsoft.com/office/drawing/2014/main" id="{34DAA807-C4F9-495F-A6F9-218C2CB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4775E8"/>
            </a:solidFill>
            <a:prstDash val="solid"/>
          </a:ln>
        </p:spPr>
      </p:sp>
      <p:sp>
        <p:nvSpPr>
          <p:cNvPr id="15" name="need-node-text-1">
            <a:extLst xmlns:a="http://schemas.openxmlformats.org/drawingml/2006/main">
              <a:ext uri="{FF2B5EF4-FFF2-40B4-BE49-F238E27FC236}">
                <a16:creationId xmlns:a16="http://schemas.microsoft.com/office/drawing/2014/main" id="{6473936B-C381-4B96-8E59-31930534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75E8"/>
                </a:solidFill>
              </a:defRPr>
            </a:pPr>
            <a:r>
              <a:rPr sz="1125" b="1">
                <a:solidFill>
                  <a:srgbClr val="4775E8"/>
                </a:solidFill>
              </a:rPr>
              <a:t>02</a:t>
            </a:r>
          </a:p>
        </p:txBody>
      </p:sp>
      <p:sp>
        <p:nvSpPr>
          <p:cNvPr id="16" name="need-phase-1">
            <a:extLst xmlns:a="http://schemas.openxmlformats.org/drawingml/2006/main">
              <a:ext uri="{FF2B5EF4-FFF2-40B4-BE49-F238E27FC236}">
                <a16:creationId xmlns:a16="http://schemas.microsoft.com/office/drawing/2014/main" id="{792C8D61-529D-4261-A205-C306ABDB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57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75E8"/>
                </a:solidFill>
              </a:defRPr>
            </a:pPr>
            <a:r>
              <a:rPr sz="1200" b="1">
                <a:solidFill>
                  <a:srgbClr val="4775E8"/>
                </a:solidFill>
              </a:rPr>
              <a:t>이동 중</a:t>
            </a:r>
          </a:p>
        </p:txBody>
      </p:sp>
      <p:sp>
        <p:nvSpPr>
          <p:cNvPr id="17" name="need-title-1">
            <a:extLst xmlns:a="http://schemas.openxmlformats.org/drawingml/2006/main">
              <a:ext uri="{FF2B5EF4-FFF2-40B4-BE49-F238E27FC236}">
                <a16:creationId xmlns:a16="http://schemas.microsoft.com/office/drawing/2014/main" id="{EA1BA37B-6658-47AC-9533-714F06EC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안전시설 확인</a:t>
            </a:r>
          </a:p>
        </p:txBody>
      </p:sp>
      <p:sp>
        <p:nvSpPr>
          <p:cNvPr id="18" name="need-desc-1">
            <a:extLst xmlns:a="http://schemas.openxmlformats.org/drawingml/2006/main">
              <a:ext uri="{FF2B5EF4-FFF2-40B4-BE49-F238E27FC236}">
                <a16:creationId xmlns:a16="http://schemas.microsoft.com/office/drawing/2014/main" id="{CD7DDF68-8C5D-416B-B092-5883E80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CCTV·가로등·비상벨을</a:t>
            </a:r>
          </a:p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한 화면에서 확인</a:t>
            </a:r>
          </a:p>
        </p:txBody>
      </p:sp>
      <p:sp>
        <p:nvSpPr>
          <p:cNvPr id="19" name="need-node-2">
            <a:extLst xmlns:a="http://schemas.openxmlformats.org/drawingml/2006/main">
              <a:ext uri="{FF2B5EF4-FFF2-40B4-BE49-F238E27FC236}">
                <a16:creationId xmlns:a16="http://schemas.microsoft.com/office/drawing/2014/main" id="{1A34D0D2-E8B2-4337-B1DA-7EEA0F83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9050">
            <a:solidFill>
              <a:srgbClr val="FF704D"/>
            </a:solidFill>
            <a:prstDash val="solid"/>
          </a:ln>
        </p:spPr>
      </p:sp>
      <p:sp>
        <p:nvSpPr>
          <p:cNvPr id="20" name="need-node-text-2">
            <a:extLst xmlns:a="http://schemas.openxmlformats.org/drawingml/2006/main">
              <a:ext uri="{FF2B5EF4-FFF2-40B4-BE49-F238E27FC236}">
                <a16:creationId xmlns:a16="http://schemas.microsoft.com/office/drawing/2014/main" id="{DB862620-132F-441C-81AA-E0B7EF75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21" name="need-phase-2">
            <a:extLst xmlns:a="http://schemas.openxmlformats.org/drawingml/2006/main">
              <a:ext uri="{FF2B5EF4-FFF2-40B4-BE49-F238E27FC236}">
                <a16:creationId xmlns:a16="http://schemas.microsoft.com/office/drawing/2014/main" id="{B1843AB0-50B2-45A9-BC87-17E626C8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57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04D"/>
                </a:solidFill>
              </a:defRPr>
            </a:pPr>
            <a:r>
              <a:rPr sz="1200" b="1">
                <a:solidFill>
                  <a:srgbClr val="FF704D"/>
                </a:solidFill>
              </a:rPr>
              <a:t>위험 전</a:t>
            </a:r>
          </a:p>
        </p:txBody>
      </p:sp>
      <p:sp>
        <p:nvSpPr>
          <p:cNvPr id="22" name="need-title-2">
            <a:extLst xmlns:a="http://schemas.openxmlformats.org/drawingml/2006/main">
              <a:ext uri="{FF2B5EF4-FFF2-40B4-BE49-F238E27FC236}">
                <a16:creationId xmlns:a16="http://schemas.microsoft.com/office/drawing/2014/main" id="{BC55775D-64A7-4DA9-87E6-8B337304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62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사전 알림</a:t>
            </a:r>
          </a:p>
        </p:txBody>
      </p:sp>
      <p:sp>
        <p:nvSpPr>
          <p:cNvPr id="23" name="need-desc-2">
            <a:extLst xmlns:a="http://schemas.openxmlformats.org/drawingml/2006/main">
              <a:ext uri="{FF2B5EF4-FFF2-40B4-BE49-F238E27FC236}">
                <a16:creationId xmlns:a16="http://schemas.microsoft.com/office/drawing/2014/main" id="{F2DB0B9F-1E50-4642-93BD-A7E44870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48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사각지대·취약구간 진입 전</a:t>
            </a:r>
          </a:p>
          <a:p xmlns:a="http://schemas.openxmlformats.org/drawingml/2006/main">
            <a:pPr algn="l">
              <a:defRPr sz="1350" b="0">
                <a:solidFill>
                  <a:srgbClr val="62706B"/>
                </a:solidFill>
              </a:defRPr>
            </a:pPr>
            <a:r>
              <a:rPr sz="1350" b="0">
                <a:solidFill>
                  <a:srgbClr val="62706B"/>
                </a:solidFill>
              </a:rPr>
              <a:t>대체 경로 안내</a:t>
            </a:r>
          </a:p>
        </p:txBody>
      </p:sp>
      <p:sp>
        <p:nvSpPr>
          <p:cNvPr id="24" name="needs-close">
            <a:extLst xmlns:a="http://schemas.openxmlformats.org/drawingml/2006/main">
              <a:ext uri="{FF2B5EF4-FFF2-40B4-BE49-F238E27FC236}">
                <a16:creationId xmlns:a16="http://schemas.microsoft.com/office/drawing/2014/main" id="{CD1A3258-315E-48C2-81D2-32D3379A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190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78"/>
                </a:solidFill>
              </a:defRPr>
            </a:pPr>
            <a:r>
              <a:rPr sz="1875" b="1">
                <a:solidFill>
                  <a:srgbClr val="00A878"/>
                </a:solidFill>
              </a:rPr>
              <a:t>LocalHub는 이 세 가지 판단 순간을 하나의 화면에서 지원합니다.</a:t>
            </a:r>
          </a:p>
        </p:txBody>
      </p:sp>
    </p:spTree>
    <p:extLst>
      <p:ext uri="{BB962C8B-B14F-4D97-AF65-F5344CB8AC3E}">
        <p14:creationId xmlns:p14="http://schemas.microsoft.com/office/powerpoint/2010/main" val="759453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9">
            <a:extLst xmlns:a="http://schemas.openxmlformats.org/drawingml/2006/main">
              <a:ext uri="{FF2B5EF4-FFF2-40B4-BE49-F238E27FC236}">
                <a16:creationId xmlns:a16="http://schemas.microsoft.com/office/drawing/2014/main" id="{1CD0DD2B-7066-4887-BB37-C0118246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F"/>
          </a:solidFill>
          <a:ln xmlns:a="http://schemas.openxmlformats.org/drawingml/2006/main" w="0">
            <a:solidFill>
              <a:srgbClr val="F2F5FF"/>
            </a:solidFill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21CB19B0-95A9-45F9-BD73-F8420371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DX · KEY ACCELERATORS</a:t>
            </a:r>
          </a:p>
        </p:txBody>
      </p:sp>
      <p:sp>
        <p:nvSpPr>
          <p:cNvPr id="3" name="header-line-9">
            <a:extLst xmlns:a="http://schemas.openxmlformats.org/drawingml/2006/main">
              <a:ext uri="{FF2B5EF4-FFF2-40B4-BE49-F238E27FC236}">
                <a16:creationId xmlns:a16="http://schemas.microsoft.com/office/drawing/2014/main" id="{CA71E032-FF9A-4A84-BD90-A497DB7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9">
            <a:extLst xmlns:a="http://schemas.openxmlformats.org/drawingml/2006/main">
              <a:ext uri="{FF2B5EF4-FFF2-40B4-BE49-F238E27FC236}">
                <a16:creationId xmlns:a16="http://schemas.microsoft.com/office/drawing/2014/main" id="{D5456E7B-B319-478A-A126-3D8CEEA1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5" name="title-9">
            <a:extLst xmlns:a="http://schemas.openxmlformats.org/drawingml/2006/main">
              <a:ext uri="{FF2B5EF4-FFF2-40B4-BE49-F238E27FC236}">
                <a16:creationId xmlns:a16="http://schemas.microsoft.com/office/drawing/2014/main" id="{4006530D-CBD7-4EC5-BF18-D47CFD3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세 가지 고객 요구를 아홉 개 기능으로 구현했습니다</a:t>
            </a: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B651CC84-A031-4699-8F7B-6D92ABB4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09</a:t>
            </a:r>
          </a:p>
        </p:txBody>
      </p:sp>
      <p:sp>
        <p:nvSpPr>
          <p:cNvPr id="7" name="dx-key-0">
            <a:extLst xmlns:a="http://schemas.openxmlformats.org/drawingml/2006/main">
              <a:ext uri="{FF2B5EF4-FFF2-40B4-BE49-F238E27FC236}">
                <a16:creationId xmlns:a16="http://schemas.microsoft.com/office/drawing/2014/main" id="{5B835539-A7BF-469C-984E-4362AE4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878"/>
                </a:solidFill>
              </a:defRPr>
            </a:pPr>
            <a:r>
              <a:rPr sz="1950" b="1">
                <a:solidFill>
                  <a:srgbClr val="00A878"/>
                </a:solidFill>
              </a:rPr>
              <a:t>SEE</a:t>
            </a:r>
          </a:p>
        </p:txBody>
      </p:sp>
      <p:sp>
        <p:nvSpPr>
          <p:cNvPr id="8" name="dx-title-0">
            <a:extLst xmlns:a="http://schemas.openxmlformats.org/drawingml/2006/main">
              <a:ext uri="{FF2B5EF4-FFF2-40B4-BE49-F238E27FC236}">
                <a16:creationId xmlns:a16="http://schemas.microsoft.com/office/drawing/2014/main" id="{CE423F23-36B0-4C9A-950D-FC63305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안전정보 시각화</a:t>
            </a:r>
          </a:p>
        </p:txBody>
      </p:sp>
      <p:sp>
        <p:nvSpPr>
          <p:cNvPr id="9" name="dx-accent-0">
            <a:extLst xmlns:a="http://schemas.openxmlformats.org/drawingml/2006/main">
              <a:ext uri="{FF2B5EF4-FFF2-40B4-BE49-F238E27FC236}">
                <a16:creationId xmlns:a16="http://schemas.microsoft.com/office/drawing/2014/main" id="{1B91EF5C-96B7-4754-856D-72391AA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10" name="dx-index-0-0">
            <a:extLst xmlns:a="http://schemas.openxmlformats.org/drawingml/2006/main">
              <a:ext uri="{FF2B5EF4-FFF2-40B4-BE49-F238E27FC236}">
                <a16:creationId xmlns:a16="http://schemas.microsoft.com/office/drawing/2014/main" id="{7F2E7D4E-DCD7-49AE-AA9E-79841A59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1" name="dx-item-0-0">
            <a:extLst xmlns:a="http://schemas.openxmlformats.org/drawingml/2006/main">
              <a:ext uri="{FF2B5EF4-FFF2-40B4-BE49-F238E27FC236}">
                <a16:creationId xmlns:a16="http://schemas.microsoft.com/office/drawing/2014/main" id="{AB54A0E4-F6D1-4480-9C3B-C9FB000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CCTV 공공데이터 활용</a:t>
            </a:r>
          </a:p>
        </p:txBody>
      </p:sp>
      <p:sp>
        <p:nvSpPr>
          <p:cNvPr id="12" name="dx-index-0-1">
            <a:extLst xmlns:a="http://schemas.openxmlformats.org/drawingml/2006/main">
              <a:ext uri="{FF2B5EF4-FFF2-40B4-BE49-F238E27FC236}">
                <a16:creationId xmlns:a16="http://schemas.microsoft.com/office/drawing/2014/main" id="{F67DF194-ABB3-4A47-8EF5-7610958E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13" name="dx-item-0-1">
            <a:extLst xmlns:a="http://schemas.openxmlformats.org/drawingml/2006/main">
              <a:ext uri="{FF2B5EF4-FFF2-40B4-BE49-F238E27FC236}">
                <a16:creationId xmlns:a16="http://schemas.microsoft.com/office/drawing/2014/main" id="{7C356C22-210C-4196-8515-55CFBCD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안전지역 히트맵</a:t>
            </a:r>
          </a:p>
        </p:txBody>
      </p:sp>
      <p:sp>
        <p:nvSpPr>
          <p:cNvPr id="14" name="dx-index-0-2">
            <a:extLst xmlns:a="http://schemas.openxmlformats.org/drawingml/2006/main">
              <a:ext uri="{FF2B5EF4-FFF2-40B4-BE49-F238E27FC236}">
                <a16:creationId xmlns:a16="http://schemas.microsoft.com/office/drawing/2014/main" id="{9A354D96-6D70-4039-A9ED-DD1EC8AF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15" name="dx-item-0-2">
            <a:extLst xmlns:a="http://schemas.openxmlformats.org/drawingml/2006/main">
              <a:ext uri="{FF2B5EF4-FFF2-40B4-BE49-F238E27FC236}">
                <a16:creationId xmlns:a16="http://schemas.microsoft.com/office/drawing/2014/main" id="{B4C30BC7-7E58-41AE-9947-DB8B6BF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경찰시설 위치·지역 안전도</a:t>
            </a:r>
          </a:p>
        </p:txBody>
      </p:sp>
      <p:sp>
        <p:nvSpPr>
          <p:cNvPr id="16" name="dx-note-0">
            <a:extLst xmlns:a="http://schemas.openxmlformats.org/drawingml/2006/main">
              <a:ext uri="{FF2B5EF4-FFF2-40B4-BE49-F238E27FC236}">
                <a16:creationId xmlns:a16="http://schemas.microsoft.com/office/drawing/2014/main" id="{7065AA4A-6492-4512-97A9-7C03B165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</a:defRPr>
            </a:pPr>
            <a:r>
              <a:rPr sz="1125" b="0">
                <a:solidFill>
                  <a:srgbClr val="62706B"/>
                </a:solidFill>
              </a:rPr>
              <a:t>지금 주변이 얼마나 안전한지 확인</a:t>
            </a:r>
          </a:p>
        </p:txBody>
      </p:sp>
      <p:sp>
        <p:nvSpPr>
          <p:cNvPr id="17" name="dx-divider-1">
            <a:extLst xmlns:a="http://schemas.openxmlformats.org/drawingml/2006/main">
              <a:ext uri="{FF2B5EF4-FFF2-40B4-BE49-F238E27FC236}">
                <a16:creationId xmlns:a16="http://schemas.microsoft.com/office/drawing/2014/main" id="{17E22533-AE1F-4889-9AAE-C2740B95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8" name="dx-key-1">
            <a:extLst xmlns:a="http://schemas.openxmlformats.org/drawingml/2006/main">
              <a:ext uri="{FF2B5EF4-FFF2-40B4-BE49-F238E27FC236}">
                <a16:creationId xmlns:a16="http://schemas.microsoft.com/office/drawing/2014/main" id="{CC41116C-DD62-49C1-9BF8-8B404FCC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62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04D"/>
                </a:solidFill>
              </a:defRPr>
            </a:pPr>
            <a:r>
              <a:rPr sz="1950" b="1">
                <a:solidFill>
                  <a:srgbClr val="FF704D"/>
                </a:solidFill>
              </a:rPr>
              <a:t>GUIDE</a:t>
            </a:r>
          </a:p>
        </p:txBody>
      </p:sp>
      <p:sp>
        <p:nvSpPr>
          <p:cNvPr id="19" name="dx-title-1">
            <a:extLst xmlns:a="http://schemas.openxmlformats.org/drawingml/2006/main">
              <a:ext uri="{FF2B5EF4-FFF2-40B4-BE49-F238E27FC236}">
                <a16:creationId xmlns:a16="http://schemas.microsoft.com/office/drawing/2014/main" id="{9D772FD2-1175-4F89-AF91-5EBE5CD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안전귀가 안내</a:t>
            </a:r>
          </a:p>
        </p:txBody>
      </p:sp>
      <p:sp>
        <p:nvSpPr>
          <p:cNvPr id="20" name="dx-accent-1">
            <a:extLst xmlns:a="http://schemas.openxmlformats.org/drawingml/2006/main">
              <a:ext uri="{FF2B5EF4-FFF2-40B4-BE49-F238E27FC236}">
                <a16:creationId xmlns:a16="http://schemas.microsoft.com/office/drawing/2014/main" id="{D9FCBF1A-1360-40FD-99E1-6D77FAA3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21" name="dx-index-1-0">
            <a:extLst xmlns:a="http://schemas.openxmlformats.org/drawingml/2006/main">
              <a:ext uri="{FF2B5EF4-FFF2-40B4-BE49-F238E27FC236}">
                <a16:creationId xmlns:a16="http://schemas.microsoft.com/office/drawing/2014/main" id="{77562BE8-6959-4808-B9CC-C4212086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76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01</a:t>
            </a:r>
          </a:p>
        </p:txBody>
      </p:sp>
      <p:sp>
        <p:nvSpPr>
          <p:cNvPr id="22" name="dx-item-1-0">
            <a:extLst xmlns:a="http://schemas.openxmlformats.org/drawingml/2006/main">
              <a:ext uri="{FF2B5EF4-FFF2-40B4-BE49-F238E27FC236}">
                <a16:creationId xmlns:a16="http://schemas.microsoft.com/office/drawing/2014/main" id="{4F410BAA-37AD-48AD-80D8-A895DC27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최단경로·안전경로 비교</a:t>
            </a:r>
          </a:p>
        </p:txBody>
      </p:sp>
      <p:sp>
        <p:nvSpPr>
          <p:cNvPr id="23" name="dx-index-1-1">
            <a:extLst xmlns:a="http://schemas.openxmlformats.org/drawingml/2006/main">
              <a:ext uri="{FF2B5EF4-FFF2-40B4-BE49-F238E27FC236}">
                <a16:creationId xmlns:a16="http://schemas.microsoft.com/office/drawing/2014/main" id="{E3ABD437-87D8-4C6C-A7D5-F07DADED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62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24" name="dx-item-1-1">
            <a:extLst xmlns:a="http://schemas.openxmlformats.org/drawingml/2006/main">
              <a:ext uri="{FF2B5EF4-FFF2-40B4-BE49-F238E27FC236}">
                <a16:creationId xmlns:a16="http://schemas.microsoft.com/office/drawing/2014/main" id="{523AC793-38D6-406F-8315-F9F10FBA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4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CCTV 사각지대 위험구간</a:t>
            </a:r>
          </a:p>
        </p:txBody>
      </p:sp>
      <p:sp>
        <p:nvSpPr>
          <p:cNvPr id="25" name="dx-index-1-2">
            <a:extLst xmlns:a="http://schemas.openxmlformats.org/drawingml/2006/main">
              <a:ext uri="{FF2B5EF4-FFF2-40B4-BE49-F238E27FC236}">
                <a16:creationId xmlns:a16="http://schemas.microsoft.com/office/drawing/2014/main" id="{0D315E1F-C31B-46E9-AA17-CF0630F1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48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26" name="dx-item-1-2">
            <a:extLst xmlns:a="http://schemas.openxmlformats.org/drawingml/2006/main">
              <a:ext uri="{FF2B5EF4-FFF2-40B4-BE49-F238E27FC236}">
                <a16:creationId xmlns:a16="http://schemas.microsoft.com/office/drawing/2014/main" id="{C8A39888-CF8D-49F3-BAA3-B43E6AC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단계별 세부 길안내</a:t>
            </a:r>
          </a:p>
        </p:txBody>
      </p:sp>
      <p:sp>
        <p:nvSpPr>
          <p:cNvPr id="27" name="dx-note-1">
            <a:extLst xmlns:a="http://schemas.openxmlformats.org/drawingml/2006/main">
              <a:ext uri="{FF2B5EF4-FFF2-40B4-BE49-F238E27FC236}">
                <a16:creationId xmlns:a16="http://schemas.microsoft.com/office/drawing/2014/main" id="{D4AA9900-1778-4FAA-9BAA-7A027152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15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</a:defRPr>
            </a:pPr>
            <a:r>
              <a:rPr sz="1125" b="0">
                <a:solidFill>
                  <a:srgbClr val="62706B"/>
                </a:solidFill>
              </a:rPr>
              <a:t>빠른 길과 안전한 길을 근거로 선택</a:t>
            </a:r>
          </a:p>
        </p:txBody>
      </p:sp>
      <p:sp>
        <p:nvSpPr>
          <p:cNvPr id="28" name="dx-divider-2">
            <a:extLst xmlns:a="http://schemas.openxmlformats.org/drawingml/2006/main">
              <a:ext uri="{FF2B5EF4-FFF2-40B4-BE49-F238E27FC236}">
                <a16:creationId xmlns:a16="http://schemas.microsoft.com/office/drawing/2014/main" id="{AD6C8B83-141D-45E4-B22F-9D3C86C3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050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9" name="dx-key-2">
            <a:extLst xmlns:a="http://schemas.openxmlformats.org/drawingml/2006/main">
              <a:ext uri="{FF2B5EF4-FFF2-40B4-BE49-F238E27FC236}">
                <a16:creationId xmlns:a16="http://schemas.microsoft.com/office/drawing/2014/main" id="{71953440-478A-4631-80E4-68607CD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775E8"/>
                </a:solidFill>
              </a:defRPr>
            </a:pPr>
            <a:r>
              <a:rPr sz="1950" b="1">
                <a:solidFill>
                  <a:srgbClr val="4775E8"/>
                </a:solidFill>
              </a:rPr>
              <a:t>SHARE</a:t>
            </a:r>
          </a:p>
        </p:txBody>
      </p:sp>
      <p:sp>
        <p:nvSpPr>
          <p:cNvPr id="30" name="dx-title-2">
            <a:extLst xmlns:a="http://schemas.openxmlformats.org/drawingml/2006/main">
              <a:ext uri="{FF2B5EF4-FFF2-40B4-BE49-F238E27FC236}">
                <a16:creationId xmlns:a16="http://schemas.microsoft.com/office/drawing/2014/main" id="{640B0181-4372-4193-BD66-4A77FF9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F"/>
                </a:solidFill>
              </a:defRPr>
            </a:pPr>
            <a:r>
              <a:rPr sz="2250" b="1">
                <a:solidFill>
                  <a:srgbClr val="17231F"/>
                </a:solidFill>
              </a:rPr>
              <a:t>실시간 정보 공유</a:t>
            </a:r>
          </a:p>
        </p:txBody>
      </p:sp>
      <p:sp>
        <p:nvSpPr>
          <p:cNvPr id="31" name="dx-accent-2">
            <a:extLst xmlns:a="http://schemas.openxmlformats.org/drawingml/2006/main">
              <a:ext uri="{FF2B5EF4-FFF2-40B4-BE49-F238E27FC236}">
                <a16:creationId xmlns:a16="http://schemas.microsoft.com/office/drawing/2014/main" id="{CE24FB23-C6AF-4836-BF7E-BAD5D982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E8"/>
          </a:solidFill>
          <a:ln xmlns:a="http://schemas.openxmlformats.org/drawingml/2006/main" w="0">
            <a:solidFill>
              <a:srgbClr val="4775E8"/>
            </a:solidFill>
            <a:prstDash val="solid"/>
          </a:ln>
        </p:spPr>
      </p:sp>
      <p:sp>
        <p:nvSpPr>
          <p:cNvPr id="32" name="dx-index-2-0">
            <a:extLst xmlns:a="http://schemas.openxmlformats.org/drawingml/2006/main">
              <a:ext uri="{FF2B5EF4-FFF2-40B4-BE49-F238E27FC236}">
                <a16:creationId xmlns:a16="http://schemas.microsoft.com/office/drawing/2014/main" id="{9CD7B6B5-0751-4D23-8048-B1084DB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01</a:t>
            </a:r>
          </a:p>
        </p:txBody>
      </p:sp>
      <p:sp>
        <p:nvSpPr>
          <p:cNvPr id="33" name="dx-item-2-0">
            <a:extLst xmlns:a="http://schemas.openxmlformats.org/drawingml/2006/main">
              <a:ext uri="{FF2B5EF4-FFF2-40B4-BE49-F238E27FC236}">
                <a16:creationId xmlns:a16="http://schemas.microsoft.com/office/drawing/2014/main" id="{4709164E-D84F-4D4D-BB1C-49E36D1A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범죄정보 챗봇</a:t>
            </a:r>
          </a:p>
        </p:txBody>
      </p:sp>
      <p:sp>
        <p:nvSpPr>
          <p:cNvPr id="34" name="dx-index-2-1">
            <a:extLst xmlns:a="http://schemas.openxmlformats.org/drawingml/2006/main">
              <a:ext uri="{FF2B5EF4-FFF2-40B4-BE49-F238E27FC236}">
                <a16:creationId xmlns:a16="http://schemas.microsoft.com/office/drawing/2014/main" id="{690F6B19-AB20-44CA-8172-30518406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62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02</a:t>
            </a:r>
          </a:p>
        </p:txBody>
      </p:sp>
      <p:sp>
        <p:nvSpPr>
          <p:cNvPr id="35" name="dx-item-2-1">
            <a:extLst xmlns:a="http://schemas.openxmlformats.org/drawingml/2006/main">
              <a:ext uri="{FF2B5EF4-FFF2-40B4-BE49-F238E27FC236}">
                <a16:creationId xmlns:a16="http://schemas.microsoft.com/office/drawing/2014/main" id="{8B67D689-356C-4DE0-9987-49746CF5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네이버 기사 자동 최신화</a:t>
            </a:r>
          </a:p>
        </p:txBody>
      </p:sp>
      <p:sp>
        <p:nvSpPr>
          <p:cNvPr id="36" name="dx-index-2-2">
            <a:extLst xmlns:a="http://schemas.openxmlformats.org/drawingml/2006/main">
              <a:ext uri="{FF2B5EF4-FFF2-40B4-BE49-F238E27FC236}">
                <a16:creationId xmlns:a16="http://schemas.microsoft.com/office/drawing/2014/main" id="{97FFD121-0C9B-4FB4-8566-DC1D478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48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37" name="dx-item-2-2">
            <a:extLst xmlns:a="http://schemas.openxmlformats.org/drawingml/2006/main">
              <a:ext uri="{FF2B5EF4-FFF2-40B4-BE49-F238E27FC236}">
                <a16:creationId xmlns:a16="http://schemas.microsoft.com/office/drawing/2014/main" id="{73D7314B-6EF7-4017-96A5-BF7780E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00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커뮤니티 위험구간 제보</a:t>
            </a:r>
          </a:p>
        </p:txBody>
      </p:sp>
      <p:sp>
        <p:nvSpPr>
          <p:cNvPr id="38" name="dx-note-2">
            <a:extLst xmlns:a="http://schemas.openxmlformats.org/drawingml/2006/main">
              <a:ext uri="{FF2B5EF4-FFF2-40B4-BE49-F238E27FC236}">
                <a16:creationId xmlns:a16="http://schemas.microsoft.com/office/drawing/2014/main" id="{61179494-304D-492F-8360-CB1B1D92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715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</a:defRPr>
            </a:pPr>
            <a:r>
              <a:rPr sz="1125" b="0">
                <a:solidFill>
                  <a:srgbClr val="62706B"/>
                </a:solidFill>
              </a:rPr>
              <a:t>공공데이터의 공백을 최신 정보로 보완</a:t>
            </a:r>
          </a:p>
        </p:txBody>
      </p:sp>
      <p:sp>
        <p:nvSpPr>
          <p:cNvPr id="39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19A5B2A-3989-4A51-A778-B2019BF7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0" name="footer-9">
            <a:extLst xmlns:a="http://schemas.openxmlformats.org/drawingml/2006/main">
              <a:ext uri="{FF2B5EF4-FFF2-40B4-BE49-F238E27FC236}">
                <a16:creationId xmlns:a16="http://schemas.microsoft.com/office/drawing/2014/main" id="{C8E1D91A-B367-46FF-B6F0-84C04383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공공데이터 · 경로 알고리즘 · 최신 정보 · 주민 제보를 하나의 귀가 경험으로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956072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0">
            <a:extLst xmlns:a="http://schemas.openxmlformats.org/drawingml/2006/main">
              <a:ext uri="{FF2B5EF4-FFF2-40B4-BE49-F238E27FC236}">
                <a16:creationId xmlns:a16="http://schemas.microsoft.com/office/drawing/2014/main" id="{FE7D4F7E-2315-44EE-9175-48A5D52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5B3BF953-3EB2-42B1-B353-77B00DC3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DX · SAFE ROUTE</a:t>
            </a:r>
          </a:p>
        </p:txBody>
      </p:sp>
      <p:sp>
        <p:nvSpPr>
          <p:cNvPr id="3" name="header-line-10">
            <a:extLst xmlns:a="http://schemas.openxmlformats.org/drawingml/2006/main">
              <a:ext uri="{FF2B5EF4-FFF2-40B4-BE49-F238E27FC236}">
                <a16:creationId xmlns:a16="http://schemas.microsoft.com/office/drawing/2014/main" id="{177E4526-110C-4D0B-8786-9E1DF5B2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10">
            <a:extLst xmlns:a="http://schemas.openxmlformats.org/drawingml/2006/main">
              <a:ext uri="{FF2B5EF4-FFF2-40B4-BE49-F238E27FC236}">
                <a16:creationId xmlns:a16="http://schemas.microsoft.com/office/drawing/2014/main" id="{55C1388A-2AD1-4F67-85C1-8B8171A7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5" name="title-10">
            <a:extLst xmlns:a="http://schemas.openxmlformats.org/drawingml/2006/main">
              <a:ext uri="{FF2B5EF4-FFF2-40B4-BE49-F238E27FC236}">
                <a16:creationId xmlns:a16="http://schemas.microsoft.com/office/drawing/2014/main" id="{0DAEC3A1-139E-4FF4-8B96-1DD8A464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두 경로를 안전점수로 비교합니다</a:t>
            </a: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ABA69330-A960-4DC4-A285-EA354CC6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10</a:t>
            </a:r>
          </a:p>
        </p:txBody>
      </p:sp>
      <p:sp>
        <p:nvSpPr>
          <p:cNvPr id="7" name="route-frame">
            <a:extLst xmlns:a="http://schemas.openxmlformats.org/drawingml/2006/main">
              <a:ext uri="{FF2B5EF4-FFF2-40B4-BE49-F238E27FC236}">
                <a16:creationId xmlns:a16="http://schemas.microsoft.com/office/drawing/2014/main" id="{D05B2E45-7230-4A52-9415-DF0DCFC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885825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DD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47b3daf384cbe"/>
          <a:srcRect xmlns:a="http://schemas.openxmlformats.org/drawingml/2006/main" l="0" t="5033" r="0" b="50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28800"/>
            <a:ext cx="8591550" cy="4829175"/>
          </a:xfrm>
          <a:prstGeom xmlns:a="http://schemas.openxmlformats.org/drawingml/2006/main" prst="rect">
            <a:avLst/>
          </a:prstGeom>
        </p:spPr>
      </p:pic>
      <p:sp>
        <p:nvSpPr>
          <p:cNvPr id="9" name="route-num-0">
            <a:extLst xmlns:a="http://schemas.openxmlformats.org/drawingml/2006/main">
              <a:ext uri="{FF2B5EF4-FFF2-40B4-BE49-F238E27FC236}">
                <a16:creationId xmlns:a16="http://schemas.microsoft.com/office/drawing/2014/main" id="{12867184-C1D7-4BCD-BF33-B11C8E9E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A878"/>
                </a:solidFill>
              </a:defRPr>
            </a:pPr>
            <a:r>
              <a:rPr sz="21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10" name="route-title-0">
            <a:extLst xmlns:a="http://schemas.openxmlformats.org/drawingml/2006/main">
              <a:ext uri="{FF2B5EF4-FFF2-40B4-BE49-F238E27FC236}">
                <a16:creationId xmlns:a16="http://schemas.microsoft.com/office/drawing/2014/main" id="{E5815CB5-5625-46C3-AC82-579412DB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28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1F"/>
                </a:solidFill>
              </a:defRPr>
            </a:pPr>
            <a:r>
              <a:rPr sz="1650" b="1">
                <a:solidFill>
                  <a:srgbClr val="17231F"/>
                </a:solidFill>
              </a:rPr>
              <a:t>히트맵으로 확인</a:t>
            </a:r>
          </a:p>
        </p:txBody>
      </p:sp>
      <p:sp>
        <p:nvSpPr>
          <p:cNvPr id="11" name="route-desc-0">
            <a:extLst xmlns:a="http://schemas.openxmlformats.org/drawingml/2006/main">
              <a:ext uri="{FF2B5EF4-FFF2-40B4-BE49-F238E27FC236}">
                <a16:creationId xmlns:a16="http://schemas.microsoft.com/office/drawing/2014/main" id="{327CED02-379B-4FFE-BC6A-5D41188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CCTV·경찰시설 분포를</a:t>
            </a:r>
          </a:p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지도 위 안전도로 시각화</a:t>
            </a:r>
          </a:p>
        </p:txBody>
      </p:sp>
      <p:sp>
        <p:nvSpPr>
          <p:cNvPr id="12" name="route-rule-0">
            <a:extLst xmlns:a="http://schemas.openxmlformats.org/drawingml/2006/main">
              <a:ext uri="{FF2B5EF4-FFF2-40B4-BE49-F238E27FC236}">
                <a16:creationId xmlns:a16="http://schemas.microsoft.com/office/drawing/2014/main" id="{A0BC5083-3572-4F3E-A148-4B353E8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3" name="route-num-1">
            <a:extLst xmlns:a="http://schemas.openxmlformats.org/drawingml/2006/main">
              <a:ext uri="{FF2B5EF4-FFF2-40B4-BE49-F238E27FC236}">
                <a16:creationId xmlns:a16="http://schemas.microsoft.com/office/drawing/2014/main" id="{0E7D7AC7-4F68-4DBA-B9AE-EB17E03F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86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704D"/>
                </a:solidFill>
              </a:defRPr>
            </a:pPr>
            <a:r>
              <a:rPr sz="2175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4" name="route-title-1">
            <a:extLst xmlns:a="http://schemas.openxmlformats.org/drawingml/2006/main">
              <a:ext uri="{FF2B5EF4-FFF2-40B4-BE49-F238E27FC236}">
                <a16:creationId xmlns:a16="http://schemas.microsoft.com/office/drawing/2014/main" id="{0C608CD2-CCB5-4D2E-A353-C975A53F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1F"/>
                </a:solidFill>
              </a:defRPr>
            </a:pPr>
            <a:r>
              <a:rPr sz="1650" b="1">
                <a:solidFill>
                  <a:srgbClr val="17231F"/>
                </a:solidFill>
              </a:rPr>
              <a:t>경로를 비교</a:t>
            </a:r>
          </a:p>
        </p:txBody>
      </p:sp>
      <p:sp>
        <p:nvSpPr>
          <p:cNvPr id="15" name="route-desc-1">
            <a:extLst xmlns:a="http://schemas.openxmlformats.org/drawingml/2006/main">
              <a:ext uri="{FF2B5EF4-FFF2-40B4-BE49-F238E27FC236}">
                <a16:creationId xmlns:a16="http://schemas.microsoft.com/office/drawing/2014/main" id="{A6551D20-A7EF-46A9-8647-ABB746C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100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최단 95분 · 안전 47점</a:t>
            </a:r>
          </a:p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안전경로 99분 · 안전 80점</a:t>
            </a:r>
          </a:p>
        </p:txBody>
      </p:sp>
      <p:sp>
        <p:nvSpPr>
          <p:cNvPr id="16" name="route-rule-1">
            <a:extLst xmlns:a="http://schemas.openxmlformats.org/drawingml/2006/main">
              <a:ext uri="{FF2B5EF4-FFF2-40B4-BE49-F238E27FC236}">
                <a16:creationId xmlns:a16="http://schemas.microsoft.com/office/drawing/2014/main" id="{6A620066-3766-4DDD-B83D-D4E2E4D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24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7" name="route-num-2">
            <a:extLst xmlns:a="http://schemas.openxmlformats.org/drawingml/2006/main">
              <a:ext uri="{FF2B5EF4-FFF2-40B4-BE49-F238E27FC236}">
                <a16:creationId xmlns:a16="http://schemas.microsoft.com/office/drawing/2014/main" id="{D0FDE8A2-5C5D-4E21-8ADE-EBC40706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62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75E8"/>
                </a:solidFill>
              </a:defRPr>
            </a:pPr>
            <a:r>
              <a:rPr sz="2175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18" name="route-title-2">
            <a:extLst xmlns:a="http://schemas.openxmlformats.org/drawingml/2006/main">
              <a:ext uri="{FF2B5EF4-FFF2-40B4-BE49-F238E27FC236}">
                <a16:creationId xmlns:a16="http://schemas.microsoft.com/office/drawing/2014/main" id="{092F2D9C-D45F-49BF-8511-5E5288EB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81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1F"/>
                </a:solidFill>
              </a:defRPr>
            </a:pPr>
            <a:r>
              <a:rPr sz="1650" b="1">
                <a:solidFill>
                  <a:srgbClr val="17231F"/>
                </a:solidFill>
              </a:rPr>
              <a:t>위험구간 안내</a:t>
            </a:r>
          </a:p>
        </p:txBody>
      </p:sp>
      <p:sp>
        <p:nvSpPr>
          <p:cNvPr id="19" name="route-desc-2">
            <a:extLst xmlns:a="http://schemas.openxmlformats.org/drawingml/2006/main">
              <a:ext uri="{FF2B5EF4-FFF2-40B4-BE49-F238E27FC236}">
                <a16:creationId xmlns:a16="http://schemas.microsoft.com/office/drawing/2014/main" id="{F997236A-03B3-47D8-9266-C69E43C9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시설 반경 90m 공백 구간과</a:t>
            </a:r>
          </a:p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단계별 이동 정보를 전달</a:t>
            </a:r>
          </a:p>
        </p:txBody>
      </p:sp>
      <p:sp>
        <p:nvSpPr>
          <p:cNvPr id="20" name="route-rule-2">
            <a:extLst xmlns:a="http://schemas.openxmlformats.org/drawingml/2006/main">
              <a:ext uri="{FF2B5EF4-FFF2-40B4-BE49-F238E27FC236}">
                <a16:creationId xmlns:a16="http://schemas.microsoft.com/office/drawing/2014/main" id="{73D919C7-88C2-4627-839C-630E0C6D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1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71C44F6A-D26A-433E-9373-FABF0969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2" name="footer-10">
            <a:extLst xmlns:a="http://schemas.openxmlformats.org/drawingml/2006/main">
              <a:ext uri="{FF2B5EF4-FFF2-40B4-BE49-F238E27FC236}">
                <a16:creationId xmlns:a16="http://schemas.microsoft.com/office/drawing/2014/main" id="{C13A7AF2-45AF-43B2-BDE4-A3745F1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1020893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1">
            <a:extLst xmlns:a="http://schemas.openxmlformats.org/drawingml/2006/main">
              <a:ext uri="{FF2B5EF4-FFF2-40B4-BE49-F238E27FC236}">
                <a16:creationId xmlns:a16="http://schemas.microsoft.com/office/drawing/2014/main" id="{D7483ECC-8866-45FE-A41B-B826DFF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solidFill>
              <a:srgbClr val="F2F7F4"/>
            </a:solidFill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B7C3B3B3-DB53-4A0D-B16E-CE6912B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DX · REAL-TIME INFORMATION</a:t>
            </a:r>
          </a:p>
        </p:txBody>
      </p:sp>
      <p:sp>
        <p:nvSpPr>
          <p:cNvPr id="3" name="header-line-11">
            <a:extLst xmlns:a="http://schemas.openxmlformats.org/drawingml/2006/main">
              <a:ext uri="{FF2B5EF4-FFF2-40B4-BE49-F238E27FC236}">
                <a16:creationId xmlns:a16="http://schemas.microsoft.com/office/drawing/2014/main" id="{48E4ADDD-353B-44A4-8934-2EFBCDFE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11">
            <a:extLst xmlns:a="http://schemas.openxmlformats.org/drawingml/2006/main">
              <a:ext uri="{FF2B5EF4-FFF2-40B4-BE49-F238E27FC236}">
                <a16:creationId xmlns:a16="http://schemas.microsoft.com/office/drawing/2014/main" id="{5E5C06F8-BDE8-4131-8701-358A82AF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5" name="title-11">
            <a:extLst xmlns:a="http://schemas.openxmlformats.org/drawingml/2006/main">
              <a:ext uri="{FF2B5EF4-FFF2-40B4-BE49-F238E27FC236}">
                <a16:creationId xmlns:a16="http://schemas.microsoft.com/office/drawing/2014/main" id="{042A2D1F-9245-4A1C-8ED6-1A091E85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최신 기사와 현장 제보가 안전정보를 보완합니다</a:t>
            </a:r>
          </a:p>
        </p:txBody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A560B4A1-4481-4AD9-AEA2-A94315C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11</a:t>
            </a:r>
          </a:p>
        </p:txBody>
      </p:sp>
      <p:sp>
        <p:nvSpPr>
          <p:cNvPr id="7" name="chatbot-frame">
            <a:extLst xmlns:a="http://schemas.openxmlformats.org/drawingml/2006/main">
              <a:ext uri="{FF2B5EF4-FFF2-40B4-BE49-F238E27FC236}">
                <a16:creationId xmlns:a16="http://schemas.microsoft.com/office/drawing/2014/main" id="{95F7DF8F-0368-4172-A68A-4D9062F8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6096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DD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0c75133bd450b"/>
          <a:srcRect xmlns:a="http://schemas.openxmlformats.org/drawingml/2006/main" l="0" t="2468" r="0" b="2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828800"/>
            <a:ext cx="5867400" cy="3486150"/>
          </a:xfrm>
          <a:prstGeom xmlns:a="http://schemas.openxmlformats.org/drawingml/2006/main" prst="rect">
            <a:avLst/>
          </a:prstGeom>
        </p:spPr>
      </p:pic>
      <p:sp>
        <p:nvSpPr>
          <p:cNvPr id="9" name="community-frame">
            <a:extLst xmlns:a="http://schemas.openxmlformats.org/drawingml/2006/main">
              <a:ext uri="{FF2B5EF4-FFF2-40B4-BE49-F238E27FC236}">
                <a16:creationId xmlns:a16="http://schemas.microsoft.com/office/drawing/2014/main" id="{99E27E22-3660-4AFB-A9B6-58D7CF6C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6096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DD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42e2f0dcb4966"/>
          <a:srcRect xmlns:a="http://schemas.openxmlformats.org/drawingml/2006/main" l="0" t="2468" r="0" b="2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828800"/>
            <a:ext cx="5867400" cy="3486150"/>
          </a:xfrm>
          <a:prstGeom xmlns:a="http://schemas.openxmlformats.org/drawingml/2006/main" prst="rect">
            <a:avLst/>
          </a:prstGeom>
        </p:spPr>
      </p:pic>
      <p:sp>
        <p:nvSpPr>
          <p:cNvPr id="11" name="chat-label-bar">
            <a:extLst xmlns:a="http://schemas.openxmlformats.org/drawingml/2006/main">
              <a:ext uri="{FF2B5EF4-FFF2-40B4-BE49-F238E27FC236}">
                <a16:creationId xmlns:a16="http://schemas.microsoft.com/office/drawing/2014/main" id="{56DEC8A5-A7F6-4DF6-BE88-BB29D3C3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12" name="chat-label">
            <a:extLst xmlns:a="http://schemas.openxmlformats.org/drawingml/2006/main">
              <a:ext uri="{FF2B5EF4-FFF2-40B4-BE49-F238E27FC236}">
                <a16:creationId xmlns:a16="http://schemas.microsoft.com/office/drawing/2014/main" id="{4AE8245A-6FAE-4FB2-A873-4FA9B32F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565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CHATBOT  ·  주변 범죄정보</a:t>
            </a:r>
          </a:p>
        </p:txBody>
      </p:sp>
      <p:sp>
        <p:nvSpPr>
          <p:cNvPr id="13" name="chat-desc">
            <a:extLst xmlns:a="http://schemas.openxmlformats.org/drawingml/2006/main">
              <a:ext uri="{FF2B5EF4-FFF2-40B4-BE49-F238E27FC236}">
                <a16:creationId xmlns:a16="http://schemas.microsoft.com/office/drawing/2014/main" id="{D9F688EF-C598-4EC8-9C6D-4FFE43A2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576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네이버 검색 API로 관련 기사를 갱신하고, 범죄 예방·안전귀가 정보를 대화형으로 전달합니다.</a:t>
            </a:r>
          </a:p>
        </p:txBody>
      </p:sp>
      <p:sp>
        <p:nvSpPr>
          <p:cNvPr id="14" name="community-label-bar">
            <a:extLst xmlns:a="http://schemas.openxmlformats.org/drawingml/2006/main">
              <a:ext uri="{FF2B5EF4-FFF2-40B4-BE49-F238E27FC236}">
                <a16:creationId xmlns:a16="http://schemas.microsoft.com/office/drawing/2014/main" id="{F93C6140-D1B9-412C-9778-67BD6B29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10250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E8"/>
          </a:solidFill>
          <a:ln xmlns:a="http://schemas.openxmlformats.org/drawingml/2006/main" w="0">
            <a:solidFill>
              <a:srgbClr val="4775E8"/>
            </a:solidFill>
            <a:prstDash val="solid"/>
          </a:ln>
        </p:spPr>
      </p:sp>
      <p:sp>
        <p:nvSpPr>
          <p:cNvPr id="15" name="community-label">
            <a:extLst xmlns:a="http://schemas.openxmlformats.org/drawingml/2006/main">
              <a:ext uri="{FF2B5EF4-FFF2-40B4-BE49-F238E27FC236}">
                <a16:creationId xmlns:a16="http://schemas.microsoft.com/office/drawing/2014/main" id="{9D9D9AF9-3E64-4F3D-8315-3B62645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00725"/>
            <a:ext cx="575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COMMUNITY  ·  위험구간 공유</a:t>
            </a:r>
          </a:p>
        </p:txBody>
      </p:sp>
      <p:sp>
        <p:nvSpPr>
          <p:cNvPr id="16" name="community-desc">
            <a:extLst xmlns:a="http://schemas.openxmlformats.org/drawingml/2006/main">
              <a:ext uri="{FF2B5EF4-FFF2-40B4-BE49-F238E27FC236}">
                <a16:creationId xmlns:a16="http://schemas.microsoft.com/office/drawing/2014/main" id="{06BF5023-96A3-42F4-A863-30C0F5E1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229350"/>
            <a:ext cx="576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B"/>
                </a:solidFill>
              </a:defRPr>
            </a:pPr>
            <a:r>
              <a:rPr sz="1200" b="0">
                <a:solidFill>
                  <a:srgbClr val="62706B"/>
                </a:solidFill>
              </a:rPr>
              <a:t>어두운 골목·공사구간·사고 위험 등 주민이 발견한 현장 정보를 공유하고 보완합니다.</a:t>
            </a:r>
          </a:p>
        </p:txBody>
      </p:sp>
      <p:sp>
        <p:nvSpPr>
          <p:cNvPr id="17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4F72D73E-B4EC-409C-911D-8166C9E1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8" name="footer-11">
            <a:extLst xmlns:a="http://schemas.openxmlformats.org/drawingml/2006/main">
              <a:ext uri="{FF2B5EF4-FFF2-40B4-BE49-F238E27FC236}">
                <a16:creationId xmlns:a16="http://schemas.microsoft.com/office/drawing/2014/main" id="{ED887144-FCEF-4BCA-BAE8-1F56CBD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363039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2">
            <a:extLst xmlns:a="http://schemas.openxmlformats.org/drawingml/2006/main">
              <a:ext uri="{FF2B5EF4-FFF2-40B4-BE49-F238E27FC236}">
                <a16:creationId xmlns:a16="http://schemas.microsoft.com/office/drawing/2014/main" id="{F1E02962-515A-4867-B3BF-65C00548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5B20D9F6-8CE7-4783-A629-4D4A5882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04D"/>
                </a:solidFill>
              </a:defRPr>
            </a:pPr>
            <a:r>
              <a:rPr sz="1125" b="1">
                <a:solidFill>
                  <a:srgbClr val="FF704D"/>
                </a:solidFill>
              </a:rPr>
              <a:t>DX · PUBLIC DATA</a:t>
            </a:r>
          </a:p>
        </p:txBody>
      </p:sp>
      <p:sp>
        <p:nvSpPr>
          <p:cNvPr id="3" name="header-line-12">
            <a:extLst xmlns:a="http://schemas.openxmlformats.org/drawingml/2006/main">
              <a:ext uri="{FF2B5EF4-FFF2-40B4-BE49-F238E27FC236}">
                <a16:creationId xmlns:a16="http://schemas.microsoft.com/office/drawing/2014/main" id="{356CB46C-714A-4839-893D-FE3A916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12">
            <a:extLst xmlns:a="http://schemas.openxmlformats.org/drawingml/2006/main">
              <a:ext uri="{FF2B5EF4-FFF2-40B4-BE49-F238E27FC236}">
                <a16:creationId xmlns:a16="http://schemas.microsoft.com/office/drawing/2014/main" id="{44D9E51D-0591-452B-92BC-F5AE4167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5" name="title-12">
            <a:extLst xmlns:a="http://schemas.openxmlformats.org/drawingml/2006/main">
              <a:ext uri="{FF2B5EF4-FFF2-40B4-BE49-F238E27FC236}">
                <a16:creationId xmlns:a16="http://schemas.microsoft.com/office/drawing/2014/main" id="{3F46E631-739A-4698-A43C-6ABF981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실제 광주 공공데이터로 서비스가 작동합니다</a:t>
            </a:r>
          </a:p>
        </p:txBody>
      </p:sp>
      <p:sp>
        <p:nvSpPr>
          <p:cNvPr id="6" name="page-12">
            <a:extLst xmlns:a="http://schemas.openxmlformats.org/drawingml/2006/main">
              <a:ext uri="{FF2B5EF4-FFF2-40B4-BE49-F238E27FC236}">
                <a16:creationId xmlns:a16="http://schemas.microsoft.com/office/drawing/2014/main" id="{F2D2FB21-1F37-45A2-BD4D-B2717B8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12</a:t>
            </a:r>
          </a:p>
        </p:txBody>
      </p:sp>
      <p:sp>
        <p:nvSpPr>
          <p:cNvPr id="7" name="home-frame">
            <a:extLst xmlns:a="http://schemas.openxmlformats.org/drawingml/2006/main">
              <a:ext uri="{FF2B5EF4-FFF2-40B4-BE49-F238E27FC236}">
                <a16:creationId xmlns:a16="http://schemas.microsoft.com/office/drawing/2014/main" id="{BF858609-4B7C-40A2-B73E-BA462F82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8001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DD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357ee7f764217"/>
          <a:srcRect xmlns:a="http://schemas.openxmlformats.org/drawingml/2006/main" l="0" t="1527" r="0" b="1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66900"/>
            <a:ext cx="7734300" cy="4686300"/>
          </a:xfrm>
          <a:prstGeom xmlns:a="http://schemas.openxmlformats.org/drawingml/2006/main" prst="rect">
            <a:avLst/>
          </a:prstGeom>
        </p:spPr>
      </p:pic>
      <p:sp>
        <p:nvSpPr>
          <p:cNvPr id="9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AB357110-32F1-42EF-9692-83263180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A878"/>
                </a:solidFill>
              </a:defRPr>
            </a:pPr>
            <a:r>
              <a:rPr sz="4050" b="1">
                <a:solidFill>
                  <a:srgbClr val="00A878"/>
                </a:solidFill>
              </a:rPr>
              <a:t>6,805</a:t>
            </a:r>
          </a:p>
        </p:txBody>
      </p:sp>
      <p:sp>
        <p:nvSpPr>
          <p:cNvPr id="10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84761D54-81ED-40F9-8058-4FDBD252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19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광주 CCTV 전체</a:t>
            </a:r>
          </a:p>
        </p:txBody>
      </p:sp>
      <p:sp>
        <p:nvSpPr>
          <p:cNvPr id="11" name="stat-rule-0">
            <a:extLst xmlns:a="http://schemas.openxmlformats.org/drawingml/2006/main">
              <a:ext uri="{FF2B5EF4-FFF2-40B4-BE49-F238E27FC236}">
                <a16:creationId xmlns:a16="http://schemas.microsoft.com/office/drawing/2014/main" id="{DFBD1C15-5D12-4A8A-AD2C-CAD32EB7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2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BDD675A0-6575-48A8-8384-CC1B00D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4775E8"/>
                </a:solidFill>
              </a:defRPr>
            </a:pPr>
            <a:r>
              <a:rPr sz="4050" b="1">
                <a:solidFill>
                  <a:srgbClr val="4775E8"/>
                </a:solidFill>
              </a:rPr>
              <a:t>4,212</a:t>
            </a:r>
          </a:p>
        </p:txBody>
      </p:sp>
      <p:sp>
        <p:nvSpPr>
          <p:cNvPr id="13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6113A0BE-A691-4AB8-AC09-9FD3CA3E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671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지도 반영 CCTV</a:t>
            </a:r>
          </a:p>
        </p:txBody>
      </p:sp>
      <p:sp>
        <p:nvSpPr>
          <p:cNvPr id="14" name="stat-rule-1">
            <a:extLst xmlns:a="http://schemas.openxmlformats.org/drawingml/2006/main">
              <a:ext uri="{FF2B5EF4-FFF2-40B4-BE49-F238E27FC236}">
                <a16:creationId xmlns:a16="http://schemas.microsoft.com/office/drawing/2014/main" id="{26D930CE-14C0-4A38-AB4C-BEBC6E7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5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160ABDFB-E5AE-47FA-9454-F2D32D29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863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704D"/>
                </a:solidFill>
              </a:defRPr>
            </a:pPr>
            <a:r>
              <a:rPr sz="4050" b="1">
                <a:solidFill>
                  <a:srgbClr val="FF704D"/>
                </a:solidFill>
              </a:rPr>
              <a:t>40</a:t>
            </a:r>
          </a:p>
        </p:txBody>
      </p:sp>
      <p:sp>
        <p:nvSpPr>
          <p:cNvPr id="16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D1583CC9-DBAC-4AA7-954C-B371A25C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9149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경찰시설</a:t>
            </a:r>
          </a:p>
        </p:txBody>
      </p:sp>
      <p:sp>
        <p:nvSpPr>
          <p:cNvPr id="17" name="stat-rule-2">
            <a:extLst xmlns:a="http://schemas.openxmlformats.org/drawingml/2006/main">
              <a:ext uri="{FF2B5EF4-FFF2-40B4-BE49-F238E27FC236}">
                <a16:creationId xmlns:a16="http://schemas.microsoft.com/office/drawing/2014/main" id="{20430149-4B63-40F9-A5E7-40B8064D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626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8" name="public-close">
            <a:extLst xmlns:a="http://schemas.openxmlformats.org/drawingml/2006/main">
              <a:ext uri="{FF2B5EF4-FFF2-40B4-BE49-F238E27FC236}">
                <a16:creationId xmlns:a16="http://schemas.microsoft.com/office/drawing/2014/main" id="{32D7E671-66D2-4045-A6FB-6A29738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953125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공공데이터로 보고,</a:t>
            </a:r>
          </a:p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안전경로로 안내하고,</a:t>
            </a:r>
          </a:p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주민과 함께 보완합니다.</a:t>
            </a:r>
          </a:p>
        </p:txBody>
      </p:sp>
      <p:sp>
        <p:nvSpPr>
          <p:cNvPr id="19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C6A066D5-97D1-4D01-B7F3-650D33D2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0" name="footer-12">
            <a:extLst xmlns:a="http://schemas.openxmlformats.org/drawingml/2006/main">
              <a:ext uri="{FF2B5EF4-FFF2-40B4-BE49-F238E27FC236}">
                <a16:creationId xmlns:a16="http://schemas.microsoft.com/office/drawing/2014/main" id="{A0BAF3B8-13D6-4FB7-8F80-6EECC1D0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53300"/>
            <a:ext cx="1253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6B"/>
                </a:solidFill>
              </a:defRPr>
            </a:pPr>
            <a:r>
              <a:rPr sz="750" b="0">
                <a:solidFill>
                  <a:srgbClr val="62706B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1938936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3">
            <a:extLst xmlns:a="http://schemas.openxmlformats.org/drawingml/2006/main">
              <a:ext uri="{FF2B5EF4-FFF2-40B4-BE49-F238E27FC236}">
                <a16:creationId xmlns:a16="http://schemas.microsoft.com/office/drawing/2014/main" id="{689203FC-79D7-457E-A613-BE07BA5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F"/>
          </a:solidFill>
          <a:ln xmlns:a="http://schemas.openxmlformats.org/drawingml/2006/main" w="0">
            <a:solidFill>
              <a:srgbClr val="F5F1FF"/>
            </a:solidFill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159D1E2B-D6BC-4380-A28B-5D105B4A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5E8"/>
                </a:solidFill>
              </a:defRPr>
            </a:pPr>
            <a:r>
              <a:rPr sz="1125" b="1">
                <a:solidFill>
                  <a:srgbClr val="4775E8"/>
                </a:solidFill>
              </a:rPr>
              <a:t>DX · API STACK</a:t>
            </a:r>
          </a:p>
        </p:txBody>
      </p:sp>
      <p:sp>
        <p:nvSpPr>
          <p:cNvPr id="3" name="header-line-13">
            <a:extLst xmlns:a="http://schemas.openxmlformats.org/drawingml/2006/main">
              <a:ext uri="{FF2B5EF4-FFF2-40B4-BE49-F238E27FC236}">
                <a16:creationId xmlns:a16="http://schemas.microsoft.com/office/drawing/2014/main" id="{16E27EB4-8EA4-41BA-84B4-059613A9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13">
            <a:extLst xmlns:a="http://schemas.openxmlformats.org/drawingml/2006/main">
              <a:ext uri="{FF2B5EF4-FFF2-40B4-BE49-F238E27FC236}">
                <a16:creationId xmlns:a16="http://schemas.microsoft.com/office/drawing/2014/main" id="{05B82D67-2AF5-448F-9F63-6FE4A7C9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E8"/>
          </a:solidFill>
          <a:ln xmlns:a="http://schemas.openxmlformats.org/drawingml/2006/main" w="0">
            <a:solidFill>
              <a:srgbClr val="4775E8"/>
            </a:solidFill>
            <a:prstDash val="solid"/>
          </a:ln>
        </p:spPr>
      </p:sp>
      <p:sp>
        <p:nvSpPr>
          <p:cNvPr id="5" name="title-13">
            <a:extLst xmlns:a="http://schemas.openxmlformats.org/drawingml/2006/main">
              <a:ext uri="{FF2B5EF4-FFF2-40B4-BE49-F238E27FC236}">
                <a16:creationId xmlns:a16="http://schemas.microsoft.com/office/drawing/2014/main" id="{72932D82-3F28-4F09-ABAC-E8BFC34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네 가지 API가 지도·경로·좌표·대화를 연결합니다</a:t>
            </a:r>
          </a:p>
        </p:txBody>
      </p:sp>
      <p:sp>
        <p:nvSpPr>
          <p:cNvPr id="6" name="page-13">
            <a:extLst xmlns:a="http://schemas.openxmlformats.org/drawingml/2006/main">
              <a:ext uri="{FF2B5EF4-FFF2-40B4-BE49-F238E27FC236}">
                <a16:creationId xmlns:a16="http://schemas.microsoft.com/office/drawing/2014/main" id="{0E8A866F-2C88-4B88-A7DC-8D1F9643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13</a:t>
            </a:r>
          </a:p>
        </p:txBody>
      </p:sp>
      <p:sp>
        <p:nvSpPr>
          <p:cNvPr id="7" name="api-panel-0">
            <a:extLst xmlns:a="http://schemas.openxmlformats.org/drawingml/2006/main">
              <a:ext uri="{FF2B5EF4-FFF2-40B4-BE49-F238E27FC236}">
                <a16:creationId xmlns:a16="http://schemas.microsoft.com/office/drawing/2014/main" id="{38C4B1FF-CAE6-43C4-971B-9D8A746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pi-num-0">
            <a:extLst xmlns:a="http://schemas.openxmlformats.org/drawingml/2006/main">
              <a:ext uri="{FF2B5EF4-FFF2-40B4-BE49-F238E27FC236}">
                <a16:creationId xmlns:a16="http://schemas.microsoft.com/office/drawing/2014/main" id="{27C1904A-193F-46D8-BE77-925ECC1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78"/>
                </a:solidFill>
              </a:defRPr>
            </a:pPr>
            <a:r>
              <a:rPr sz="1875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9" name="api-name-0">
            <a:extLst xmlns:a="http://schemas.openxmlformats.org/drawingml/2006/main">
              <a:ext uri="{FF2B5EF4-FFF2-40B4-BE49-F238E27FC236}">
                <a16:creationId xmlns:a16="http://schemas.microsoft.com/office/drawing/2014/main" id="{D7FD1192-16C1-4A18-BCD7-B8B2C843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TMAP API</a:t>
            </a:r>
          </a:p>
        </p:txBody>
      </p:sp>
      <p:sp>
        <p:nvSpPr>
          <p:cNvPr id="10" name="api-accent-0">
            <a:extLst xmlns:a="http://schemas.openxmlformats.org/drawingml/2006/main">
              <a:ext uri="{FF2B5EF4-FFF2-40B4-BE49-F238E27FC236}">
                <a16:creationId xmlns:a16="http://schemas.microsoft.com/office/drawing/2014/main" id="{ADCEEA1F-CCA0-4175-9BA9-3D5A6A55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11" name="api-role-label-0">
            <a:extLst xmlns:a="http://schemas.openxmlformats.org/drawingml/2006/main">
              <a:ext uri="{FF2B5EF4-FFF2-40B4-BE49-F238E27FC236}">
                <a16:creationId xmlns:a16="http://schemas.microsoft.com/office/drawing/2014/main" id="{F0D91A2F-8DC9-4763-B1CF-05B68349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ROLE</a:t>
            </a:r>
          </a:p>
        </p:txBody>
      </p:sp>
      <p:sp>
        <p:nvSpPr>
          <p:cNvPr id="12" name="api-role-0">
            <a:extLst xmlns:a="http://schemas.openxmlformats.org/drawingml/2006/main">
              <a:ext uri="{FF2B5EF4-FFF2-40B4-BE49-F238E27FC236}">
                <a16:creationId xmlns:a16="http://schemas.microsoft.com/office/drawing/2014/main" id="{6CF436EB-05D5-434E-A068-E8C758D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보행자 경로 후보 탐색</a:t>
            </a:r>
          </a:p>
        </p:txBody>
      </p:sp>
      <p:sp>
        <p:nvSpPr>
          <p:cNvPr id="13" name="api-key-label-0">
            <a:extLst xmlns:a="http://schemas.openxmlformats.org/drawingml/2006/main">
              <a:ext uri="{FF2B5EF4-FFF2-40B4-BE49-F238E27FC236}">
                <a16:creationId xmlns:a16="http://schemas.microsoft.com/office/drawing/2014/main" id="{4E5E2057-6700-46DA-A834-8249B896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14" name="api-key-0">
            <a:extLst xmlns:a="http://schemas.openxmlformats.org/drawingml/2006/main">
              <a:ext uri="{FF2B5EF4-FFF2-40B4-BE49-F238E27FC236}">
                <a16:creationId xmlns:a16="http://schemas.microsoft.com/office/drawing/2014/main" id="{341D0E15-2DBD-4A58-98F8-6959C52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78"/>
                </a:solidFill>
              </a:defRPr>
            </a:pPr>
            <a:r>
              <a:rPr sz="975" b="1">
                <a:solidFill>
                  <a:srgbClr val="00A878"/>
                </a:solidFill>
              </a:rPr>
              <a:t>VITE_TMAP_APP_KEY</a:t>
            </a:r>
          </a:p>
        </p:txBody>
      </p:sp>
      <p:sp>
        <p:nvSpPr>
          <p:cNvPr id="15" name="api-note-0">
            <a:extLst xmlns:a="http://schemas.openxmlformats.org/drawingml/2006/main">
              <a:ext uri="{FF2B5EF4-FFF2-40B4-BE49-F238E27FC236}">
                <a16:creationId xmlns:a16="http://schemas.microsoft.com/office/drawing/2014/main" id="{8D6F057E-9ED7-4076-8441-60D81CB1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최단경로와 안전경로 비교의 기반</a:t>
            </a:r>
          </a:p>
        </p:txBody>
      </p:sp>
      <p:sp>
        <p:nvSpPr>
          <p:cNvPr id="16" name="api-panel-1">
            <a:extLst xmlns:a="http://schemas.openxmlformats.org/drawingml/2006/main">
              <a:ext uri="{FF2B5EF4-FFF2-40B4-BE49-F238E27FC236}">
                <a16:creationId xmlns:a16="http://schemas.microsoft.com/office/drawing/2014/main" id="{549E348B-4808-4E4E-96B3-96E6E8E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9070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api-num-1">
            <a:extLst xmlns:a="http://schemas.openxmlformats.org/drawingml/2006/main">
              <a:ext uri="{FF2B5EF4-FFF2-40B4-BE49-F238E27FC236}">
                <a16:creationId xmlns:a16="http://schemas.microsoft.com/office/drawing/2014/main" id="{668A127A-78D1-4868-8624-0CE0B0C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704D"/>
                </a:solidFill>
              </a:defRPr>
            </a:pPr>
            <a:r>
              <a:rPr sz="1875" b="1">
                <a:solidFill>
                  <a:srgbClr val="FF704D"/>
                </a:solidFill>
              </a:rPr>
              <a:t>02</a:t>
            </a:r>
          </a:p>
        </p:txBody>
      </p:sp>
      <p:sp>
        <p:nvSpPr>
          <p:cNvPr id="18" name="api-name-1">
            <a:extLst xmlns:a="http://schemas.openxmlformats.org/drawingml/2006/main">
              <a:ext uri="{FF2B5EF4-FFF2-40B4-BE49-F238E27FC236}">
                <a16:creationId xmlns:a16="http://schemas.microsoft.com/office/drawing/2014/main" id="{BE688B17-0F9E-416D-8B48-89022932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7241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Kakao Maps</a:t>
            </a:r>
          </a:p>
        </p:txBody>
      </p:sp>
      <p:sp>
        <p:nvSpPr>
          <p:cNvPr id="19" name="api-accent-1">
            <a:extLst xmlns:a="http://schemas.openxmlformats.org/drawingml/2006/main">
              <a:ext uri="{FF2B5EF4-FFF2-40B4-BE49-F238E27FC236}">
                <a16:creationId xmlns:a16="http://schemas.microsoft.com/office/drawing/2014/main" id="{EE4E6FA1-AF20-4DEA-863F-716FB44A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718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20" name="api-role-label-1">
            <a:extLst xmlns:a="http://schemas.openxmlformats.org/drawingml/2006/main">
              <a:ext uri="{FF2B5EF4-FFF2-40B4-BE49-F238E27FC236}">
                <a16:creationId xmlns:a16="http://schemas.microsoft.com/office/drawing/2014/main" id="{2125DC16-8777-43AD-914C-527D033B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733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ROLE</a:t>
            </a:r>
          </a:p>
        </p:txBody>
      </p:sp>
      <p:sp>
        <p:nvSpPr>
          <p:cNvPr id="21" name="api-role-1">
            <a:extLst xmlns:a="http://schemas.openxmlformats.org/drawingml/2006/main">
              <a:ext uri="{FF2B5EF4-FFF2-40B4-BE49-F238E27FC236}">
                <a16:creationId xmlns:a16="http://schemas.microsoft.com/office/drawing/2014/main" id="{AFC59ACB-749E-41B7-8070-C72BA753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0481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지도·마커·히트맵 표시</a:t>
            </a:r>
          </a:p>
        </p:txBody>
      </p:sp>
      <p:sp>
        <p:nvSpPr>
          <p:cNvPr id="22" name="api-key-label-1">
            <a:extLst xmlns:a="http://schemas.openxmlformats.org/drawingml/2006/main">
              <a:ext uri="{FF2B5EF4-FFF2-40B4-BE49-F238E27FC236}">
                <a16:creationId xmlns:a16="http://schemas.microsoft.com/office/drawing/2014/main" id="{27AA2D52-6C58-445B-8A3D-C0290AA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23" name="api-key-1">
            <a:extLst xmlns:a="http://schemas.openxmlformats.org/drawingml/2006/main">
              <a:ext uri="{FF2B5EF4-FFF2-40B4-BE49-F238E27FC236}">
                <a16:creationId xmlns:a16="http://schemas.microsoft.com/office/drawing/2014/main" id="{5AD2C007-BF46-4C37-9996-7D299885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0387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04D"/>
                </a:solidFill>
              </a:defRPr>
            </a:pPr>
            <a:r>
              <a:rPr sz="975" b="1">
                <a:solidFill>
                  <a:srgbClr val="FF704D"/>
                </a:solidFill>
              </a:rPr>
              <a:t>VITE_KAKAO_MAP_APP_KEY</a:t>
            </a:r>
          </a:p>
        </p:txBody>
      </p:sp>
      <p:sp>
        <p:nvSpPr>
          <p:cNvPr id="24" name="api-note-1">
            <a:extLst xmlns:a="http://schemas.openxmlformats.org/drawingml/2006/main">
              <a:ext uri="{FF2B5EF4-FFF2-40B4-BE49-F238E27FC236}">
                <a16:creationId xmlns:a16="http://schemas.microsoft.com/office/drawing/2014/main" id="{087E8266-40FF-437E-A46B-5731F80F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4768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CCTV와 경찰시설을 한 화면에 시각화</a:t>
            </a:r>
          </a:p>
        </p:txBody>
      </p:sp>
      <p:sp>
        <p:nvSpPr>
          <p:cNvPr id="25" name="api-panel-2">
            <a:extLst xmlns:a="http://schemas.openxmlformats.org/drawingml/2006/main">
              <a:ext uri="{FF2B5EF4-FFF2-40B4-BE49-F238E27FC236}">
                <a16:creationId xmlns:a16="http://schemas.microsoft.com/office/drawing/2014/main" id="{4BCCCEA0-0943-4649-B8D4-C443A27D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9070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api-num-2">
            <a:extLst xmlns:a="http://schemas.openxmlformats.org/drawingml/2006/main">
              <a:ext uri="{FF2B5EF4-FFF2-40B4-BE49-F238E27FC236}">
                <a16:creationId xmlns:a16="http://schemas.microsoft.com/office/drawing/2014/main" id="{7CE459AA-03D7-43BB-A39E-7DD3B762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775E8"/>
                </a:solidFill>
              </a:defRPr>
            </a:pPr>
            <a:r>
              <a:rPr sz="1875" b="1">
                <a:solidFill>
                  <a:srgbClr val="4775E8"/>
                </a:solidFill>
              </a:rPr>
              <a:t>03</a:t>
            </a:r>
          </a:p>
        </p:txBody>
      </p:sp>
      <p:sp>
        <p:nvSpPr>
          <p:cNvPr id="27" name="api-name-2">
            <a:extLst xmlns:a="http://schemas.openxmlformats.org/drawingml/2006/main">
              <a:ext uri="{FF2B5EF4-FFF2-40B4-BE49-F238E27FC236}">
                <a16:creationId xmlns:a16="http://schemas.microsoft.com/office/drawing/2014/main" id="{94198B7D-50A2-41CA-AF6E-FFB72A8E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Kakao REST</a:t>
            </a:r>
          </a:p>
        </p:txBody>
      </p:sp>
      <p:sp>
        <p:nvSpPr>
          <p:cNvPr id="28" name="api-accent-2">
            <a:extLst xmlns:a="http://schemas.openxmlformats.org/drawingml/2006/main">
              <a:ext uri="{FF2B5EF4-FFF2-40B4-BE49-F238E27FC236}">
                <a16:creationId xmlns:a16="http://schemas.microsoft.com/office/drawing/2014/main" id="{4B373920-64F7-4898-9DBB-B503403F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E8"/>
          </a:solidFill>
          <a:ln xmlns:a="http://schemas.openxmlformats.org/drawingml/2006/main" w="0">
            <a:solidFill>
              <a:srgbClr val="4775E8"/>
            </a:solidFill>
            <a:prstDash val="solid"/>
          </a:ln>
        </p:spPr>
      </p:sp>
      <p:sp>
        <p:nvSpPr>
          <p:cNvPr id="29" name="api-role-label-2">
            <a:extLst xmlns:a="http://schemas.openxmlformats.org/drawingml/2006/main">
              <a:ext uri="{FF2B5EF4-FFF2-40B4-BE49-F238E27FC236}">
                <a16:creationId xmlns:a16="http://schemas.microsoft.com/office/drawing/2014/main" id="{0E18D6D0-5C46-4134-BACA-3F289386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33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ROLE</a:t>
            </a:r>
          </a:p>
        </p:txBody>
      </p:sp>
      <p:sp>
        <p:nvSpPr>
          <p:cNvPr id="30" name="api-role-2">
            <a:extLst xmlns:a="http://schemas.openxmlformats.org/drawingml/2006/main">
              <a:ext uri="{FF2B5EF4-FFF2-40B4-BE49-F238E27FC236}">
                <a16:creationId xmlns:a16="http://schemas.microsoft.com/office/drawing/2014/main" id="{0CE4CC32-5EF1-413A-A511-CEA40F2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481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경찰시설 주소 좌표 변환</a:t>
            </a:r>
          </a:p>
        </p:txBody>
      </p:sp>
      <p:sp>
        <p:nvSpPr>
          <p:cNvPr id="31" name="api-key-label-2">
            <a:extLst xmlns:a="http://schemas.openxmlformats.org/drawingml/2006/main">
              <a:ext uri="{FF2B5EF4-FFF2-40B4-BE49-F238E27FC236}">
                <a16:creationId xmlns:a16="http://schemas.microsoft.com/office/drawing/2014/main" id="{17E9634D-BA7C-48D0-BBA4-13C939C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32" name="api-key-2">
            <a:extLst xmlns:a="http://schemas.openxmlformats.org/drawingml/2006/main">
              <a:ext uri="{FF2B5EF4-FFF2-40B4-BE49-F238E27FC236}">
                <a16:creationId xmlns:a16="http://schemas.microsoft.com/office/drawing/2014/main" id="{CAE67F50-2131-416D-A4F5-C580ADA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387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75E8"/>
                </a:solidFill>
              </a:defRPr>
            </a:pPr>
            <a:r>
              <a:rPr sz="975" b="1">
                <a:solidFill>
                  <a:srgbClr val="4775E8"/>
                </a:solidFill>
              </a:rPr>
              <a:t>VITE_KAKAO_REST_API_KEY</a:t>
            </a:r>
          </a:p>
        </p:txBody>
      </p:sp>
      <p:sp>
        <p:nvSpPr>
          <p:cNvPr id="33" name="api-note-2">
            <a:extLst xmlns:a="http://schemas.openxmlformats.org/drawingml/2006/main">
              <a:ext uri="{FF2B5EF4-FFF2-40B4-BE49-F238E27FC236}">
                <a16:creationId xmlns:a16="http://schemas.microsoft.com/office/drawing/2014/main" id="{9F638147-977C-4065-97C4-05CEA0BB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768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공공데이터 주소를 지도 좌표로 정제</a:t>
            </a:r>
          </a:p>
        </p:txBody>
      </p:sp>
      <p:sp>
        <p:nvSpPr>
          <p:cNvPr id="34" name="api-panel-3">
            <a:extLst xmlns:a="http://schemas.openxmlformats.org/drawingml/2006/main">
              <a:ext uri="{FF2B5EF4-FFF2-40B4-BE49-F238E27FC236}">
                <a16:creationId xmlns:a16="http://schemas.microsoft.com/office/drawing/2014/main" id="{33FCF77D-850B-42CD-9D4E-C609D4C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79070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api-num-3">
            <a:extLst xmlns:a="http://schemas.openxmlformats.org/drawingml/2006/main">
              <a:ext uri="{FF2B5EF4-FFF2-40B4-BE49-F238E27FC236}">
                <a16:creationId xmlns:a16="http://schemas.microsoft.com/office/drawing/2014/main" id="{2013C121-D4BA-4B27-B66E-33830C0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B61C9"/>
                </a:solidFill>
              </a:defRPr>
            </a:pPr>
            <a:r>
              <a:rPr sz="1875" b="1">
                <a:solidFill>
                  <a:srgbClr val="7B61C9"/>
                </a:solidFill>
              </a:rPr>
              <a:t>04</a:t>
            </a:r>
          </a:p>
        </p:txBody>
      </p:sp>
      <p:sp>
        <p:nvSpPr>
          <p:cNvPr id="36" name="api-name-3">
            <a:extLst xmlns:a="http://schemas.openxmlformats.org/drawingml/2006/main">
              <a:ext uri="{FF2B5EF4-FFF2-40B4-BE49-F238E27FC236}">
                <a16:creationId xmlns:a16="http://schemas.microsoft.com/office/drawing/2014/main" id="{8086B56A-009F-4E6D-874D-702DD11A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7241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1F"/>
                </a:solidFill>
              </a:defRPr>
            </a:pPr>
            <a:r>
              <a:rPr sz="2025" b="1">
                <a:solidFill>
                  <a:srgbClr val="17231F"/>
                </a:solidFill>
              </a:rPr>
              <a:t>OpenAI API</a:t>
            </a:r>
          </a:p>
        </p:txBody>
      </p:sp>
      <p:sp>
        <p:nvSpPr>
          <p:cNvPr id="37" name="api-accent-3">
            <a:extLst xmlns:a="http://schemas.openxmlformats.org/drawingml/2006/main">
              <a:ext uri="{FF2B5EF4-FFF2-40B4-BE49-F238E27FC236}">
                <a16:creationId xmlns:a16="http://schemas.microsoft.com/office/drawing/2014/main" id="{F982F5C4-7572-4017-B15E-E91813D5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3718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C9"/>
          </a:solidFill>
          <a:ln xmlns:a="http://schemas.openxmlformats.org/drawingml/2006/main" w="0">
            <a:solidFill>
              <a:srgbClr val="7B61C9"/>
            </a:solidFill>
            <a:prstDash val="solid"/>
          </a:ln>
        </p:spPr>
      </p:sp>
      <p:sp>
        <p:nvSpPr>
          <p:cNvPr id="38" name="api-role-label-3">
            <a:extLst xmlns:a="http://schemas.openxmlformats.org/drawingml/2006/main">
              <a:ext uri="{FF2B5EF4-FFF2-40B4-BE49-F238E27FC236}">
                <a16:creationId xmlns:a16="http://schemas.microsoft.com/office/drawing/2014/main" id="{688A7019-DE19-47A8-8311-0AAE8E8D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733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61C9"/>
                </a:solidFill>
              </a:defRPr>
            </a:pPr>
            <a:r>
              <a:rPr sz="975" b="1">
                <a:solidFill>
                  <a:srgbClr val="7B61C9"/>
                </a:solidFill>
              </a:rPr>
              <a:t>ROLE</a:t>
            </a:r>
          </a:p>
        </p:txBody>
      </p:sp>
      <p:sp>
        <p:nvSpPr>
          <p:cNvPr id="39" name="api-role-3">
            <a:extLst xmlns:a="http://schemas.openxmlformats.org/drawingml/2006/main">
              <a:ext uri="{FF2B5EF4-FFF2-40B4-BE49-F238E27FC236}">
                <a16:creationId xmlns:a16="http://schemas.microsoft.com/office/drawing/2014/main" id="{27A7FADA-EAF3-49FC-B3FB-35926C7F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0481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1F"/>
                </a:solidFill>
              </a:defRPr>
            </a:pPr>
            <a:r>
              <a:rPr sz="1350" b="1">
                <a:solidFill>
                  <a:srgbClr val="17231F"/>
                </a:solidFill>
              </a:rPr>
              <a:t>생활안전 챗봇 응답</a:t>
            </a:r>
          </a:p>
        </p:txBody>
      </p:sp>
      <p:sp>
        <p:nvSpPr>
          <p:cNvPr id="40" name="api-key-label-3">
            <a:extLst xmlns:a="http://schemas.openxmlformats.org/drawingml/2006/main">
              <a:ext uri="{FF2B5EF4-FFF2-40B4-BE49-F238E27FC236}">
                <a16:creationId xmlns:a16="http://schemas.microsoft.com/office/drawing/2014/main" id="{C30C3271-86FB-4F63-9F88-B9D188F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6B"/>
                </a:solidFill>
              </a:defRPr>
            </a:pPr>
            <a:r>
              <a:rPr sz="825" b="1">
                <a:solidFill>
                  <a:srgbClr val="62706B"/>
                </a:solidFill>
              </a:rPr>
              <a:t>ENVIRONMENT VARIABLE</a:t>
            </a:r>
          </a:p>
        </p:txBody>
      </p:sp>
      <p:sp>
        <p:nvSpPr>
          <p:cNvPr id="41" name="api-key-3">
            <a:extLst xmlns:a="http://schemas.openxmlformats.org/drawingml/2006/main">
              <a:ext uri="{FF2B5EF4-FFF2-40B4-BE49-F238E27FC236}">
                <a16:creationId xmlns:a16="http://schemas.microsoft.com/office/drawing/2014/main" id="{187F628D-A5C2-4B33-8C7E-E1DC1747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0387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61C9"/>
                </a:solidFill>
              </a:defRPr>
            </a:pPr>
            <a:r>
              <a:rPr sz="975" b="1">
                <a:solidFill>
                  <a:srgbClr val="7B61C9"/>
                </a:solidFill>
              </a:rPr>
              <a:t>OPENAI_API_KEY</a:t>
            </a:r>
          </a:p>
        </p:txBody>
      </p:sp>
      <p:sp>
        <p:nvSpPr>
          <p:cNvPr id="42" name="api-note-3">
            <a:extLst xmlns:a="http://schemas.openxmlformats.org/drawingml/2006/main">
              <a:ext uri="{FF2B5EF4-FFF2-40B4-BE49-F238E27FC236}">
                <a16:creationId xmlns:a16="http://schemas.microsoft.com/office/drawing/2014/main" id="{F49FD546-175E-47CE-89AE-46C51D1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6B"/>
                </a:solidFill>
              </a:defRPr>
            </a:pPr>
            <a:r>
              <a:rPr sz="1050" b="0">
                <a:solidFill>
                  <a:srgbClr val="62706B"/>
                </a:solidFill>
              </a:rPr>
              <a:t>Netlify Functions 서버에서만 호출</a:t>
            </a:r>
          </a:p>
        </p:txBody>
      </p:sp>
      <p:sp>
        <p:nvSpPr>
          <p:cNvPr id="43" name="api-security">
            <a:extLst xmlns:a="http://schemas.openxmlformats.org/drawingml/2006/main">
              <a:ext uri="{FF2B5EF4-FFF2-40B4-BE49-F238E27FC236}">
                <a16:creationId xmlns:a16="http://schemas.microsoft.com/office/drawing/2014/main" id="{598B9C6E-F637-48BB-AB47-CAA8C91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2372975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api-security-title">
            <a:extLst xmlns:a="http://schemas.openxmlformats.org/drawingml/2006/main">
              <a:ext uri="{FF2B5EF4-FFF2-40B4-BE49-F238E27FC236}">
                <a16:creationId xmlns:a16="http://schemas.microsoft.com/office/drawing/2014/main" id="{4967D4F2-FA43-4693-9F73-DAA4F02F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8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04D"/>
                </a:solidFill>
              </a:defRPr>
            </a:pPr>
            <a:r>
              <a:rPr sz="1050" b="1">
                <a:solidFill>
                  <a:srgbClr val="FF704D"/>
                </a:solidFill>
              </a:rPr>
              <a:t>SECURITY</a:t>
            </a:r>
          </a:p>
        </p:txBody>
      </p:sp>
      <p:sp>
        <p:nvSpPr>
          <p:cNvPr id="45" name="api-security-copy">
            <a:extLst xmlns:a="http://schemas.openxmlformats.org/drawingml/2006/main">
              <a:ext uri="{FF2B5EF4-FFF2-40B4-BE49-F238E27FC236}">
                <a16:creationId xmlns:a16="http://schemas.microsoft.com/office/drawing/2014/main" id="{3F4987BE-941A-415B-8999-C7F05635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1985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1F"/>
                </a:solidFill>
              </a:defRPr>
            </a:pPr>
            <a:r>
              <a:rPr sz="1275" b="1">
                <a:solidFill>
                  <a:srgbClr val="17231F"/>
                </a:solidFill>
              </a:rPr>
              <a:t>환경변수 이름만 표기하고 실제 키 값은 공개하지 않습니다. OPENAI_API_KEY는 브라우저가 아닌 서버 환경에서만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994601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4">
            <a:extLst xmlns:a="http://schemas.openxmlformats.org/drawingml/2006/main">
              <a:ext uri="{FF2B5EF4-FFF2-40B4-BE49-F238E27FC236}">
                <a16:creationId xmlns:a16="http://schemas.microsoft.com/office/drawing/2014/main" id="{E7A7543C-8B1E-4A21-B03D-14F5D1C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C183C946-D8D3-4A47-8AD7-35953A35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78"/>
                </a:solidFill>
              </a:defRPr>
            </a:pPr>
            <a:r>
              <a:rPr sz="1125" b="1">
                <a:solidFill>
                  <a:srgbClr val="00A878"/>
                </a:solidFill>
              </a:rPr>
              <a:t>DX · SOURCES</a:t>
            </a:r>
          </a:p>
        </p:txBody>
      </p:sp>
      <p:sp>
        <p:nvSpPr>
          <p:cNvPr id="3" name="header-line-14">
            <a:extLst xmlns:a="http://schemas.openxmlformats.org/drawingml/2006/main">
              <a:ext uri="{FF2B5EF4-FFF2-40B4-BE49-F238E27FC236}">
                <a16:creationId xmlns:a16="http://schemas.microsoft.com/office/drawing/2014/main" id="{F21E60BF-7D3A-481A-8BFB-DD615031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header-accent-14">
            <a:extLst xmlns:a="http://schemas.openxmlformats.org/drawingml/2006/main">
              <a:ext uri="{FF2B5EF4-FFF2-40B4-BE49-F238E27FC236}">
                <a16:creationId xmlns:a16="http://schemas.microsoft.com/office/drawing/2014/main" id="{36CEE3E1-6004-46F0-9BEF-6831F49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699AA81F-7432-4F0B-BFC9-C5DA4FFE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F"/>
                </a:solidFill>
              </a:defRPr>
            </a:pPr>
            <a:r>
              <a:rPr sz="2850" b="1">
                <a:solidFill>
                  <a:srgbClr val="17231F"/>
                </a:solidFill>
              </a:rPr>
              <a:t>서비스를 구성한 공공데이터와 검색 API</a:t>
            </a:r>
          </a:p>
        </p:txBody>
      </p:sp>
      <p:sp>
        <p:nvSpPr>
          <p:cNvPr id="6" name="page-14">
            <a:extLst xmlns:a="http://schemas.openxmlformats.org/drawingml/2006/main">
              <a:ext uri="{FF2B5EF4-FFF2-40B4-BE49-F238E27FC236}">
                <a16:creationId xmlns:a16="http://schemas.microsoft.com/office/drawing/2014/main" id="{BA8FC97D-ECC1-4141-AAE0-35FCDBF6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429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06B"/>
                </a:solidFill>
              </a:defRPr>
            </a:pPr>
            <a:r>
              <a:rPr sz="1275" b="1">
                <a:solidFill>
                  <a:srgbClr val="62706B"/>
                </a:solidFill>
              </a:rPr>
              <a:t>14</a:t>
            </a:r>
          </a:p>
        </p:txBody>
      </p:sp>
      <p:sp>
        <p:nvSpPr>
          <p:cNvPr id="7" name="source-num-0">
            <a:extLst xmlns:a="http://schemas.openxmlformats.org/drawingml/2006/main">
              <a:ext uri="{FF2B5EF4-FFF2-40B4-BE49-F238E27FC236}">
                <a16:creationId xmlns:a16="http://schemas.microsoft.com/office/drawing/2014/main" id="{5DA26F0B-4D88-46BF-9D3D-C18F103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A878"/>
                </a:solidFill>
              </a:defRPr>
            </a:pPr>
            <a:r>
              <a:rPr sz="270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8" name="source-title-0">
            <a:extLst xmlns:a="http://schemas.openxmlformats.org/drawingml/2006/main">
              <a:ext uri="{FF2B5EF4-FFF2-40B4-BE49-F238E27FC236}">
                <a16:creationId xmlns:a16="http://schemas.microsoft.com/office/drawing/2014/main" id="{0327B0EA-4C10-4DC3-89FE-3CA8AFB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CCTV 위치 데이터</a:t>
            </a:r>
          </a:p>
        </p:txBody>
      </p:sp>
      <p:sp>
        <p:nvSpPr>
          <p:cNvPr id="9" name="source-desc-0">
            <a:extLst xmlns:a="http://schemas.openxmlformats.org/drawingml/2006/main">
              <a:ext uri="{FF2B5EF4-FFF2-40B4-BE49-F238E27FC236}">
                <a16:creationId xmlns:a16="http://schemas.microsoft.com/office/drawing/2014/main" id="{E1D5417C-E41C-4DE8-AB90-2C28DA1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공공데이터포털 전남광주 CCTV 데이터</a:t>
            </a:r>
          </a:p>
        </p:txBody>
      </p:sp>
      <p:sp>
        <p:nvSpPr>
          <p:cNvPr id="10" name="source-url-0">
            <a:extLst xmlns:a="http://schemas.openxmlformats.org/drawingml/2006/main">
              <a:ext uri="{FF2B5EF4-FFF2-40B4-BE49-F238E27FC236}">
                <a16:creationId xmlns:a16="http://schemas.microsoft.com/office/drawing/2014/main" id="{9882A5CA-369A-4FD3-973C-54522764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A878"/>
                </a:solidFill>
              </a:defRPr>
            </a:pPr>
            <a:r>
              <a:rPr sz="900" b="0">
                <a:solidFill>
                  <a:srgbClr val="00A878"/>
                </a:solidFill>
              </a:rPr>
              <a:t>https://www.data.go.kr/data/15084631/fileData.do</a:t>
            </a:r>
          </a:p>
        </p:txBody>
      </p:sp>
      <p:sp>
        <p:nvSpPr>
          <p:cNvPr id="11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EE9004C7-9A9C-42C3-8200-0908CB51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251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2" name="source-num-1">
            <a:extLst xmlns:a="http://schemas.openxmlformats.org/drawingml/2006/main">
              <a:ext uri="{FF2B5EF4-FFF2-40B4-BE49-F238E27FC236}">
                <a16:creationId xmlns:a16="http://schemas.microsoft.com/office/drawing/2014/main" id="{9A4D16A3-44BD-4900-BEC0-270E5D04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775E8"/>
                </a:solidFill>
              </a:defRPr>
            </a:pPr>
            <a:r>
              <a:rPr sz="2700" b="1">
                <a:solidFill>
                  <a:srgbClr val="4775E8"/>
                </a:solidFill>
              </a:rPr>
              <a:t>02</a:t>
            </a:r>
          </a:p>
        </p:txBody>
      </p:sp>
      <p:sp>
        <p:nvSpPr>
          <p:cNvPr id="13" name="source-title-1">
            <a:extLst xmlns:a="http://schemas.openxmlformats.org/drawingml/2006/main">
              <a:ext uri="{FF2B5EF4-FFF2-40B4-BE49-F238E27FC236}">
                <a16:creationId xmlns:a16="http://schemas.microsoft.com/office/drawing/2014/main" id="{BA2DA38B-FDA4-4A6E-B009-2CF4929F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지구대·파출소 위치 데이터</a:t>
            </a:r>
          </a:p>
        </p:txBody>
      </p:sp>
      <p:sp>
        <p:nvSpPr>
          <p:cNvPr id="14" name="source-desc-1">
            <a:extLst xmlns:a="http://schemas.openxmlformats.org/drawingml/2006/main">
              <a:ext uri="{FF2B5EF4-FFF2-40B4-BE49-F238E27FC236}">
                <a16:creationId xmlns:a16="http://schemas.microsoft.com/office/drawing/2014/main" id="{B2EB7260-C609-4BDB-85D0-23742CB1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공공데이터포털 전남광주 지구대 및 파출소 현황</a:t>
            </a:r>
          </a:p>
        </p:txBody>
      </p:sp>
      <p:sp>
        <p:nvSpPr>
          <p:cNvPr id="15" name="source-url-1">
            <a:extLst xmlns:a="http://schemas.openxmlformats.org/drawingml/2006/main">
              <a:ext uri="{FF2B5EF4-FFF2-40B4-BE49-F238E27FC236}">
                <a16:creationId xmlns:a16="http://schemas.microsoft.com/office/drawing/2014/main" id="{17840C87-36C0-4DC2-B18F-C8866E1B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75E8"/>
                </a:solidFill>
              </a:defRPr>
            </a:pPr>
            <a:r>
              <a:rPr sz="900" b="0">
                <a:solidFill>
                  <a:srgbClr val="4775E8"/>
                </a:solidFill>
              </a:rPr>
              <a:t>https://www.data.go.kr/data/15099907/fileData.do</a:t>
            </a:r>
          </a:p>
        </p:txBody>
      </p:sp>
      <p:sp>
        <p:nvSpPr>
          <p:cNvPr id="16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8240CC7C-EE39-4FE7-8729-2850381B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251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17" name="source-num-2">
            <a:extLst xmlns:a="http://schemas.openxmlformats.org/drawingml/2006/main">
              <a:ext uri="{FF2B5EF4-FFF2-40B4-BE49-F238E27FC236}">
                <a16:creationId xmlns:a16="http://schemas.microsoft.com/office/drawing/2014/main" id="{6A2C80D2-202F-44D1-8932-8F83AD29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704D"/>
                </a:solidFill>
              </a:defRPr>
            </a:pPr>
            <a:r>
              <a:rPr sz="2700" b="1">
                <a:solidFill>
                  <a:srgbClr val="FF704D"/>
                </a:solidFill>
              </a:rPr>
              <a:t>03</a:t>
            </a:r>
          </a:p>
        </p:txBody>
      </p:sp>
      <p:sp>
        <p:nvSpPr>
          <p:cNvPr id="18" name="source-title-2">
            <a:extLst xmlns:a="http://schemas.openxmlformats.org/drawingml/2006/main">
              <a:ext uri="{FF2B5EF4-FFF2-40B4-BE49-F238E27FC236}">
                <a16:creationId xmlns:a16="http://schemas.microsoft.com/office/drawing/2014/main" id="{AFEC7DAC-A485-4544-8EE8-4F3800E0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경찰서 위치 데이터</a:t>
            </a:r>
          </a:p>
        </p:txBody>
      </p:sp>
      <p:sp>
        <p:nvSpPr>
          <p:cNvPr id="19" name="source-desc-2">
            <a:extLst xmlns:a="http://schemas.openxmlformats.org/drawingml/2006/main">
              <a:ext uri="{FF2B5EF4-FFF2-40B4-BE49-F238E27FC236}">
                <a16:creationId xmlns:a16="http://schemas.microsoft.com/office/drawing/2014/main" id="{57F882C0-4F79-4134-ABED-5A5CCA70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경찰청 전국 경찰관서 안내</a:t>
            </a:r>
          </a:p>
        </p:txBody>
      </p:sp>
      <p:sp>
        <p:nvSpPr>
          <p:cNvPr id="20" name="source-url-2">
            <a:extLst xmlns:a="http://schemas.openxmlformats.org/drawingml/2006/main">
              <a:ext uri="{FF2B5EF4-FFF2-40B4-BE49-F238E27FC236}">
                <a16:creationId xmlns:a16="http://schemas.microsoft.com/office/drawing/2014/main" id="{40FF01B3-8E5F-49D9-8D52-DDB4657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704D"/>
                </a:solidFill>
              </a:defRPr>
            </a:pPr>
            <a:r>
              <a:rPr sz="900" b="0">
                <a:solidFill>
                  <a:srgbClr val="FF704D"/>
                </a:solidFill>
              </a:rPr>
              <a:t>https://www.police.go.kr/user/bbs/BD_selectBbsList.do?q_bbsCode=1038&amp;q_tab=5</a:t>
            </a:r>
          </a:p>
        </p:txBody>
      </p:sp>
      <p:sp>
        <p:nvSpPr>
          <p:cNvPr id="21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C0AE37B2-E151-4AFD-B7F7-B34A1962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251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22" name="source-num-3">
            <a:extLst xmlns:a="http://schemas.openxmlformats.org/drawingml/2006/main">
              <a:ext uri="{FF2B5EF4-FFF2-40B4-BE49-F238E27FC236}">
                <a16:creationId xmlns:a16="http://schemas.microsoft.com/office/drawing/2014/main" id="{E9C50844-5383-49D0-90C4-A6E2B485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22D"/>
                </a:solidFill>
              </a:defRPr>
            </a:pPr>
            <a:r>
              <a:rPr sz="2700" b="1">
                <a:solidFill>
                  <a:srgbClr val="24322D"/>
                </a:solidFill>
              </a:rPr>
              <a:t>04</a:t>
            </a:r>
          </a:p>
        </p:txBody>
      </p:sp>
      <p:sp>
        <p:nvSpPr>
          <p:cNvPr id="23" name="source-title-3">
            <a:extLst xmlns:a="http://schemas.openxmlformats.org/drawingml/2006/main">
              <a:ext uri="{FF2B5EF4-FFF2-40B4-BE49-F238E27FC236}">
                <a16:creationId xmlns:a16="http://schemas.microsoft.com/office/drawing/2014/main" id="{9C78FF0F-51D6-4C03-A002-CDF9BF4B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F"/>
                </a:solidFill>
              </a:defRPr>
            </a:pPr>
            <a:r>
              <a:rPr sz="1725" b="1">
                <a:solidFill>
                  <a:srgbClr val="17231F"/>
                </a:solidFill>
              </a:rPr>
              <a:t>기사 데이터</a:t>
            </a:r>
          </a:p>
        </p:txBody>
      </p:sp>
      <p:sp>
        <p:nvSpPr>
          <p:cNvPr id="24" name="source-desc-3">
            <a:extLst xmlns:a="http://schemas.openxmlformats.org/drawingml/2006/main">
              <a:ext uri="{FF2B5EF4-FFF2-40B4-BE49-F238E27FC236}">
                <a16:creationId xmlns:a16="http://schemas.microsoft.com/office/drawing/2014/main" id="{41D366DF-4E71-4A62-BF00-4FDF7956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네이버 검색 API 이용 수집 · JSON 파일 내 출처 기입</a:t>
            </a:r>
          </a:p>
        </p:txBody>
      </p:sp>
      <p:sp>
        <p:nvSpPr>
          <p:cNvPr id="25" name="source-url-3">
            <a:extLst xmlns:a="http://schemas.openxmlformats.org/drawingml/2006/main">
              <a:ext uri="{FF2B5EF4-FFF2-40B4-BE49-F238E27FC236}">
                <a16:creationId xmlns:a16="http://schemas.microsoft.com/office/drawing/2014/main" id="{9DBA9E96-697E-409D-9A11-EBCC722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24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22D"/>
                </a:solidFill>
              </a:defRPr>
            </a:pPr>
            <a:r>
              <a:rPr sz="900" b="0">
                <a:solidFill>
                  <a:srgbClr val="24322D"/>
                </a:solidFill>
              </a:rPr>
              <a:t>Naver Search API</a:t>
            </a:r>
          </a:p>
        </p:txBody>
      </p:sp>
      <p:sp>
        <p:nvSpPr>
          <p:cNvPr id="26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3FD9F2C0-CF8A-4A8C-8BF3-BF14553E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251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2755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5">
            <a:extLst xmlns:a="http://schemas.openxmlformats.org/drawingml/2006/main">
              <a:ext uri="{FF2B5EF4-FFF2-40B4-BE49-F238E27FC236}">
                <a16:creationId xmlns:a16="http://schemas.microsoft.com/office/drawing/2014/main" id="{75FD357A-5601-40E1-AF7F-7B0D55C6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F4EFE7"/>
            </a:solidFill>
            <a:prstDash val="solid"/>
          </a:ln>
        </p:spPr>
      </p:sp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D51A6DCF-10EB-4208-8A50-E8CF702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78"/>
                </a:solidFill>
              </a:defRPr>
            </a:pPr>
            <a:r>
              <a:rPr sz="1200" b="1">
                <a:solidFill>
                  <a:srgbClr val="00A878"/>
                </a:solidFill>
              </a:rPr>
              <a:t>LOCALHUB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ADB97AE5-4AE7-4647-AF67-B6466DC1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238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DD8"/>
          </a:solidFill>
          <a:ln xmlns:a="http://schemas.openxmlformats.org/drawingml/2006/main" w="0">
            <a:solidFill>
              <a:srgbClr val="D2DDD8"/>
            </a:solidFill>
            <a:prstDash val="solid"/>
          </a:ln>
        </p:spPr>
      </p:sp>
      <p:sp>
        <p:nvSpPr>
          <p:cNvPr id="4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808ACA1A-4A99-4D62-9F5D-C307280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04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7231F"/>
                </a:solidFill>
              </a:defRPr>
            </a:pPr>
            <a:r>
              <a:rPr sz="6450" b="1">
                <a:solidFill>
                  <a:srgbClr val="17231F"/>
                </a:solidFill>
              </a:rPr>
              <a:t>감사합니다.</a:t>
            </a:r>
          </a:p>
        </p:txBody>
      </p:sp>
      <p:sp>
        <p:nvSpPr>
          <p:cNvPr id="5" name="close-message">
            <a:extLst xmlns:a="http://schemas.openxmlformats.org/drawingml/2006/main">
              <a:ext uri="{FF2B5EF4-FFF2-40B4-BE49-F238E27FC236}">
                <a16:creationId xmlns:a16="http://schemas.microsoft.com/office/drawing/2014/main" id="{78EC3DD8-84D9-4DF7-A083-BA37D913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06B"/>
                </a:solidFill>
              </a:defRPr>
            </a:pPr>
            <a:r>
              <a:rPr sz="1950" b="0">
                <a:solidFill>
                  <a:srgbClr val="62706B"/>
                </a:solidFill>
              </a:rPr>
              <a:t>공공데이터로 보고, 안전경로로 안내하고, 주민과 함께 보완합니다.</a:t>
            </a:r>
          </a:p>
        </p:txBody>
      </p:sp>
      <p:sp>
        <p:nvSpPr>
          <p:cNvPr id="6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82E10035-6387-408A-B860-23ABD79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4D"/>
          </a:solidFill>
          <a:ln xmlns:a="http://schemas.openxmlformats.org/drawingml/2006/main" w="0">
            <a:solidFill>
              <a:srgbClr val="FF704D"/>
            </a:solidFill>
            <a:prstDash val="solid"/>
          </a:ln>
        </p:spPr>
      </p:sp>
      <p:sp>
        <p:nvSpPr>
          <p:cNvPr id="7" name="close-url">
            <a:extLst xmlns:a="http://schemas.openxmlformats.org/drawingml/2006/main">
              <a:ext uri="{FF2B5EF4-FFF2-40B4-BE49-F238E27FC236}">
                <a16:creationId xmlns:a16="http://schemas.microsoft.com/office/drawing/2014/main" id="{C23F658B-EC99-4BC2-B0AB-54150C37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jovial-phoenix-52d898.netlify.app</a:t>
            </a:r>
          </a:p>
        </p:txBody>
      </p:sp>
      <p:sp>
        <p:nvSpPr>
          <p:cNvPr id="8" name="close-team">
            <a:extLst xmlns:a="http://schemas.openxmlformats.org/drawingml/2006/main">
              <a:ext uri="{FF2B5EF4-FFF2-40B4-BE49-F238E27FC236}">
                <a16:creationId xmlns:a16="http://schemas.microsoft.com/office/drawing/2014/main" id="{9D580EB2-2E58-4D8B-AA96-AB52C491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06B"/>
                </a:solidFill>
              </a:defRPr>
            </a:pPr>
            <a:r>
              <a:rPr sz="1275" b="0">
                <a:solidFill>
                  <a:srgbClr val="62706B"/>
                </a:solidFill>
              </a:rPr>
              <a:t>광주 2반  ·  정용철 / 김지명 / 전준혁</a:t>
            </a:r>
          </a:p>
        </p:txBody>
      </p:sp>
      <p:sp>
        <p:nvSpPr>
          <p:cNvPr id="9" name="close-number">
            <a:extLst xmlns:a="http://schemas.openxmlformats.org/drawingml/2006/main">
              <a:ext uri="{FF2B5EF4-FFF2-40B4-BE49-F238E27FC236}">
                <a16:creationId xmlns:a16="http://schemas.microsoft.com/office/drawing/2014/main" id="{54E3EDEF-C5C8-4F5F-8EC7-93B94FA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38875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DCEFE6"/>
                </a:solidFill>
              </a:defRPr>
            </a:pPr>
            <a:r>
              <a:rPr sz="4800" b="1">
                <a:solidFill>
                  <a:srgbClr val="DCEFE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4253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2026-07-15T07:09:51.5490000Z</dcterms:created>
  <dcterms:modified xsi:type="dcterms:W3CDTF">2026-07-15T07:09:51.5490000Z</dcterms:modified>
</coreProperties>
</file>